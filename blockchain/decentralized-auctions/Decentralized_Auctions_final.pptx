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81"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1" r:id="rId18"/>
    <p:sldId id="272" r:id="rId1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300" y="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e093ed1ff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e093ed1ff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e093ed1ff9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e093ed1ff9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e093ed1ff9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e093ed1ff9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e093ed1ff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e093ed1ff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e0f25eafb0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2e0f25eafb0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e093ed1ff9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e093ed1ff9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e093ed1ff9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e093ed1ff9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e0b38aabd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e0b38aabd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e0f25eafb0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e0f25eafb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e0f25eafb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e0f25eafb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e0f25eafb0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0f25eafb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e0f25eafb0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e0f25eafb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e0f25eafb0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e0f25eafb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e093ed1ff9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e093ed1ff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e0f25eafb0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2e0f25eafb0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e0f25eafb0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2e0f25eafb0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3159" y="514350"/>
            <a:ext cx="6000750" cy="2228851"/>
          </a:xfrm>
        </p:spPr>
        <p:txBody>
          <a:bodyPr anchor="b">
            <a:normAutofit/>
          </a:bodyPr>
          <a:lstStyle>
            <a:lvl1pPr algn="l">
              <a:defRPr sz="3600">
                <a:effectLst/>
              </a:defRPr>
            </a:lvl1pPr>
          </a:lstStyle>
          <a:p>
            <a:r>
              <a:rPr lang="en-US"/>
              <a:t>Click to edit Master title style</a:t>
            </a:r>
            <a:endParaRPr lang="en-US" dirty="0"/>
          </a:p>
        </p:txBody>
      </p:sp>
      <p:sp>
        <p:nvSpPr>
          <p:cNvPr id="3" name="Subtitle 2"/>
          <p:cNvSpPr>
            <a:spLocks noGrp="1"/>
          </p:cNvSpPr>
          <p:nvPr>
            <p:ph type="subTitle" idx="1"/>
          </p:nvPr>
        </p:nvSpPr>
        <p:spPr>
          <a:xfrm>
            <a:off x="513159" y="2882900"/>
            <a:ext cx="4800600" cy="1460500"/>
          </a:xfrm>
        </p:spPr>
        <p:txBody>
          <a:bodyPr anchor="t">
            <a:normAutofit/>
          </a:bodyPr>
          <a:lstStyle>
            <a:lvl1pPr marL="0" indent="0" algn="l">
              <a:buNone/>
              <a:defRPr sz="1575">
                <a:solidFill>
                  <a:schemeClr val="bg2">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cxnSp>
        <p:nvCxnSpPr>
          <p:cNvPr id="16" name="Straight Connector 15"/>
          <p:cNvCxnSpPr/>
          <p:nvPr/>
        </p:nvCxnSpPr>
        <p:spPr>
          <a:xfrm flipH="1">
            <a:off x="6171009" y="6350"/>
            <a:ext cx="2857500" cy="28575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4581128" y="68659"/>
            <a:ext cx="4560491" cy="456049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5426869" y="171450"/>
            <a:ext cx="3714750" cy="37147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501878" y="24209"/>
            <a:ext cx="3639742" cy="363974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884070" y="457201"/>
            <a:ext cx="3257549" cy="325754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594302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69081952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3159" y="1504950"/>
            <a:ext cx="6400801" cy="1711200"/>
          </a:xfrm>
        </p:spPr>
        <p:txBody>
          <a:bodyPr anchor="b">
            <a:normAutofit/>
          </a:bodyPr>
          <a:lstStyle>
            <a:lvl1pPr algn="l">
              <a:defRPr sz="2700" b="0" cap="all"/>
            </a:lvl1pPr>
          </a:lstStyle>
          <a:p>
            <a:r>
              <a:rPr lang="en-US"/>
              <a:t>Click to edit Master title style</a:t>
            </a:r>
            <a:endParaRPr lang="en-US" dirty="0"/>
          </a:p>
        </p:txBody>
      </p:sp>
      <p:sp>
        <p:nvSpPr>
          <p:cNvPr id="3" name="Text Placeholder 2"/>
          <p:cNvSpPr>
            <a:spLocks noGrp="1"/>
          </p:cNvSpPr>
          <p:nvPr>
            <p:ph type="body" idx="1"/>
          </p:nvPr>
        </p:nvSpPr>
        <p:spPr>
          <a:xfrm>
            <a:off x="513160" y="3371850"/>
            <a:ext cx="6400800" cy="11239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35680135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3159" y="514351"/>
            <a:ext cx="3703241" cy="2711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56100" y="514351"/>
            <a:ext cx="3700859" cy="2711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29-May-24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59805812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29061" y="514350"/>
            <a:ext cx="3487340"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3159" y="952897"/>
            <a:ext cx="3703241" cy="227290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9299" y="514350"/>
            <a:ext cx="3498851"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354909" y="946546"/>
            <a:ext cx="3696891" cy="227290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8998287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41311503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585507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13759" y="514350"/>
            <a:ext cx="2743200" cy="1028700"/>
          </a:xfrm>
        </p:spPr>
        <p:txBody>
          <a:bodyPr anchor="b">
            <a:normAutofit/>
          </a:bodyPr>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513159" y="514350"/>
            <a:ext cx="4457701" cy="398145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13759" y="1657350"/>
            <a:ext cx="2743200" cy="156845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29-May-24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96574009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42109" y="1085850"/>
            <a:ext cx="4514850" cy="857250"/>
          </a:xfrm>
        </p:spPr>
        <p:txBody>
          <a:bodyPr anchor="b">
            <a:normAutofit/>
          </a:bodyPr>
          <a:lstStyle>
            <a:lvl1pPr algn="l">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1759" y="685800"/>
            <a:ext cx="2460731" cy="3429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3542109" y="2082800"/>
            <a:ext cx="4516041" cy="15367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38068340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514350" y="400050"/>
            <a:ext cx="8114109" cy="234315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16" name="Text Placeholder 9"/>
          <p:cNvSpPr>
            <a:spLocks noGrp="1"/>
          </p:cNvSpPr>
          <p:nvPr>
            <p:ph type="body" sz="quarter" idx="14"/>
          </p:nvPr>
        </p:nvSpPr>
        <p:spPr>
          <a:xfrm>
            <a:off x="685801" y="2882900"/>
            <a:ext cx="6228158" cy="342900"/>
          </a:xfrm>
        </p:spPr>
        <p:txBody>
          <a:bodyPr anchor="t">
            <a:normAutofit/>
          </a:bodyPr>
          <a:lstStyle>
            <a:lvl1pPr marL="0" indent="0">
              <a:buFontTx/>
              <a:buNone/>
              <a:defRPr sz="12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38649736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anchor="ctr">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513159" y="3086100"/>
            <a:ext cx="6401991" cy="1409700"/>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67297024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9" y="514350"/>
            <a:ext cx="6858001" cy="2057400"/>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84659" y="2571750"/>
            <a:ext cx="6400800"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13160" y="3225801"/>
            <a:ext cx="6400800" cy="1263649"/>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
        <p:nvSpPr>
          <p:cNvPr id="14" name="TextBox 13"/>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112511569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13159" y="2571750"/>
            <a:ext cx="6400800" cy="1273050"/>
          </a:xfrm>
        </p:spPr>
        <p:txBody>
          <a:bodyPr anchor="b">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513158" y="3849736"/>
            <a:ext cx="6401993" cy="645300"/>
          </a:xfrm>
        </p:spPr>
        <p:txBody>
          <a:bodyPr anchor="t">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3995269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60" y="514350"/>
            <a:ext cx="6858000" cy="2057400"/>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13159" y="2946400"/>
            <a:ext cx="6400801" cy="78740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3159" y="3733800"/>
            <a:ext cx="6400801" cy="76200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
        <p:nvSpPr>
          <p:cNvPr id="11" name="TextBox 10"/>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2" name="TextBox 11"/>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244909038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13159" y="2946401"/>
            <a:ext cx="6400800" cy="62865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3159" y="3575049"/>
            <a:ext cx="6400801" cy="9207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7384140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29-May-24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91493628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3909" y="514350"/>
            <a:ext cx="1543050" cy="3429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4350" y="514350"/>
            <a:ext cx="5867400" cy="398145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29-May-24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8580345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189" lvl="0" indent="-342891">
              <a:spcBef>
                <a:spcPts val="0"/>
              </a:spcBef>
              <a:spcAft>
                <a:spcPts val="0"/>
              </a:spcAft>
              <a:buSzPts val="1800"/>
              <a:buChar char="●"/>
              <a:defRPr/>
            </a:lvl1pPr>
            <a:lvl2pPr marL="914377" lvl="1" indent="-317492">
              <a:spcBef>
                <a:spcPts val="0"/>
              </a:spcBef>
              <a:spcAft>
                <a:spcPts val="0"/>
              </a:spcAft>
              <a:buSzPts val="1400"/>
              <a:buChar char="○"/>
              <a:defRPr/>
            </a:lvl2pPr>
            <a:lvl3pPr marL="1371566" lvl="2" indent="-317492">
              <a:spcBef>
                <a:spcPts val="0"/>
              </a:spcBef>
              <a:spcAft>
                <a:spcPts val="0"/>
              </a:spcAft>
              <a:buSzPts val="1400"/>
              <a:buChar char="■"/>
              <a:defRPr/>
            </a:lvl3pPr>
            <a:lvl4pPr marL="1828754" lvl="3" indent="-317492">
              <a:spcBef>
                <a:spcPts val="0"/>
              </a:spcBef>
              <a:spcAft>
                <a:spcPts val="0"/>
              </a:spcAft>
              <a:buSzPts val="1400"/>
              <a:buChar char="●"/>
              <a:defRPr/>
            </a:lvl4pPr>
            <a:lvl5pPr marL="2285943" lvl="4" indent="-317492">
              <a:spcBef>
                <a:spcPts val="0"/>
              </a:spcBef>
              <a:spcAft>
                <a:spcPts val="0"/>
              </a:spcAft>
              <a:buSzPts val="1400"/>
              <a:buChar char="○"/>
              <a:defRPr/>
            </a:lvl5pPr>
            <a:lvl6pPr marL="2743131" lvl="5" indent="-317492">
              <a:spcBef>
                <a:spcPts val="0"/>
              </a:spcBef>
              <a:spcAft>
                <a:spcPts val="0"/>
              </a:spcAft>
              <a:buSzPts val="1400"/>
              <a:buChar char="■"/>
              <a:defRPr/>
            </a:lvl6pPr>
            <a:lvl7pPr marL="3200320" lvl="6" indent="-317492">
              <a:spcBef>
                <a:spcPts val="0"/>
              </a:spcBef>
              <a:spcAft>
                <a:spcPts val="0"/>
              </a:spcAft>
              <a:buSzPts val="1400"/>
              <a:buChar char="●"/>
              <a:defRPr/>
            </a:lvl7pPr>
            <a:lvl8pPr marL="3657509" lvl="7" indent="-317492">
              <a:spcBef>
                <a:spcPts val="0"/>
              </a:spcBef>
              <a:spcAft>
                <a:spcPts val="0"/>
              </a:spcAft>
              <a:buSzPts val="1400"/>
              <a:buChar char="○"/>
              <a:defRPr/>
            </a:lvl8pPr>
            <a:lvl9pPr marL="4114697" lvl="8" indent="-317492">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9"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43023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905227" y="2222500"/>
            <a:ext cx="2236394" cy="2406650"/>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13159" y="3365499"/>
            <a:ext cx="6400800" cy="11303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3159" y="514351"/>
            <a:ext cx="6400800" cy="271145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28309" y="4629150"/>
            <a:ext cx="1200150" cy="273844"/>
          </a:xfrm>
          <a:prstGeom prst="rect">
            <a:avLst/>
          </a:prstGeom>
        </p:spPr>
        <p:txBody>
          <a:bodyPr vert="horz" lIns="91440" tIns="45720" rIns="91440" bIns="45720" rtlCol="0" anchor="t"/>
          <a:lstStyle>
            <a:lvl1pPr algn="r">
              <a:defRPr sz="750" b="0" i="0">
                <a:solidFill>
                  <a:schemeClr val="bg2">
                    <a:lumMod val="50000"/>
                  </a:schemeClr>
                </a:solidFill>
                <a:effectLst/>
                <a:latin typeface="+mn-lt"/>
              </a:defRPr>
            </a:lvl1pPr>
          </a:lstStyle>
          <a:p>
            <a:fld id="{B61BEF0D-F0BB-DE4B-95CE-6DB70DBA9567}" type="datetimeFigureOut">
              <a:rPr lang="en-US" smtClean="0"/>
              <a:pPr/>
              <a:t>29-May-24</a:t>
            </a:fld>
            <a:endParaRPr lang="en-US" dirty="0"/>
          </a:p>
        </p:txBody>
      </p:sp>
      <p:sp>
        <p:nvSpPr>
          <p:cNvPr id="5" name="Footer Placeholder 4"/>
          <p:cNvSpPr>
            <a:spLocks noGrp="1"/>
          </p:cNvSpPr>
          <p:nvPr>
            <p:ph type="ftr" sz="quarter" idx="3"/>
          </p:nvPr>
        </p:nvSpPr>
        <p:spPr>
          <a:xfrm>
            <a:off x="513159" y="4629150"/>
            <a:ext cx="5657850" cy="273844"/>
          </a:xfrm>
          <a:prstGeom prst="rect">
            <a:avLst/>
          </a:prstGeom>
        </p:spPr>
        <p:txBody>
          <a:bodyPr vert="horz" lIns="91440" tIns="45720" rIns="91440" bIns="45720" rtlCol="0" anchor="t"/>
          <a:lstStyle>
            <a:lvl1pPr algn="l">
              <a:defRPr sz="75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7772400" y="4183857"/>
            <a:ext cx="856684" cy="502444"/>
          </a:xfrm>
          <a:prstGeom prst="rect">
            <a:avLst/>
          </a:prstGeom>
        </p:spPr>
        <p:txBody>
          <a:bodyPr vert="horz" lIns="91440" tIns="45720" rIns="91440" bIns="45720" rtlCol="0" anchor="b"/>
          <a:lstStyle>
            <a:lvl1pPr algn="r">
              <a:defRPr sz="2400" b="0" i="0">
                <a:solidFill>
                  <a:schemeClr val="bg2">
                    <a:lumMod val="50000"/>
                  </a:schemeClr>
                </a:solidFill>
                <a:effectLst/>
                <a:latin typeface="+mn-lt"/>
              </a:defRPr>
            </a:lvl1pPr>
          </a:lstStyle>
          <a:p>
            <a:fld id="{00000000-1234-1234-1234-123412341234}" type="slidenum">
              <a:rPr lang="en" smtClean="0"/>
              <a:pPr/>
              <a:t>‹#›</a:t>
            </a:fld>
            <a:endParaRPr lang="en"/>
          </a:p>
        </p:txBody>
      </p:sp>
    </p:spTree>
    <p:extLst>
      <p:ext uri="{BB962C8B-B14F-4D97-AF65-F5344CB8AC3E}">
        <p14:creationId xmlns:p14="http://schemas.microsoft.com/office/powerpoint/2010/main" val="1027574254"/>
      </p:ext>
    </p:extLst>
  </p:cSld>
  <p:clrMap bg1="dk1" tx1="lt1" bg2="dk2" tx2="lt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 id="2147483796" r:id="rId15"/>
    <p:sldLayoutId id="2147483797" r:id="rId16"/>
    <p:sldLayoutId id="2147483798" r:id="rId17"/>
    <p:sldLayoutId id="2147483799" r:id="rId18"/>
  </p:sldLayoutIdLst>
  <p:hf sldNum="0" hdr="0" ftr="0" dt="0"/>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500" kern="1200" cap="none">
          <a:solidFill>
            <a:schemeClr val="bg2">
              <a:lumMod val="7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350" kern="1200" cap="none">
          <a:solidFill>
            <a:schemeClr val="bg2">
              <a:lumMod val="7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200" kern="1200" cap="none">
          <a:solidFill>
            <a:schemeClr val="bg2">
              <a:lumMod val="7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718800"/>
          </a:xfrm>
          <a:prstGeom prst="rect">
            <a:avLst/>
          </a:prstGeom>
        </p:spPr>
        <p:txBody>
          <a:bodyPr spcFirstLastPara="1" wrap="square" lIns="91425" tIns="91425" rIns="91425" bIns="91425" anchor="b" anchorCtr="0">
            <a:normAutofit/>
          </a:bodyPr>
          <a:lstStyle/>
          <a:p>
            <a:pPr algn="ctr"/>
            <a:r>
              <a:rPr lang="en" sz="3200" dirty="0">
                <a:solidFill>
                  <a:schemeClr val="bg1"/>
                </a:solidFill>
              </a:rPr>
              <a:t>Decentralized auctions</a:t>
            </a:r>
            <a:endParaRPr sz="3200" dirty="0">
              <a:solidFill>
                <a:schemeClr val="bg1"/>
              </a:solidFill>
            </a:endParaRPr>
          </a:p>
        </p:txBody>
      </p:sp>
      <p:sp>
        <p:nvSpPr>
          <p:cNvPr id="55" name="Google Shape;55;p13"/>
          <p:cNvSpPr txBox="1">
            <a:spLocks noGrp="1"/>
          </p:cNvSpPr>
          <p:nvPr>
            <p:ph type="subTitle" idx="1"/>
          </p:nvPr>
        </p:nvSpPr>
        <p:spPr>
          <a:xfrm>
            <a:off x="247600" y="1768213"/>
            <a:ext cx="8520600" cy="642900"/>
          </a:xfrm>
          <a:prstGeom prst="rect">
            <a:avLst/>
          </a:prstGeom>
        </p:spPr>
        <p:txBody>
          <a:bodyPr spcFirstLastPara="1" wrap="square" lIns="91425" tIns="91425" rIns="91425" bIns="91425" anchor="t" anchorCtr="0">
            <a:normAutofit lnSpcReduction="10000"/>
          </a:bodyPr>
          <a:lstStyle/>
          <a:p>
            <a:pPr marL="0" indent="0" algn="ctr"/>
            <a:r>
              <a:rPr lang="en" sz="2200" dirty="0">
                <a:solidFill>
                  <a:schemeClr val="bg1"/>
                </a:solidFill>
              </a:rPr>
              <a:t>Final presentation - Digitalization and Information Systems</a:t>
            </a:r>
            <a:endParaRPr sz="2200" dirty="0">
              <a:solidFill>
                <a:schemeClr val="bg1"/>
              </a:solidFill>
            </a:endParaRPr>
          </a:p>
        </p:txBody>
      </p:sp>
      <p:sp>
        <p:nvSpPr>
          <p:cNvPr id="56" name="Google Shape;56;p13"/>
          <p:cNvSpPr txBox="1"/>
          <p:nvPr/>
        </p:nvSpPr>
        <p:spPr>
          <a:xfrm>
            <a:off x="74775" y="4099301"/>
            <a:ext cx="9049800" cy="897300"/>
          </a:xfrm>
          <a:prstGeom prst="rect">
            <a:avLst/>
          </a:prstGeom>
          <a:noFill/>
          <a:ln>
            <a:noFill/>
          </a:ln>
        </p:spPr>
        <p:txBody>
          <a:bodyPr spcFirstLastPara="1" wrap="square" lIns="91425" tIns="91425" rIns="91425" bIns="91425" anchor="t" anchorCtr="0">
            <a:noAutofit/>
          </a:bodyPr>
          <a:lstStyle/>
          <a:p>
            <a:pPr marL="4114697" indent="457189">
              <a:lnSpc>
                <a:spcPct val="115000"/>
              </a:lnSpc>
            </a:pPr>
            <a:r>
              <a:rPr lang="en" sz="1500" dirty="0">
                <a:solidFill>
                  <a:schemeClr val="dk1"/>
                </a:solidFill>
              </a:rPr>
              <a:t>Professor D-r: Hans-Georg Fill</a:t>
            </a:r>
            <a:endParaRPr sz="1500" dirty="0">
              <a:solidFill>
                <a:schemeClr val="dk1"/>
              </a:solidFill>
            </a:endParaRPr>
          </a:p>
          <a:p>
            <a:pPr>
              <a:lnSpc>
                <a:spcPct val="115000"/>
              </a:lnSpc>
            </a:pPr>
            <a:r>
              <a:rPr lang="en" sz="1500" dirty="0">
                <a:solidFill>
                  <a:schemeClr val="dk1"/>
                </a:solidFill>
              </a:rPr>
              <a:t>Martin Stojkovski and Ariton Verush 			Assistants: Simon Curty and Marcel Bühlmann</a:t>
            </a:r>
            <a:endParaRPr sz="1500" dirty="0">
              <a:solidFill>
                <a:schemeClr val="dk1"/>
              </a:solidFill>
            </a:endParaRPr>
          </a:p>
        </p:txBody>
      </p:sp>
      <p:sp>
        <p:nvSpPr>
          <p:cNvPr id="57" name="Google Shape;57;p13"/>
          <p:cNvSpPr txBox="1"/>
          <p:nvPr/>
        </p:nvSpPr>
        <p:spPr>
          <a:xfrm>
            <a:off x="6436225" y="3987325"/>
            <a:ext cx="2155200" cy="769200"/>
          </a:xfrm>
          <a:prstGeom prst="rect">
            <a:avLst/>
          </a:prstGeom>
          <a:noFill/>
          <a:ln>
            <a:noFill/>
          </a:ln>
        </p:spPr>
        <p:txBody>
          <a:bodyPr spcFirstLastPara="1" wrap="square" lIns="91425" tIns="91425" rIns="91425" bIns="91425" anchor="t" anchorCtr="0">
            <a:noAutofit/>
          </a:bodyPr>
          <a:lstStyle/>
          <a:p>
            <a:endParaRPr sz="1800">
              <a:solidFill>
                <a:schemeClr val="dk1"/>
              </a:solidFill>
            </a:endParaRPr>
          </a:p>
        </p:txBody>
      </p:sp>
      <p:sp>
        <p:nvSpPr>
          <p:cNvPr id="58" name="Google Shape;58;p13"/>
          <p:cNvSpPr txBox="1"/>
          <p:nvPr/>
        </p:nvSpPr>
        <p:spPr>
          <a:xfrm>
            <a:off x="3055387" y="2782406"/>
            <a:ext cx="3380838" cy="642899"/>
          </a:xfrm>
          <a:prstGeom prst="rect">
            <a:avLst/>
          </a:prstGeom>
          <a:noFill/>
          <a:ln>
            <a:noFill/>
          </a:ln>
        </p:spPr>
        <p:txBody>
          <a:bodyPr spcFirstLastPara="1" wrap="square" lIns="91425" tIns="91425" rIns="91425" bIns="91425" anchor="t" anchorCtr="0">
            <a:noAutofit/>
          </a:bodyPr>
          <a:lstStyle/>
          <a:p>
            <a:r>
              <a:rPr lang="en" sz="2000" dirty="0">
                <a:solidFill>
                  <a:schemeClr val="dk1"/>
                </a:solidFill>
              </a:rPr>
              <a:t>Wednesday, 29.05.2024</a:t>
            </a:r>
            <a:endParaRPr sz="2000"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ctrTitle"/>
          </p:nvPr>
        </p:nvSpPr>
        <p:spPr>
          <a:xfrm>
            <a:off x="311701" y="277751"/>
            <a:ext cx="4144844" cy="600900"/>
          </a:xfrm>
          <a:prstGeom prst="rect">
            <a:avLst/>
          </a:prstGeom>
        </p:spPr>
        <p:txBody>
          <a:bodyPr spcFirstLastPara="1" wrap="square" lIns="91425" tIns="91425" rIns="91425" bIns="91425" anchor="b" anchorCtr="0">
            <a:noAutofit/>
          </a:bodyPr>
          <a:lstStyle/>
          <a:p>
            <a:pPr algn="l"/>
            <a:r>
              <a:rPr lang="en" sz="3200" dirty="0">
                <a:solidFill>
                  <a:schemeClr val="bg1"/>
                </a:solidFill>
              </a:rPr>
              <a:t>E3value model</a:t>
            </a:r>
            <a:endParaRPr sz="3200" dirty="0">
              <a:solidFill>
                <a:schemeClr val="bg1"/>
              </a:solidFill>
            </a:endParaRPr>
          </a:p>
        </p:txBody>
      </p:sp>
      <p:sp>
        <p:nvSpPr>
          <p:cNvPr id="64" name="Google Shape;64;p14"/>
          <p:cNvSpPr txBox="1">
            <a:spLocks noGrp="1"/>
          </p:cNvSpPr>
          <p:nvPr>
            <p:ph type="subTitle" idx="1"/>
          </p:nvPr>
        </p:nvSpPr>
        <p:spPr>
          <a:xfrm>
            <a:off x="311700" y="1279874"/>
            <a:ext cx="8520600" cy="3377185"/>
          </a:xfrm>
          <a:prstGeom prst="rect">
            <a:avLst/>
          </a:prstGeom>
        </p:spPr>
        <p:txBody>
          <a:bodyPr spcFirstLastPara="1" wrap="square" lIns="91425" tIns="91425" rIns="91425" bIns="91425" anchor="t" anchorCtr="0">
            <a:normAutofit/>
          </a:bodyPr>
          <a:lstStyle/>
          <a:p>
            <a:pPr marL="91440" algn="l">
              <a:spcBef>
                <a:spcPts val="0"/>
              </a:spcBef>
              <a:spcAft>
                <a:spcPts val="0"/>
              </a:spcAft>
            </a:pPr>
            <a:r>
              <a:rPr lang="en" sz="2400" dirty="0">
                <a:solidFill>
                  <a:schemeClr val="bg1"/>
                </a:solidFill>
              </a:rPr>
              <a:t>Updates that has been done</a:t>
            </a:r>
            <a:endParaRPr sz="2400" dirty="0">
              <a:solidFill>
                <a:schemeClr val="bg1"/>
              </a:solidFill>
            </a:endParaRPr>
          </a:p>
          <a:p>
            <a:pPr marL="91440" algn="l">
              <a:spcBef>
                <a:spcPts val="0"/>
              </a:spcBef>
              <a:spcAft>
                <a:spcPts val="0"/>
              </a:spcAft>
            </a:pPr>
            <a:endParaRPr sz="2200" dirty="0">
              <a:solidFill>
                <a:schemeClr val="bg1"/>
              </a:solidFill>
            </a:endParaRPr>
          </a:p>
          <a:p>
            <a:pPr marL="91440" indent="-342900" algn="l">
              <a:spcBef>
                <a:spcPts val="0"/>
              </a:spcBef>
              <a:spcAft>
                <a:spcPts val="0"/>
              </a:spcAft>
              <a:buClr>
                <a:schemeClr val="dk1"/>
              </a:buClr>
              <a:buSzPts val="2000"/>
              <a:buFont typeface="Arial" panose="020B0604020202020204" pitchFamily="34" charset="0"/>
              <a:buChar char="•"/>
            </a:pPr>
            <a:r>
              <a:rPr lang="en" sz="1600" dirty="0">
                <a:solidFill>
                  <a:schemeClr val="bg1"/>
                </a:solidFill>
              </a:rPr>
              <a:t>the actions are located in the smart contract</a:t>
            </a:r>
          </a:p>
          <a:p>
            <a:pPr marL="91440" indent="-342900" algn="l">
              <a:spcBef>
                <a:spcPts val="0"/>
              </a:spcBef>
              <a:spcAft>
                <a:spcPts val="0"/>
              </a:spcAft>
              <a:buClr>
                <a:schemeClr val="dk1"/>
              </a:buClr>
              <a:buSzPts val="2000"/>
              <a:buFont typeface="Arial" panose="020B0604020202020204" pitchFamily="34" charset="0"/>
              <a:buChar char="•"/>
            </a:pPr>
            <a:endParaRPr sz="1600" dirty="0">
              <a:solidFill>
                <a:schemeClr val="bg1"/>
              </a:solidFill>
            </a:endParaRPr>
          </a:p>
          <a:p>
            <a:pPr marL="91440" indent="-342900" algn="l">
              <a:spcBef>
                <a:spcPts val="0"/>
              </a:spcBef>
              <a:spcAft>
                <a:spcPts val="0"/>
              </a:spcAft>
              <a:buClr>
                <a:schemeClr val="dk1"/>
              </a:buClr>
              <a:buSzPts val="2000"/>
              <a:buFont typeface="Arial" panose="020B0604020202020204" pitchFamily="34" charset="0"/>
              <a:buChar char="•"/>
            </a:pPr>
            <a:r>
              <a:rPr lang="en" sz="1600" dirty="0">
                <a:solidFill>
                  <a:schemeClr val="bg1"/>
                </a:solidFill>
              </a:rPr>
              <a:t>change of the color for the part that is outside of the blockchain</a:t>
            </a:r>
          </a:p>
          <a:p>
            <a:pPr marL="91440" indent="-342900" algn="l">
              <a:spcBef>
                <a:spcPts val="0"/>
              </a:spcBef>
              <a:spcAft>
                <a:spcPts val="0"/>
              </a:spcAft>
              <a:buClr>
                <a:schemeClr val="dk1"/>
              </a:buClr>
              <a:buSzPts val="2000"/>
              <a:buFont typeface="Arial" panose="020B0604020202020204" pitchFamily="34" charset="0"/>
              <a:buChar char="•"/>
            </a:pPr>
            <a:endParaRPr sz="1600" dirty="0">
              <a:solidFill>
                <a:schemeClr val="bg1"/>
              </a:solidFill>
            </a:endParaRPr>
          </a:p>
          <a:p>
            <a:pPr marL="91440" indent="-342900" algn="l">
              <a:spcBef>
                <a:spcPts val="0"/>
              </a:spcBef>
              <a:spcAft>
                <a:spcPts val="0"/>
              </a:spcAft>
              <a:buClr>
                <a:schemeClr val="dk1"/>
              </a:buClr>
              <a:buSzPts val="2000"/>
              <a:buFont typeface="Arial" panose="020B0604020202020204" pitchFamily="34" charset="0"/>
              <a:buChar char="•"/>
            </a:pPr>
            <a:r>
              <a:rPr lang="en" sz="1600" dirty="0">
                <a:solidFill>
                  <a:schemeClr val="bg1"/>
                </a:solidFill>
              </a:rPr>
              <a:t>the value objects of the value transfers</a:t>
            </a:r>
            <a:endParaRPr sz="16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body" idx="1"/>
          </p:nvPr>
        </p:nvSpPr>
        <p:spPr>
          <a:prstGeom prst="rect">
            <a:avLst/>
          </a:prstGeom>
        </p:spPr>
        <p:txBody>
          <a:bodyPr spcFirstLastPara="1" wrap="square" lIns="91425" tIns="91425" rIns="91425" bIns="91425" anchor="t" anchorCtr="0">
            <a:normAutofit/>
          </a:bodyPr>
          <a:lstStyle/>
          <a:p>
            <a:pPr marL="0" indent="0">
              <a:spcAft>
                <a:spcPts val="1200"/>
              </a:spcAft>
              <a:buNone/>
            </a:pPr>
            <a:endParaRPr/>
          </a:p>
        </p:txBody>
      </p:sp>
      <p:pic>
        <p:nvPicPr>
          <p:cNvPr id="3" name="Picture 2">
            <a:extLst>
              <a:ext uri="{FF2B5EF4-FFF2-40B4-BE49-F238E27FC236}">
                <a16:creationId xmlns:a16="http://schemas.microsoft.com/office/drawing/2014/main" id="{67005840-B875-0754-7143-78ADD51FA6D2}"/>
              </a:ext>
            </a:extLst>
          </p:cNvPr>
          <p:cNvPicPr>
            <a:picLocks noChangeAspect="1"/>
          </p:cNvPicPr>
          <p:nvPr/>
        </p:nvPicPr>
        <p:blipFill>
          <a:blip r:embed="rId3"/>
          <a:stretch>
            <a:fillRect/>
          </a:stretch>
        </p:blipFill>
        <p:spPr>
          <a:xfrm>
            <a:off x="249382" y="304057"/>
            <a:ext cx="8682182" cy="45353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ctrTitle"/>
          </p:nvPr>
        </p:nvSpPr>
        <p:spPr>
          <a:xfrm>
            <a:off x="311700" y="277751"/>
            <a:ext cx="6092400" cy="600900"/>
          </a:xfrm>
          <a:prstGeom prst="rect">
            <a:avLst/>
          </a:prstGeom>
        </p:spPr>
        <p:txBody>
          <a:bodyPr spcFirstLastPara="1" wrap="square" lIns="91425" tIns="91425" rIns="91425" bIns="91425" anchor="b" anchorCtr="0">
            <a:noAutofit/>
          </a:bodyPr>
          <a:lstStyle/>
          <a:p>
            <a:pPr algn="l"/>
            <a:r>
              <a:rPr lang="en" sz="3200" dirty="0">
                <a:solidFill>
                  <a:schemeClr val="bg1"/>
                </a:solidFill>
              </a:rPr>
              <a:t>BPMN diagram</a:t>
            </a:r>
            <a:endParaRPr sz="3200" dirty="0">
              <a:solidFill>
                <a:schemeClr val="bg1"/>
              </a:solidFill>
            </a:endParaRPr>
          </a:p>
        </p:txBody>
      </p:sp>
      <p:sp>
        <p:nvSpPr>
          <p:cNvPr id="76" name="Google Shape;76;p16"/>
          <p:cNvSpPr txBox="1">
            <a:spLocks noGrp="1"/>
          </p:cNvSpPr>
          <p:nvPr>
            <p:ph type="subTitle" idx="1"/>
          </p:nvPr>
        </p:nvSpPr>
        <p:spPr>
          <a:xfrm>
            <a:off x="311701" y="1279876"/>
            <a:ext cx="8920500" cy="2739300"/>
          </a:xfrm>
          <a:prstGeom prst="rect">
            <a:avLst/>
          </a:prstGeom>
        </p:spPr>
        <p:txBody>
          <a:bodyPr spcFirstLastPara="1" wrap="square" lIns="91425" tIns="91425" rIns="91425" bIns="91425" anchor="t" anchorCtr="0">
            <a:normAutofit/>
          </a:bodyPr>
          <a:lstStyle/>
          <a:p>
            <a:pPr marL="91440" indent="0" algn="l">
              <a:spcBef>
                <a:spcPts val="0"/>
              </a:spcBef>
              <a:spcAft>
                <a:spcPts val="0"/>
              </a:spcAft>
            </a:pPr>
            <a:r>
              <a:rPr lang="en" sz="2400" dirty="0">
                <a:solidFill>
                  <a:schemeClr val="dk1"/>
                </a:solidFill>
              </a:rPr>
              <a:t>Updates that has been done</a:t>
            </a:r>
            <a:endParaRPr sz="2400" dirty="0">
              <a:solidFill>
                <a:schemeClr val="dk1"/>
              </a:solidFill>
            </a:endParaRPr>
          </a:p>
          <a:p>
            <a:pPr marL="91440" indent="0" algn="l">
              <a:spcBef>
                <a:spcPts val="0"/>
              </a:spcBef>
              <a:spcAft>
                <a:spcPts val="0"/>
              </a:spcAft>
            </a:pPr>
            <a:endParaRPr sz="2200" dirty="0">
              <a:solidFill>
                <a:schemeClr val="dk1"/>
              </a:solidFill>
            </a:endParaRPr>
          </a:p>
          <a:p>
            <a:pPr marL="91440" indent="-342900" algn="l">
              <a:spcBef>
                <a:spcPts val="0"/>
              </a:spcBef>
              <a:spcAft>
                <a:spcPts val="0"/>
              </a:spcAft>
              <a:buClr>
                <a:schemeClr val="dk1"/>
              </a:buClr>
              <a:buSzPts val="2000"/>
              <a:buFont typeface="Arial" panose="020B0604020202020204" pitchFamily="34" charset="0"/>
              <a:buChar char="•"/>
            </a:pPr>
            <a:r>
              <a:rPr lang="en" sz="1600" dirty="0">
                <a:solidFill>
                  <a:schemeClr val="dk1"/>
                </a:solidFill>
              </a:rPr>
              <a:t>inserted into pool, each actor</a:t>
            </a:r>
            <a:endParaRPr sz="1600" dirty="0">
              <a:solidFill>
                <a:schemeClr val="dk1"/>
              </a:solidFill>
            </a:endParaRPr>
          </a:p>
          <a:p>
            <a:pPr marL="91440" indent="-342900" algn="l">
              <a:spcBef>
                <a:spcPts val="0"/>
              </a:spcBef>
              <a:spcAft>
                <a:spcPts val="0"/>
              </a:spcAft>
              <a:buFont typeface="Arial" panose="020B0604020202020204" pitchFamily="34" charset="0"/>
              <a:buChar char="•"/>
            </a:pPr>
            <a:endParaRPr sz="1600" dirty="0">
              <a:solidFill>
                <a:schemeClr val="dk1"/>
              </a:solidFill>
            </a:endParaRPr>
          </a:p>
          <a:p>
            <a:pPr marL="91440" indent="-342900" algn="l">
              <a:spcBef>
                <a:spcPts val="0"/>
              </a:spcBef>
              <a:spcAft>
                <a:spcPts val="0"/>
              </a:spcAft>
              <a:buClr>
                <a:schemeClr val="dk1"/>
              </a:buClr>
              <a:buSzPts val="2000"/>
              <a:buFont typeface="Arial" panose="020B0604020202020204" pitchFamily="34" charset="0"/>
              <a:buChar char="•"/>
            </a:pPr>
            <a:r>
              <a:rPr lang="en" sz="1600" dirty="0">
                <a:solidFill>
                  <a:schemeClr val="dk1"/>
                </a:solidFill>
              </a:rPr>
              <a:t>imported the smart contract part between the two actors</a:t>
            </a:r>
            <a:endParaRPr sz="1600" dirty="0">
              <a:solidFill>
                <a:schemeClr val="dk1"/>
              </a:solidFill>
            </a:endParaRPr>
          </a:p>
          <a:p>
            <a:pPr marL="91440" indent="-342900" algn="l">
              <a:spcBef>
                <a:spcPts val="0"/>
              </a:spcBef>
              <a:spcAft>
                <a:spcPts val="0"/>
              </a:spcAft>
              <a:buFont typeface="Arial" panose="020B0604020202020204" pitchFamily="34" charset="0"/>
              <a:buChar char="•"/>
            </a:pPr>
            <a:endParaRPr sz="1600" dirty="0">
              <a:solidFill>
                <a:schemeClr val="dk1"/>
              </a:solidFill>
            </a:endParaRPr>
          </a:p>
          <a:p>
            <a:pPr marL="91440" indent="-342900" algn="l">
              <a:spcBef>
                <a:spcPts val="0"/>
              </a:spcBef>
              <a:spcAft>
                <a:spcPts val="0"/>
              </a:spcAft>
              <a:buClr>
                <a:schemeClr val="dk1"/>
              </a:buClr>
              <a:buSzPts val="2000"/>
              <a:buFont typeface="Arial" panose="020B0604020202020204" pitchFamily="34" charset="0"/>
              <a:buChar char="•"/>
            </a:pPr>
            <a:r>
              <a:rPr lang="en" sz="1600" dirty="0">
                <a:solidFill>
                  <a:schemeClr val="dk1"/>
                </a:solidFill>
              </a:rPr>
              <a:t>changed the returning bid amount and receiving items from shipping service to an exclusive gateway with one ending</a:t>
            </a:r>
            <a:endParaRPr sz="1600" dirty="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body" idx="1"/>
          </p:nvPr>
        </p:nvSpPr>
        <p:spPr>
          <a:prstGeom prst="rect">
            <a:avLst/>
          </a:prstGeom>
        </p:spPr>
        <p:txBody>
          <a:bodyPr spcFirstLastPara="1" wrap="square" lIns="91425" tIns="91425" rIns="91425" bIns="91425" anchor="t" anchorCtr="0">
            <a:normAutofit/>
          </a:bodyPr>
          <a:lstStyle/>
          <a:p>
            <a:pPr marL="0" indent="0">
              <a:spcAft>
                <a:spcPts val="1200"/>
              </a:spcAft>
              <a:buNone/>
            </a:pPr>
            <a:endParaRPr/>
          </a:p>
        </p:txBody>
      </p:sp>
      <p:pic>
        <p:nvPicPr>
          <p:cNvPr id="82" name="Google Shape;82;p17"/>
          <p:cNvPicPr preferRelativeResize="0"/>
          <p:nvPr/>
        </p:nvPicPr>
        <p:blipFill>
          <a:blip r:embed="rId3">
            <a:alphaModFix/>
          </a:blip>
          <a:stretch>
            <a:fillRect/>
          </a:stretch>
        </p:blipFill>
        <p:spPr>
          <a:xfrm>
            <a:off x="1" y="77451"/>
            <a:ext cx="9143999" cy="50660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8"/>
          <p:cNvSpPr txBox="1">
            <a:spLocks noGrp="1"/>
          </p:cNvSpPr>
          <p:nvPr>
            <p:ph type="title"/>
          </p:nvPr>
        </p:nvSpPr>
        <p:spPr>
          <a:xfrm>
            <a:off x="311700" y="188651"/>
            <a:ext cx="8520600" cy="572700"/>
          </a:xfrm>
          <a:prstGeom prst="rect">
            <a:avLst/>
          </a:prstGeom>
        </p:spPr>
        <p:txBody>
          <a:bodyPr spcFirstLastPara="1" wrap="square" lIns="91425" tIns="91425" rIns="91425" bIns="91425" anchor="t" anchorCtr="0">
            <a:normAutofit fontScale="90000"/>
          </a:bodyPr>
          <a:lstStyle/>
          <a:p>
            <a:r>
              <a:rPr lang="en"/>
              <a:t>Process Landscape</a:t>
            </a:r>
            <a:endParaRPr/>
          </a:p>
        </p:txBody>
      </p:sp>
      <p:pic>
        <p:nvPicPr>
          <p:cNvPr id="88" name="Google Shape;88;p18"/>
          <p:cNvPicPr preferRelativeResize="0"/>
          <p:nvPr/>
        </p:nvPicPr>
        <p:blipFill>
          <a:blip r:embed="rId3">
            <a:alphaModFix/>
          </a:blip>
          <a:stretch>
            <a:fillRect/>
          </a:stretch>
        </p:blipFill>
        <p:spPr>
          <a:xfrm>
            <a:off x="561276" y="846576"/>
            <a:ext cx="8021451" cy="4296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ctrTitle"/>
          </p:nvPr>
        </p:nvSpPr>
        <p:spPr>
          <a:xfrm>
            <a:off x="311700" y="277751"/>
            <a:ext cx="6092400" cy="600900"/>
          </a:xfrm>
          <a:prstGeom prst="rect">
            <a:avLst/>
          </a:prstGeom>
        </p:spPr>
        <p:txBody>
          <a:bodyPr spcFirstLastPara="1" wrap="square" lIns="91425" tIns="91425" rIns="91425" bIns="91425" anchor="b" anchorCtr="0">
            <a:noAutofit/>
          </a:bodyPr>
          <a:lstStyle/>
          <a:p>
            <a:pPr algn="l"/>
            <a:r>
              <a:rPr lang="en" sz="3200" dirty="0">
                <a:solidFill>
                  <a:schemeClr val="bg1"/>
                </a:solidFill>
              </a:rPr>
              <a:t>Use-case diagram</a:t>
            </a:r>
            <a:endParaRPr sz="3200" dirty="0">
              <a:solidFill>
                <a:schemeClr val="bg1"/>
              </a:solidFill>
            </a:endParaRPr>
          </a:p>
        </p:txBody>
      </p:sp>
      <p:sp>
        <p:nvSpPr>
          <p:cNvPr id="94" name="Google Shape;94;p19"/>
          <p:cNvSpPr txBox="1">
            <a:spLocks noGrp="1"/>
          </p:cNvSpPr>
          <p:nvPr>
            <p:ph type="subTitle" idx="1"/>
          </p:nvPr>
        </p:nvSpPr>
        <p:spPr>
          <a:xfrm>
            <a:off x="311701" y="1279876"/>
            <a:ext cx="8920500" cy="3372300"/>
          </a:xfrm>
          <a:prstGeom prst="rect">
            <a:avLst/>
          </a:prstGeom>
        </p:spPr>
        <p:txBody>
          <a:bodyPr spcFirstLastPara="1" wrap="square" lIns="91425" tIns="91425" rIns="91425" bIns="91425" anchor="t" anchorCtr="0">
            <a:normAutofit/>
          </a:bodyPr>
          <a:lstStyle/>
          <a:p>
            <a:pPr marL="91440" indent="0" algn="l">
              <a:spcBef>
                <a:spcPts val="0"/>
              </a:spcBef>
              <a:spcAft>
                <a:spcPts val="0"/>
              </a:spcAft>
            </a:pPr>
            <a:r>
              <a:rPr lang="en" sz="3100" dirty="0">
                <a:solidFill>
                  <a:schemeClr val="dk1"/>
                </a:solidFill>
              </a:rPr>
              <a:t>Updates that has been done</a:t>
            </a:r>
            <a:endParaRPr sz="2400" dirty="0">
              <a:solidFill>
                <a:schemeClr val="dk1"/>
              </a:solidFill>
            </a:endParaRPr>
          </a:p>
          <a:p>
            <a:pPr marL="91440" indent="0" algn="l">
              <a:spcBef>
                <a:spcPts val="0"/>
              </a:spcBef>
              <a:spcAft>
                <a:spcPts val="0"/>
              </a:spcAft>
            </a:pPr>
            <a:endParaRPr sz="1600" dirty="0">
              <a:solidFill>
                <a:schemeClr val="dk1"/>
              </a:solidFill>
            </a:endParaRPr>
          </a:p>
          <a:p>
            <a:pPr marL="91440" indent="-342900" algn="l">
              <a:spcBef>
                <a:spcPts val="0"/>
              </a:spcBef>
              <a:spcAft>
                <a:spcPts val="0"/>
              </a:spcAft>
              <a:buClr>
                <a:schemeClr val="dk1"/>
              </a:buClr>
              <a:buSzPts val="2000"/>
              <a:buFont typeface="Arial" panose="020B0604020202020204" pitchFamily="34" charset="0"/>
              <a:buChar char="•"/>
            </a:pPr>
            <a:r>
              <a:rPr lang="en" sz="2000" dirty="0">
                <a:solidFill>
                  <a:schemeClr val="bg1"/>
                </a:solidFill>
              </a:rPr>
              <a:t>deleted the ETH function</a:t>
            </a:r>
            <a:endParaRPr sz="2000" dirty="0">
              <a:solidFill>
                <a:schemeClr val="bg1"/>
              </a:solidFill>
            </a:endParaRPr>
          </a:p>
          <a:p>
            <a:pPr marL="91440" indent="-342900" algn="l">
              <a:spcBef>
                <a:spcPts val="0"/>
              </a:spcBef>
              <a:spcAft>
                <a:spcPts val="0"/>
              </a:spcAft>
              <a:buFont typeface="Arial" panose="020B0604020202020204" pitchFamily="34" charset="0"/>
              <a:buChar char="•"/>
            </a:pPr>
            <a:endParaRPr sz="2000" dirty="0">
              <a:solidFill>
                <a:schemeClr val="bg1"/>
              </a:solidFill>
            </a:endParaRPr>
          </a:p>
          <a:p>
            <a:pPr marL="91440" indent="-342900" algn="l">
              <a:spcBef>
                <a:spcPts val="0"/>
              </a:spcBef>
              <a:spcAft>
                <a:spcPts val="0"/>
              </a:spcAft>
              <a:buClr>
                <a:schemeClr val="dk1"/>
              </a:buClr>
              <a:buSzPts val="2000"/>
              <a:buFont typeface="Arial" panose="020B0604020202020204" pitchFamily="34" charset="0"/>
              <a:buChar char="•"/>
            </a:pPr>
            <a:r>
              <a:rPr lang="en" sz="2000" dirty="0">
                <a:solidFill>
                  <a:schemeClr val="bg1"/>
                </a:solidFill>
              </a:rPr>
              <a:t>deleted the connection with sellers receiving ETH from auction</a:t>
            </a:r>
            <a:endParaRPr sz="2000" dirty="0">
              <a:solidFill>
                <a:schemeClr val="bg1"/>
              </a:solidFill>
            </a:endParaRPr>
          </a:p>
          <a:p>
            <a:pPr marL="91440" indent="-342900" algn="l">
              <a:spcBef>
                <a:spcPts val="0"/>
              </a:spcBef>
              <a:spcAft>
                <a:spcPts val="0"/>
              </a:spcAft>
              <a:buFont typeface="Arial" panose="020B0604020202020204" pitchFamily="34" charset="0"/>
              <a:buChar char="•"/>
            </a:pPr>
            <a:endParaRPr sz="2000" dirty="0">
              <a:solidFill>
                <a:schemeClr val="bg1"/>
              </a:solidFill>
            </a:endParaRPr>
          </a:p>
          <a:p>
            <a:pPr marL="91440" indent="-342900" algn="l">
              <a:spcBef>
                <a:spcPts val="0"/>
              </a:spcBef>
              <a:spcAft>
                <a:spcPts val="0"/>
              </a:spcAft>
              <a:buClr>
                <a:schemeClr val="dk1"/>
              </a:buClr>
              <a:buSzPts val="2000"/>
              <a:buFont typeface="Arial" panose="020B0604020202020204" pitchFamily="34" charset="0"/>
              <a:buChar char="•"/>
            </a:pPr>
            <a:r>
              <a:rPr lang="en" sz="2000" dirty="0">
                <a:solidFill>
                  <a:schemeClr val="bg1"/>
                </a:solidFill>
              </a:rPr>
              <a:t>deleted the connection browse auctions and the function ETH</a:t>
            </a:r>
            <a:endParaRPr sz="2000" dirty="0">
              <a:solidFill>
                <a:schemeClr val="bg1"/>
              </a:solidFill>
            </a:endParaRPr>
          </a:p>
          <a:p>
            <a:pPr marL="91440" indent="-342900" algn="l">
              <a:spcBef>
                <a:spcPts val="0"/>
              </a:spcBef>
              <a:spcAft>
                <a:spcPts val="0"/>
              </a:spcAft>
              <a:buFont typeface="Arial" panose="020B0604020202020204" pitchFamily="34" charset="0"/>
              <a:buChar char="•"/>
            </a:pPr>
            <a:endParaRPr sz="2000" dirty="0">
              <a:solidFill>
                <a:schemeClr val="bg1"/>
              </a:solidFill>
            </a:endParaRPr>
          </a:p>
          <a:p>
            <a:pPr marL="91440" indent="-342900" algn="l">
              <a:spcBef>
                <a:spcPts val="0"/>
              </a:spcBef>
              <a:spcAft>
                <a:spcPts val="0"/>
              </a:spcAft>
              <a:buClr>
                <a:schemeClr val="dk1"/>
              </a:buClr>
              <a:buSzPts val="2000"/>
              <a:buFont typeface="Arial" panose="020B0604020202020204" pitchFamily="34" charset="0"/>
              <a:buChar char="•"/>
            </a:pPr>
            <a:r>
              <a:rPr lang="en" sz="2000" dirty="0">
                <a:solidFill>
                  <a:schemeClr val="bg1"/>
                </a:solidFill>
              </a:rPr>
              <a:t>merged bidder and seller to user actor</a:t>
            </a:r>
            <a:endParaRPr sz="16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3" name="Picture 2">
            <a:extLst>
              <a:ext uri="{FF2B5EF4-FFF2-40B4-BE49-F238E27FC236}">
                <a16:creationId xmlns:a16="http://schemas.microsoft.com/office/drawing/2014/main" id="{06D24FF1-5241-9A30-FD94-D45C9DB328BB}"/>
              </a:ext>
            </a:extLst>
          </p:cNvPr>
          <p:cNvPicPr>
            <a:picLocks noChangeAspect="1"/>
          </p:cNvPicPr>
          <p:nvPr/>
        </p:nvPicPr>
        <p:blipFill>
          <a:blip r:embed="rId3"/>
          <a:stretch>
            <a:fillRect/>
          </a:stretch>
        </p:blipFill>
        <p:spPr>
          <a:xfrm>
            <a:off x="3136304" y="78508"/>
            <a:ext cx="2871392" cy="49183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a:spLocks noGrp="1"/>
          </p:cNvSpPr>
          <p:nvPr>
            <p:ph type="ctrTitle"/>
          </p:nvPr>
        </p:nvSpPr>
        <p:spPr>
          <a:xfrm>
            <a:off x="472253" y="207801"/>
            <a:ext cx="6693300" cy="726900"/>
          </a:xfrm>
          <a:prstGeom prst="rect">
            <a:avLst/>
          </a:prstGeom>
        </p:spPr>
        <p:txBody>
          <a:bodyPr spcFirstLastPara="1" wrap="square" lIns="91425" tIns="91425" rIns="91425" bIns="91425" anchor="b" anchorCtr="0">
            <a:normAutofit/>
          </a:bodyPr>
          <a:lstStyle/>
          <a:p>
            <a:pPr algn="l"/>
            <a:r>
              <a:rPr lang="en" sz="3200" dirty="0">
                <a:solidFill>
                  <a:schemeClr val="bg1"/>
                </a:solidFill>
              </a:rPr>
              <a:t>ArchiMate diagram</a:t>
            </a:r>
            <a:endParaRPr sz="3200" dirty="0">
              <a:solidFill>
                <a:schemeClr val="bg1"/>
              </a:solidFill>
            </a:endParaRPr>
          </a:p>
        </p:txBody>
      </p:sp>
      <p:sp>
        <p:nvSpPr>
          <p:cNvPr id="105" name="Google Shape;105;p21"/>
          <p:cNvSpPr txBox="1">
            <a:spLocks noGrp="1"/>
          </p:cNvSpPr>
          <p:nvPr>
            <p:ph type="subTitle" idx="1"/>
          </p:nvPr>
        </p:nvSpPr>
        <p:spPr>
          <a:xfrm>
            <a:off x="279651" y="1247175"/>
            <a:ext cx="8520600" cy="2387400"/>
          </a:xfrm>
          <a:prstGeom prst="rect">
            <a:avLst/>
          </a:prstGeom>
        </p:spPr>
        <p:txBody>
          <a:bodyPr spcFirstLastPara="1" wrap="square" lIns="91425" tIns="91425" rIns="91425" bIns="91425" anchor="t" anchorCtr="0">
            <a:normAutofit/>
          </a:bodyPr>
          <a:lstStyle/>
          <a:p>
            <a:pPr marL="0" indent="0" algn="l"/>
            <a:r>
              <a:rPr lang="en" sz="2800" dirty="0">
                <a:solidFill>
                  <a:schemeClr val="dk1"/>
                </a:solidFill>
              </a:rPr>
              <a:t>Updates that has been made</a:t>
            </a:r>
            <a:endParaRPr sz="2800" dirty="0">
              <a:solidFill>
                <a:schemeClr val="dk1"/>
              </a:solidFill>
            </a:endParaRPr>
          </a:p>
          <a:p>
            <a:pPr marL="0" indent="0" algn="l"/>
            <a:endParaRPr sz="2400" dirty="0">
              <a:solidFill>
                <a:schemeClr val="dk1"/>
              </a:solidFill>
            </a:endParaRPr>
          </a:p>
          <a:p>
            <a:pPr marL="387348" indent="-285750" algn="l">
              <a:buClr>
                <a:schemeClr val="dk1"/>
              </a:buClr>
              <a:buSzPts val="2000"/>
              <a:buFont typeface="Arial" panose="020B0604020202020204" pitchFamily="34" charset="0"/>
              <a:buChar char="•"/>
            </a:pPr>
            <a:r>
              <a:rPr lang="en" sz="1600" dirty="0">
                <a:solidFill>
                  <a:schemeClr val="dk1"/>
                </a:solidFill>
              </a:rPr>
              <a:t>added the business part and connected with application</a:t>
            </a:r>
            <a:endParaRPr sz="1600" dirty="0">
              <a:solidFill>
                <a:schemeClr val="dk1"/>
              </a:solidFill>
            </a:endParaRPr>
          </a:p>
          <a:p>
            <a:pPr marL="742939" indent="-285750" algn="l">
              <a:buFont typeface="Arial" panose="020B0604020202020204" pitchFamily="34" charset="0"/>
              <a:buChar char="•"/>
            </a:pPr>
            <a:endParaRPr sz="1600" dirty="0">
              <a:solidFill>
                <a:schemeClr val="dk1"/>
              </a:solidFill>
            </a:endParaRPr>
          </a:p>
          <a:p>
            <a:pPr marL="387348" indent="-285750" algn="l">
              <a:buClr>
                <a:schemeClr val="dk1"/>
              </a:buClr>
              <a:buSzPts val="2000"/>
              <a:buFont typeface="Arial" panose="020B0604020202020204" pitchFamily="34" charset="0"/>
              <a:buChar char="•"/>
            </a:pPr>
            <a:r>
              <a:rPr lang="en" sz="1600" dirty="0">
                <a:solidFill>
                  <a:schemeClr val="dk1"/>
                </a:solidFill>
              </a:rPr>
              <a:t>added the application part and connected with technology</a:t>
            </a:r>
            <a:endParaRPr sz="1600"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2"/>
          <p:cNvPicPr preferRelativeResize="0"/>
          <p:nvPr/>
        </p:nvPicPr>
        <p:blipFill>
          <a:blip r:embed="rId3">
            <a:alphaModFix/>
          </a:blip>
          <a:stretch>
            <a:fillRect/>
          </a:stretch>
        </p:blipFill>
        <p:spPr>
          <a:xfrm>
            <a:off x="325814" y="193964"/>
            <a:ext cx="8492375" cy="463203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23"/>
          <p:cNvPicPr preferRelativeResize="0"/>
          <p:nvPr/>
        </p:nvPicPr>
        <p:blipFill>
          <a:blip r:embed="rId3">
            <a:alphaModFix/>
          </a:blip>
          <a:stretch>
            <a:fillRect/>
          </a:stretch>
        </p:blipFill>
        <p:spPr>
          <a:xfrm>
            <a:off x="714375" y="203199"/>
            <a:ext cx="7715248" cy="46736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4"/>
          <p:cNvSpPr txBox="1">
            <a:spLocks noGrp="1"/>
          </p:cNvSpPr>
          <p:nvPr>
            <p:ph type="ctrTitle"/>
          </p:nvPr>
        </p:nvSpPr>
        <p:spPr>
          <a:xfrm>
            <a:off x="391825" y="263876"/>
            <a:ext cx="4482000" cy="654900"/>
          </a:xfrm>
          <a:prstGeom prst="rect">
            <a:avLst/>
          </a:prstGeom>
        </p:spPr>
        <p:txBody>
          <a:bodyPr spcFirstLastPara="1" wrap="square" lIns="91425" tIns="91425" rIns="91425" bIns="91425" anchor="b" anchorCtr="0">
            <a:noAutofit/>
          </a:bodyPr>
          <a:lstStyle/>
          <a:p>
            <a:pPr algn="l"/>
            <a:r>
              <a:rPr lang="en" sz="3200" dirty="0">
                <a:solidFill>
                  <a:schemeClr val="bg1"/>
                </a:solidFill>
              </a:rPr>
              <a:t>Class diagram</a:t>
            </a:r>
            <a:endParaRPr sz="3200" dirty="0">
              <a:solidFill>
                <a:schemeClr val="bg1"/>
              </a:solidFill>
            </a:endParaRPr>
          </a:p>
        </p:txBody>
      </p:sp>
      <p:sp>
        <p:nvSpPr>
          <p:cNvPr id="121" name="Google Shape;121;p24"/>
          <p:cNvSpPr txBox="1">
            <a:spLocks noGrp="1"/>
          </p:cNvSpPr>
          <p:nvPr>
            <p:ph type="subTitle" idx="1"/>
          </p:nvPr>
        </p:nvSpPr>
        <p:spPr>
          <a:xfrm>
            <a:off x="311700" y="1279850"/>
            <a:ext cx="8520600" cy="3252000"/>
          </a:xfrm>
          <a:prstGeom prst="rect">
            <a:avLst/>
          </a:prstGeom>
        </p:spPr>
        <p:txBody>
          <a:bodyPr spcFirstLastPara="1" wrap="square" lIns="91425" tIns="91425" rIns="91425" bIns="91425" anchor="t" anchorCtr="0">
            <a:normAutofit/>
          </a:bodyPr>
          <a:lstStyle/>
          <a:p>
            <a:pPr marL="91440" indent="0" algn="l">
              <a:spcBef>
                <a:spcPts val="0"/>
              </a:spcBef>
              <a:spcAft>
                <a:spcPts val="0"/>
              </a:spcAft>
            </a:pPr>
            <a:r>
              <a:rPr lang="en" sz="2400" dirty="0">
                <a:solidFill>
                  <a:schemeClr val="dk1"/>
                </a:solidFill>
              </a:rPr>
              <a:t>Updates has been made</a:t>
            </a:r>
            <a:endParaRPr sz="2400" dirty="0">
              <a:solidFill>
                <a:schemeClr val="dk1"/>
              </a:solidFill>
            </a:endParaRPr>
          </a:p>
          <a:p>
            <a:pPr marL="91440" indent="0" algn="l">
              <a:spcBef>
                <a:spcPts val="0"/>
              </a:spcBef>
              <a:spcAft>
                <a:spcPts val="0"/>
              </a:spcAft>
            </a:pPr>
            <a:endParaRPr sz="2400" dirty="0">
              <a:solidFill>
                <a:schemeClr val="dk1"/>
              </a:solidFill>
            </a:endParaRPr>
          </a:p>
          <a:p>
            <a:pPr marL="342900" indent="-342900" algn="l">
              <a:spcBef>
                <a:spcPts val="0"/>
              </a:spcBef>
              <a:spcAft>
                <a:spcPts val="0"/>
              </a:spcAft>
              <a:buClr>
                <a:schemeClr val="dk1"/>
              </a:buClr>
              <a:buSzPts val="2200"/>
              <a:buFont typeface="Arial" panose="020B0604020202020204" pitchFamily="34" charset="0"/>
              <a:buChar char="•"/>
            </a:pPr>
            <a:r>
              <a:rPr lang="en" sz="1600" dirty="0">
                <a:solidFill>
                  <a:schemeClr val="dk1"/>
                </a:solidFill>
              </a:rPr>
              <a:t>merged the two tables into one User</a:t>
            </a:r>
            <a:endParaRPr sz="1600" dirty="0">
              <a:solidFill>
                <a:schemeClr val="dk1"/>
              </a:solidFill>
            </a:endParaRPr>
          </a:p>
          <a:p>
            <a:pPr marL="434340" indent="-342900" algn="l">
              <a:spcBef>
                <a:spcPts val="0"/>
              </a:spcBef>
              <a:spcAft>
                <a:spcPts val="0"/>
              </a:spcAft>
              <a:buFont typeface="Arial" panose="020B0604020202020204" pitchFamily="34" charset="0"/>
              <a:buChar char="•"/>
            </a:pPr>
            <a:endParaRPr sz="1600" dirty="0">
              <a:solidFill>
                <a:schemeClr val="dk1"/>
              </a:solidFill>
            </a:endParaRPr>
          </a:p>
          <a:p>
            <a:pPr marL="342900" indent="-342900" algn="l">
              <a:spcBef>
                <a:spcPts val="0"/>
              </a:spcBef>
              <a:spcAft>
                <a:spcPts val="0"/>
              </a:spcAft>
              <a:buClr>
                <a:schemeClr val="dk1"/>
              </a:buClr>
              <a:buSzPts val="2200"/>
              <a:buFont typeface="Arial" panose="020B0604020202020204" pitchFamily="34" charset="0"/>
              <a:buChar char="•"/>
            </a:pPr>
            <a:r>
              <a:rPr lang="en" sz="1600" dirty="0">
                <a:solidFill>
                  <a:schemeClr val="dk1"/>
                </a:solidFill>
              </a:rPr>
              <a:t>changed and added more functions</a:t>
            </a:r>
            <a:endParaRPr sz="1600" dirty="0">
              <a:solidFill>
                <a:schemeClr val="dk1"/>
              </a:solidFill>
            </a:endParaRPr>
          </a:p>
          <a:p>
            <a:pPr marL="91440" indent="0" algn="l">
              <a:spcBef>
                <a:spcPts val="0"/>
              </a:spcBef>
              <a:spcAft>
                <a:spcPts val="0"/>
              </a:spcAft>
            </a:pPr>
            <a:endParaRPr sz="2200" dirty="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3" name="Picture 2">
            <a:extLst>
              <a:ext uri="{FF2B5EF4-FFF2-40B4-BE49-F238E27FC236}">
                <a16:creationId xmlns:a16="http://schemas.microsoft.com/office/drawing/2014/main" id="{E4C7284E-8968-FB29-C3FC-3C272F604B6D}"/>
              </a:ext>
            </a:extLst>
          </p:cNvPr>
          <p:cNvPicPr>
            <a:picLocks noChangeAspect="1"/>
          </p:cNvPicPr>
          <p:nvPr/>
        </p:nvPicPr>
        <p:blipFill>
          <a:blip r:embed="rId3"/>
          <a:stretch>
            <a:fillRect/>
          </a:stretch>
        </p:blipFill>
        <p:spPr>
          <a:xfrm>
            <a:off x="235527" y="189344"/>
            <a:ext cx="8700656" cy="466898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6"/>
          <p:cNvSpPr txBox="1">
            <a:spLocks noGrp="1"/>
          </p:cNvSpPr>
          <p:nvPr>
            <p:ph type="ctrTitle"/>
          </p:nvPr>
        </p:nvSpPr>
        <p:spPr>
          <a:xfrm>
            <a:off x="311700" y="349850"/>
            <a:ext cx="4429111" cy="729000"/>
          </a:xfrm>
          <a:prstGeom prst="rect">
            <a:avLst/>
          </a:prstGeom>
        </p:spPr>
        <p:txBody>
          <a:bodyPr spcFirstLastPara="1" wrap="square" lIns="91425" tIns="91425" rIns="91425" bIns="91425" anchor="b" anchorCtr="0">
            <a:noAutofit/>
          </a:bodyPr>
          <a:lstStyle/>
          <a:p>
            <a:r>
              <a:rPr lang="en" sz="3200" dirty="0">
                <a:solidFill>
                  <a:schemeClr val="bg1"/>
                </a:solidFill>
              </a:rPr>
              <a:t>Sequence diagram</a:t>
            </a:r>
            <a:endParaRPr sz="3200" dirty="0">
              <a:solidFill>
                <a:schemeClr val="bg1"/>
              </a:solidFill>
            </a:endParaRPr>
          </a:p>
        </p:txBody>
      </p:sp>
      <p:sp>
        <p:nvSpPr>
          <p:cNvPr id="134" name="Google Shape;134;p26"/>
          <p:cNvSpPr txBox="1">
            <a:spLocks noGrp="1"/>
          </p:cNvSpPr>
          <p:nvPr>
            <p:ph type="subTitle" idx="1"/>
          </p:nvPr>
        </p:nvSpPr>
        <p:spPr>
          <a:xfrm>
            <a:off x="311700" y="1359975"/>
            <a:ext cx="8520600" cy="2482800"/>
          </a:xfrm>
          <a:prstGeom prst="rect">
            <a:avLst/>
          </a:prstGeom>
        </p:spPr>
        <p:txBody>
          <a:bodyPr spcFirstLastPara="1" wrap="square" lIns="91425" tIns="91425" rIns="91425" bIns="91425" anchor="t" anchorCtr="0">
            <a:normAutofit fontScale="92500" lnSpcReduction="20000"/>
          </a:bodyPr>
          <a:lstStyle/>
          <a:p>
            <a:pPr marL="0" indent="0" algn="l"/>
            <a:r>
              <a:rPr lang="en" sz="2400" dirty="0">
                <a:solidFill>
                  <a:schemeClr val="dk1"/>
                </a:solidFill>
              </a:rPr>
              <a:t>Updates has been made</a:t>
            </a:r>
            <a:endParaRPr sz="2400" dirty="0">
              <a:solidFill>
                <a:schemeClr val="dk1"/>
              </a:solidFill>
            </a:endParaRPr>
          </a:p>
          <a:p>
            <a:pPr marL="0" indent="0" algn="l"/>
            <a:endParaRPr dirty="0">
              <a:solidFill>
                <a:schemeClr val="dk1"/>
              </a:solidFill>
            </a:endParaRPr>
          </a:p>
          <a:p>
            <a:pPr marL="374648" indent="-285750" algn="l">
              <a:buClr>
                <a:schemeClr val="dk1"/>
              </a:buClr>
              <a:buSzPts val="2200"/>
              <a:buFont typeface="Arial" panose="020B0604020202020204" pitchFamily="34" charset="0"/>
              <a:buChar char="•"/>
            </a:pPr>
            <a:r>
              <a:rPr lang="en" sz="1600" dirty="0">
                <a:solidFill>
                  <a:schemeClr val="dk1"/>
                </a:solidFill>
              </a:rPr>
              <a:t>naming convention</a:t>
            </a:r>
            <a:endParaRPr sz="1600" dirty="0">
              <a:solidFill>
                <a:schemeClr val="dk1"/>
              </a:solidFill>
            </a:endParaRPr>
          </a:p>
          <a:p>
            <a:pPr marL="742939" indent="-285750" algn="l">
              <a:buFont typeface="Arial" panose="020B0604020202020204" pitchFamily="34" charset="0"/>
              <a:buChar char="•"/>
            </a:pPr>
            <a:endParaRPr sz="1600" dirty="0">
              <a:solidFill>
                <a:schemeClr val="dk1"/>
              </a:solidFill>
            </a:endParaRPr>
          </a:p>
          <a:p>
            <a:pPr marL="374648" indent="-285750" algn="l">
              <a:buClr>
                <a:schemeClr val="dk1"/>
              </a:buClr>
              <a:buSzPts val="2200"/>
              <a:buFont typeface="Arial" panose="020B0604020202020204" pitchFamily="34" charset="0"/>
              <a:buChar char="•"/>
            </a:pPr>
            <a:r>
              <a:rPr lang="en" sz="1600" dirty="0">
                <a:solidFill>
                  <a:schemeClr val="dk1"/>
                </a:solidFill>
              </a:rPr>
              <a:t>gates for the processes where they start and end</a:t>
            </a:r>
          </a:p>
          <a:p>
            <a:pPr marL="374648" indent="-285750" algn="l">
              <a:buClr>
                <a:schemeClr val="dk1"/>
              </a:buClr>
              <a:buSzPts val="2200"/>
              <a:buFont typeface="Arial" panose="020B0604020202020204" pitchFamily="34" charset="0"/>
              <a:buChar char="•"/>
            </a:pPr>
            <a:endParaRPr lang="en" sz="1600" dirty="0">
              <a:solidFill>
                <a:schemeClr val="dk1"/>
              </a:solidFill>
            </a:endParaRPr>
          </a:p>
          <a:p>
            <a:pPr marL="374648" indent="-285750" algn="l">
              <a:buClr>
                <a:schemeClr val="dk1"/>
              </a:buClr>
              <a:buSzPts val="2200"/>
              <a:buFont typeface="Arial" panose="020B0604020202020204" pitchFamily="34" charset="0"/>
              <a:buChar char="•"/>
            </a:pPr>
            <a:r>
              <a:rPr lang="en-US" sz="1600" dirty="0">
                <a:solidFill>
                  <a:schemeClr val="dk1"/>
                </a:solidFill>
              </a:rPr>
              <a:t>n</a:t>
            </a:r>
            <a:r>
              <a:rPr lang="en" sz="1600" dirty="0">
                <a:solidFill>
                  <a:schemeClr val="dk1"/>
                </a:solidFill>
              </a:rPr>
              <a:t>otification for the admin and approval</a:t>
            </a:r>
            <a:endParaRPr sz="1600" dirty="0">
              <a:solidFill>
                <a:schemeClr val="dk1"/>
              </a:solidFill>
            </a:endParaRPr>
          </a:p>
          <a:p>
            <a:pPr marL="0" indent="0" algn="l"/>
            <a:endParaRPr dirty="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7"/>
          <p:cNvSpPr txBox="1">
            <a:spLocks noGrp="1"/>
          </p:cNvSpPr>
          <p:nvPr>
            <p:ph type="body" idx="1"/>
          </p:nvPr>
        </p:nvSpPr>
        <p:spPr>
          <a:prstGeom prst="rect">
            <a:avLst/>
          </a:prstGeom>
        </p:spPr>
        <p:txBody>
          <a:bodyPr spcFirstLastPara="1" wrap="square" lIns="91425" tIns="91425" rIns="91425" bIns="91425" anchor="t" anchorCtr="0">
            <a:normAutofit/>
          </a:bodyPr>
          <a:lstStyle/>
          <a:p>
            <a:pPr marL="0" indent="0">
              <a:spcAft>
                <a:spcPts val="1200"/>
              </a:spcAft>
              <a:buNone/>
            </a:pPr>
            <a:endParaRPr/>
          </a:p>
        </p:txBody>
      </p:sp>
      <p:pic>
        <p:nvPicPr>
          <p:cNvPr id="7" name="Picture 6">
            <a:extLst>
              <a:ext uri="{FF2B5EF4-FFF2-40B4-BE49-F238E27FC236}">
                <a16:creationId xmlns:a16="http://schemas.microsoft.com/office/drawing/2014/main" id="{DBACC0E9-9FBD-BDAC-BD68-303927073607}"/>
              </a:ext>
            </a:extLst>
          </p:cNvPr>
          <p:cNvPicPr>
            <a:picLocks noChangeAspect="1"/>
          </p:cNvPicPr>
          <p:nvPr/>
        </p:nvPicPr>
        <p:blipFill>
          <a:blip r:embed="rId3"/>
          <a:stretch>
            <a:fillRect/>
          </a:stretch>
        </p:blipFill>
        <p:spPr>
          <a:xfrm>
            <a:off x="311700" y="230909"/>
            <a:ext cx="8520600" cy="47151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6D6B9-D55D-38E6-BD0E-83FE21FAD950}"/>
              </a:ext>
            </a:extLst>
          </p:cNvPr>
          <p:cNvSpPr>
            <a:spLocks noGrp="1"/>
          </p:cNvSpPr>
          <p:nvPr>
            <p:ph type="title"/>
          </p:nvPr>
        </p:nvSpPr>
        <p:spPr>
          <a:xfrm>
            <a:off x="311700" y="96249"/>
            <a:ext cx="8520600" cy="572700"/>
          </a:xfrm>
        </p:spPr>
        <p:txBody>
          <a:bodyPr>
            <a:normAutofit fontScale="90000"/>
          </a:bodyPr>
          <a:lstStyle/>
          <a:p>
            <a:r>
              <a:rPr lang="en-US" dirty="0"/>
              <a:t>Prototype</a:t>
            </a:r>
          </a:p>
        </p:txBody>
      </p:sp>
      <p:sp>
        <p:nvSpPr>
          <p:cNvPr id="3" name="Text Placeholder 2">
            <a:extLst>
              <a:ext uri="{FF2B5EF4-FFF2-40B4-BE49-F238E27FC236}">
                <a16:creationId xmlns:a16="http://schemas.microsoft.com/office/drawing/2014/main" id="{348E3D25-5E89-039D-A57A-6C63E3EBE470}"/>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D3031367-972B-DDBD-EE29-5F9685D7CFF6}"/>
              </a:ext>
            </a:extLst>
          </p:cNvPr>
          <p:cNvPicPr>
            <a:picLocks noChangeAspect="1"/>
          </p:cNvPicPr>
          <p:nvPr/>
        </p:nvPicPr>
        <p:blipFill>
          <a:blip r:embed="rId2"/>
          <a:stretch>
            <a:fillRect/>
          </a:stretch>
        </p:blipFill>
        <p:spPr>
          <a:xfrm>
            <a:off x="244764" y="668948"/>
            <a:ext cx="8659091" cy="4258651"/>
          </a:xfrm>
          <a:prstGeom prst="rect">
            <a:avLst/>
          </a:prstGeom>
        </p:spPr>
      </p:pic>
    </p:spTree>
    <p:extLst>
      <p:ext uri="{BB962C8B-B14F-4D97-AF65-F5344CB8AC3E}">
        <p14:creationId xmlns:p14="http://schemas.microsoft.com/office/powerpoint/2010/main" val="805729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8"/>
          <p:cNvSpPr txBox="1">
            <a:spLocks noGrp="1"/>
          </p:cNvSpPr>
          <p:nvPr>
            <p:ph type="title"/>
          </p:nvPr>
        </p:nvSpPr>
        <p:spPr>
          <a:prstGeom prst="rect">
            <a:avLst/>
          </a:prstGeom>
        </p:spPr>
        <p:txBody>
          <a:bodyPr spcFirstLastPara="1" wrap="square" lIns="91425" tIns="91425" rIns="91425" bIns="91425" anchor="t" anchorCtr="0">
            <a:noAutofit/>
          </a:bodyPr>
          <a:lstStyle/>
          <a:p>
            <a:r>
              <a:rPr lang="en" sz="3200" dirty="0">
                <a:solidFill>
                  <a:schemeClr val="bg1"/>
                </a:solidFill>
              </a:rPr>
              <a:t>Conlcusion</a:t>
            </a:r>
            <a:endParaRPr sz="3200" dirty="0">
              <a:solidFill>
                <a:schemeClr val="bg1"/>
              </a:solidFill>
            </a:endParaRPr>
          </a:p>
        </p:txBody>
      </p:sp>
      <p:sp>
        <p:nvSpPr>
          <p:cNvPr id="146" name="Google Shape;146;p28"/>
          <p:cNvSpPr txBox="1">
            <a:spLocks noGrp="1"/>
          </p:cNvSpPr>
          <p:nvPr>
            <p:ph type="body" idx="1"/>
          </p:nvPr>
        </p:nvSpPr>
        <p:spPr>
          <a:prstGeom prst="rect">
            <a:avLst/>
          </a:prstGeom>
        </p:spPr>
        <p:txBody>
          <a:bodyPr spcFirstLastPara="1" wrap="square" lIns="91425" tIns="91425" rIns="91425" bIns="91425" anchor="t" anchorCtr="0">
            <a:normAutofit/>
          </a:bodyPr>
          <a:lstStyle/>
          <a:p>
            <a:pPr marL="0" indent="0">
              <a:spcAft>
                <a:spcPts val="1200"/>
              </a:spcAft>
              <a:buNone/>
            </a:pPr>
            <a:endParaRPr lang="en-US" sz="1600" dirty="0">
              <a:solidFill>
                <a:schemeClr val="bg1"/>
              </a:solidFill>
            </a:endParaRPr>
          </a:p>
          <a:p>
            <a:pPr marL="0" indent="0">
              <a:spcAft>
                <a:spcPts val="1200"/>
              </a:spcAft>
              <a:buNone/>
            </a:pPr>
            <a:r>
              <a:rPr lang="en-US" sz="1600" dirty="0">
                <a:solidFill>
                  <a:schemeClr val="bg1"/>
                </a:solidFill>
              </a:rPr>
              <a:t>This shows how using blockchain technology can make auctions better. By using smart contracts, the auction process becomes more transparent, secure, and efficient. Decentralizing the auctions means there's less need for middlemen, which lowers costs and reduces potential unfairness. Every transaction is permanent and can be checked, which builds more trust among users. These improvements make auction platforms more modern, user-friendly, and reliable for people everywhere.</a:t>
            </a:r>
            <a:endParaRPr sz="160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9"/>
          <p:cNvSpPr txBox="1">
            <a:spLocks noGrp="1"/>
          </p:cNvSpPr>
          <p:nvPr>
            <p:ph type="body" idx="1"/>
          </p:nvPr>
        </p:nvSpPr>
        <p:spPr>
          <a:xfrm>
            <a:off x="311700" y="1152474"/>
            <a:ext cx="8520600" cy="2551307"/>
          </a:xfrm>
          <a:prstGeom prst="rect">
            <a:avLst/>
          </a:prstGeom>
        </p:spPr>
        <p:txBody>
          <a:bodyPr spcFirstLastPara="1" wrap="square" lIns="91425" tIns="91425" rIns="91425" bIns="91425" anchor="t" anchorCtr="0">
            <a:normAutofit fontScale="92500" lnSpcReduction="10000"/>
          </a:bodyPr>
          <a:lstStyle/>
          <a:p>
            <a:pPr marL="0" indent="0" algn="ctr">
              <a:buNone/>
            </a:pPr>
            <a:r>
              <a:rPr lang="en" sz="3200" dirty="0">
                <a:solidFill>
                  <a:schemeClr val="dk1"/>
                </a:solidFill>
              </a:rPr>
              <a:t>THANK YOU </a:t>
            </a:r>
            <a:r>
              <a:rPr lang="en" sz="3200" dirty="0">
                <a:solidFill>
                  <a:schemeClr val="dk1"/>
                </a:solidFill>
                <a:highlight>
                  <a:srgbClr val="1B212C"/>
                </a:highlight>
              </a:rPr>
              <a:t>😀</a:t>
            </a:r>
          </a:p>
          <a:p>
            <a:pPr marL="0" indent="0" algn="ctr">
              <a:buNone/>
            </a:pPr>
            <a:endParaRPr lang="en-US" sz="3200" dirty="0">
              <a:solidFill>
                <a:schemeClr val="dk1"/>
              </a:solidFill>
              <a:highlight>
                <a:srgbClr val="1B212C"/>
              </a:highlight>
            </a:endParaRPr>
          </a:p>
          <a:p>
            <a:pPr marL="0" indent="0" algn="ctr">
              <a:buNone/>
            </a:pPr>
            <a:endParaRPr sz="3200" dirty="0">
              <a:solidFill>
                <a:schemeClr val="dk1"/>
              </a:solidFill>
              <a:highlight>
                <a:srgbClr val="1B212C"/>
              </a:highlight>
            </a:endParaRPr>
          </a:p>
          <a:p>
            <a:pPr marL="0" indent="0" algn="ctr">
              <a:buClr>
                <a:schemeClr val="dk1"/>
              </a:buClr>
              <a:buSzPts val="1100"/>
              <a:buNone/>
            </a:pPr>
            <a:endParaRPr sz="3200" dirty="0">
              <a:solidFill>
                <a:schemeClr val="dk1"/>
              </a:solidFill>
              <a:highlight>
                <a:srgbClr val="1B212C"/>
              </a:highlight>
            </a:endParaRPr>
          </a:p>
          <a:p>
            <a:pPr marL="0" indent="0" algn="ctr">
              <a:spcAft>
                <a:spcPts val="1200"/>
              </a:spcAft>
              <a:buNone/>
            </a:pPr>
            <a:r>
              <a:rPr lang="en" sz="3200" dirty="0">
                <a:solidFill>
                  <a:schemeClr val="dk1"/>
                </a:solidFill>
              </a:rPr>
              <a:t>ANY QUESTIONS?</a:t>
            </a:r>
            <a:endParaRPr sz="3200" dirty="0">
              <a:solidFill>
                <a:schemeClr val="dk1"/>
              </a:solidFill>
            </a:endParaRPr>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113</TotalTime>
  <Words>296</Words>
  <Application>Microsoft Office PowerPoint</Application>
  <PresentationFormat>On-screen Show (16:9)</PresentationFormat>
  <Paragraphs>61</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Century Gothic</vt:lpstr>
      <vt:lpstr>Wingdings 3</vt:lpstr>
      <vt:lpstr>Slice</vt:lpstr>
      <vt:lpstr>Decentralized auctions</vt:lpstr>
      <vt:lpstr>E3value model</vt:lpstr>
      <vt:lpstr>PowerPoint Presentation</vt:lpstr>
      <vt:lpstr>BPMN diagram</vt:lpstr>
      <vt:lpstr>PowerPoint Presentation</vt:lpstr>
      <vt:lpstr>Process Landscape</vt:lpstr>
      <vt:lpstr>Use-case diagram</vt:lpstr>
      <vt:lpstr>PowerPoint Presentation</vt:lpstr>
      <vt:lpstr>ArchiMate diagram</vt:lpstr>
      <vt:lpstr>PowerPoint Presentation</vt:lpstr>
      <vt:lpstr>PowerPoint Presentation</vt:lpstr>
      <vt:lpstr>Class diagram</vt:lpstr>
      <vt:lpstr>PowerPoint Presentation</vt:lpstr>
      <vt:lpstr>Sequence diagram</vt:lpstr>
      <vt:lpstr>PowerPoint Presentation</vt:lpstr>
      <vt:lpstr>Prototype</vt:lpstr>
      <vt:lpstr>Conlcusion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Decentralized auctions</dc:title>
  <dc:creator>Martin</dc:creator>
  <cp:lastModifiedBy>Martin Stojkovski</cp:lastModifiedBy>
  <cp:revision>6</cp:revision>
  <dcterms:modified xsi:type="dcterms:W3CDTF">2024-05-29T09:34:47Z</dcterms:modified>
</cp:coreProperties>
</file>