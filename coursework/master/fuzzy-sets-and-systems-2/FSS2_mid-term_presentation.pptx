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Average"/>
      <p:regular r:id="rId19"/>
    </p:embeddedFont>
    <p:embeddedFont>
      <p:font typeface="Oswald"/>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swald-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Oswald-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Average-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c819186d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c819186d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c819186d6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c819186d6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c819186d6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c819186d6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c819186d6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c819186d6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c819186d6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c819186d6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cb82a0d06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cb82a0d06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c819186d6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c819186d6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c819186d6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c819186d6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c819186d6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c819186d6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c819186d6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c819186d6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c819186d6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c819186d6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cb82a0d06f_0_1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cb82a0d06f_0_1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figma.com/file/jkPORDtdwr2UwgQMKfUcnH/Sportify-Hub?type=design&amp;node-id=0-1&amp;mode=design&amp;t=gR6uz0oHEKzsu208-0" TargetMode="External"/><Relationship Id="rId4" Type="http://schemas.openxmlformats.org/officeDocument/2006/relationships/image" Target="../media/image6.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11700" y="0"/>
            <a:ext cx="8520600" cy="19959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0"/>
              </a:spcAft>
              <a:buClr>
                <a:schemeClr val="dk1"/>
              </a:buClr>
              <a:buSzPts val="1100"/>
              <a:buFont typeface="Arial"/>
              <a:buNone/>
            </a:pPr>
            <a:r>
              <a:rPr b="1" lang="en" sz="4000"/>
              <a:t>SPORTIFY HUB</a:t>
            </a:r>
            <a:endParaRPr b="1" sz="4000"/>
          </a:p>
          <a:p>
            <a:pPr indent="0" lvl="0" marL="0" rtl="0" algn="ctr">
              <a:spcBef>
                <a:spcPts val="0"/>
              </a:spcBef>
              <a:spcAft>
                <a:spcPts val="0"/>
              </a:spcAft>
              <a:buNone/>
            </a:pPr>
            <a:r>
              <a:t/>
            </a:r>
            <a:endParaRPr/>
          </a:p>
        </p:txBody>
      </p:sp>
      <p:sp>
        <p:nvSpPr>
          <p:cNvPr id="60" name="Google Shape;60;p13"/>
          <p:cNvSpPr txBox="1"/>
          <p:nvPr>
            <p:ph idx="1" type="subTitle"/>
          </p:nvPr>
        </p:nvSpPr>
        <p:spPr>
          <a:xfrm>
            <a:off x="311700" y="1630700"/>
            <a:ext cx="8520600" cy="3148500"/>
          </a:xfrm>
          <a:prstGeom prst="rect">
            <a:avLst/>
          </a:prstGeom>
        </p:spPr>
        <p:txBody>
          <a:bodyPr anchorCtr="0" anchor="t" bIns="91425" lIns="91425" spcFirstLastPara="1" rIns="91425" wrap="square" tIns="91425">
            <a:normAutofit fontScale="70000" lnSpcReduction="10000"/>
          </a:bodyPr>
          <a:lstStyle/>
          <a:p>
            <a:pPr indent="0" lvl="0" marL="0" rtl="0" algn="ctr">
              <a:lnSpc>
                <a:spcPct val="115000"/>
              </a:lnSpc>
              <a:spcBef>
                <a:spcPts val="0"/>
              </a:spcBef>
              <a:spcAft>
                <a:spcPts val="0"/>
              </a:spcAft>
              <a:buClr>
                <a:schemeClr val="dk1"/>
              </a:buClr>
              <a:buSzPct val="45833"/>
              <a:buFont typeface="Arial"/>
              <a:buNone/>
            </a:pPr>
            <a:r>
              <a:rPr b="1" lang="en" sz="2400">
                <a:solidFill>
                  <a:schemeClr val="dk1"/>
                </a:solidFill>
              </a:rPr>
              <a:t>DEPENDANT ON USER’S FREE TIME / PREFERENCES / PREVIOUS ACTIVITIES</a:t>
            </a:r>
            <a:endParaRPr b="1" sz="2400">
              <a:solidFill>
                <a:schemeClr val="dk1"/>
              </a:solidFill>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marR="0" rtl="0" algn="ctr">
              <a:spcBef>
                <a:spcPts val="0"/>
              </a:spcBef>
              <a:spcAft>
                <a:spcPts val="0"/>
              </a:spcAft>
              <a:buNone/>
            </a:pPr>
            <a:r>
              <a:t/>
            </a:r>
            <a:endParaRPr/>
          </a:p>
          <a:p>
            <a:pPr indent="0" lvl="0" marL="0" rtl="0" algn="ctr">
              <a:lnSpc>
                <a:spcPct val="115000"/>
              </a:lnSpc>
              <a:spcBef>
                <a:spcPts val="0"/>
              </a:spcBef>
              <a:spcAft>
                <a:spcPts val="0"/>
              </a:spcAft>
              <a:buNone/>
            </a:pPr>
            <a:r>
              <a:t/>
            </a:r>
            <a:endParaRPr i="1" sz="2000">
              <a:solidFill>
                <a:schemeClr val="dk1"/>
              </a:solidFill>
            </a:endParaRPr>
          </a:p>
          <a:p>
            <a:pPr indent="0" lvl="0" marL="0" rtl="0" algn="ctr">
              <a:lnSpc>
                <a:spcPct val="115000"/>
              </a:lnSpc>
              <a:spcBef>
                <a:spcPts val="0"/>
              </a:spcBef>
              <a:spcAft>
                <a:spcPts val="0"/>
              </a:spcAft>
              <a:buNone/>
            </a:pPr>
            <a:r>
              <a:rPr i="1" lang="en" sz="2000">
                <a:solidFill>
                  <a:schemeClr val="dk1"/>
                </a:solidFill>
              </a:rPr>
              <a:t>Mid-term presentation in Fuzzy Sets and Systems II</a:t>
            </a:r>
            <a:endParaRPr i="1" sz="2000">
              <a:solidFill>
                <a:schemeClr val="dk1"/>
              </a:solidFill>
            </a:endParaRPr>
          </a:p>
          <a:p>
            <a:pPr indent="0" lvl="0" marL="0" rtl="0" algn="ctr">
              <a:lnSpc>
                <a:spcPct val="115000"/>
              </a:lnSpc>
              <a:spcBef>
                <a:spcPts val="0"/>
              </a:spcBef>
              <a:spcAft>
                <a:spcPts val="0"/>
              </a:spcAft>
              <a:buNone/>
            </a:pPr>
            <a:r>
              <a:t/>
            </a:r>
            <a:endParaRPr i="1" sz="1400">
              <a:solidFill>
                <a:schemeClr val="dk1"/>
              </a:solidFill>
            </a:endParaRPr>
          </a:p>
          <a:p>
            <a:pPr indent="0" lvl="0" marL="0" rtl="0" algn="ctr">
              <a:lnSpc>
                <a:spcPct val="115000"/>
              </a:lnSpc>
              <a:spcBef>
                <a:spcPts val="0"/>
              </a:spcBef>
              <a:spcAft>
                <a:spcPts val="0"/>
              </a:spcAft>
              <a:buNone/>
            </a:pPr>
            <a:r>
              <a:t/>
            </a:r>
            <a:endParaRPr i="1" sz="1400">
              <a:solidFill>
                <a:schemeClr val="dk1"/>
              </a:solidFill>
            </a:endParaRPr>
          </a:p>
          <a:p>
            <a:pPr indent="0" lvl="0" marL="0" rtl="0" algn="ctr">
              <a:lnSpc>
                <a:spcPct val="115000"/>
              </a:lnSpc>
              <a:spcBef>
                <a:spcPts val="0"/>
              </a:spcBef>
              <a:spcAft>
                <a:spcPts val="0"/>
              </a:spcAft>
              <a:buNone/>
            </a:pPr>
            <a:r>
              <a:t/>
            </a:r>
            <a:endParaRPr i="1" sz="1400">
              <a:solidFill>
                <a:schemeClr val="dk1"/>
              </a:solidFill>
            </a:endParaRPr>
          </a:p>
          <a:p>
            <a:pPr indent="0" lvl="0" marL="0" rtl="0" algn="ctr">
              <a:lnSpc>
                <a:spcPct val="115000"/>
              </a:lnSpc>
              <a:spcBef>
                <a:spcPts val="0"/>
              </a:spcBef>
              <a:spcAft>
                <a:spcPts val="0"/>
              </a:spcAft>
              <a:buNone/>
            </a:pPr>
            <a:r>
              <a:t/>
            </a:r>
            <a:endParaRPr i="1" sz="1400">
              <a:solidFill>
                <a:schemeClr val="dk1"/>
              </a:solidFill>
            </a:endParaRPr>
          </a:p>
          <a:p>
            <a:pPr indent="0" lvl="0" marL="0" marR="0" rtl="0" algn="l">
              <a:lnSpc>
                <a:spcPct val="115000"/>
              </a:lnSpc>
              <a:spcBef>
                <a:spcPts val="0"/>
              </a:spcBef>
              <a:spcAft>
                <a:spcPts val="0"/>
              </a:spcAft>
              <a:buNone/>
            </a:pPr>
            <a:r>
              <a:t/>
            </a:r>
            <a:endParaRPr i="1" sz="1400">
              <a:solidFill>
                <a:schemeClr val="dk1"/>
              </a:solidFill>
            </a:endParaRPr>
          </a:p>
          <a:p>
            <a:pPr indent="0" lvl="0" marL="0" marR="0" rtl="0" algn="l">
              <a:lnSpc>
                <a:spcPct val="115000"/>
              </a:lnSpc>
              <a:spcBef>
                <a:spcPts val="0"/>
              </a:spcBef>
              <a:spcAft>
                <a:spcPts val="0"/>
              </a:spcAft>
              <a:buNone/>
            </a:pPr>
            <a:r>
              <a:t/>
            </a:r>
            <a:endParaRPr i="1" sz="1400">
              <a:solidFill>
                <a:schemeClr val="dk1"/>
              </a:solidFill>
            </a:endParaRPr>
          </a:p>
          <a:p>
            <a:pPr indent="0" lvl="0" marL="0" marR="0" rtl="0" algn="l">
              <a:lnSpc>
                <a:spcPct val="115000"/>
              </a:lnSpc>
              <a:spcBef>
                <a:spcPts val="0"/>
              </a:spcBef>
              <a:spcAft>
                <a:spcPts val="0"/>
              </a:spcAft>
              <a:buNone/>
            </a:pPr>
            <a:r>
              <a:t/>
            </a:r>
            <a:endParaRPr i="1" sz="1400">
              <a:solidFill>
                <a:schemeClr val="dk1"/>
              </a:solidFill>
            </a:endParaRPr>
          </a:p>
          <a:p>
            <a:pPr indent="0" lvl="0" marL="0" marR="0" rtl="0" algn="l">
              <a:lnSpc>
                <a:spcPct val="115000"/>
              </a:lnSpc>
              <a:spcBef>
                <a:spcPts val="0"/>
              </a:spcBef>
              <a:spcAft>
                <a:spcPts val="0"/>
              </a:spcAft>
              <a:buClr>
                <a:schemeClr val="dk1"/>
              </a:buClr>
              <a:buSzPct val="63585"/>
              <a:buFont typeface="Arial"/>
              <a:buNone/>
            </a:pPr>
            <a:r>
              <a:rPr i="1" lang="en" sz="1729">
                <a:solidFill>
                  <a:schemeClr val="dk1"/>
                </a:solidFill>
              </a:rPr>
              <a:t>12.04.2024, University of Fribourg                    	                                                                       Martin Stojkovski and Ariton Verush</a:t>
            </a:r>
            <a:endParaRPr i="1" sz="1929">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40152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Clr>
                <a:schemeClr val="dk1"/>
              </a:buClr>
              <a:buSzPct val="45000"/>
              <a:buFont typeface="Arial"/>
              <a:buNone/>
            </a:pPr>
            <a:r>
              <a:rPr b="1" lang="en" sz="2444"/>
              <a:t>INTRODUCTION</a:t>
            </a:r>
            <a:endParaRPr sz="3244"/>
          </a:p>
        </p:txBody>
      </p:sp>
      <p:sp>
        <p:nvSpPr>
          <p:cNvPr id="66" name="Google Shape;66;p14"/>
          <p:cNvSpPr txBox="1"/>
          <p:nvPr>
            <p:ph idx="1" type="body"/>
          </p:nvPr>
        </p:nvSpPr>
        <p:spPr>
          <a:xfrm>
            <a:off x="311700" y="1152475"/>
            <a:ext cx="3346500" cy="3416400"/>
          </a:xfrm>
          <a:prstGeom prst="rect">
            <a:avLst/>
          </a:prstGeom>
        </p:spPr>
        <p:txBody>
          <a:bodyPr anchorCtr="0" anchor="t" bIns="91425" lIns="91425" spcFirstLastPara="1" rIns="91425" wrap="square" tIns="91425">
            <a:normAutofit/>
          </a:bodyPr>
          <a:lstStyle/>
          <a:p>
            <a:pPr indent="0" lvl="0" marL="0" marR="0" rtl="0" algn="ctr">
              <a:spcBef>
                <a:spcPts val="0"/>
              </a:spcBef>
              <a:spcAft>
                <a:spcPts val="0"/>
              </a:spcAft>
              <a:buClr>
                <a:schemeClr val="dk1"/>
              </a:buClr>
              <a:buSzPts val="1100"/>
              <a:buFont typeface="Arial"/>
              <a:buNone/>
            </a:pPr>
            <a:r>
              <a:rPr lang="en" sz="1400">
                <a:solidFill>
                  <a:schemeClr val="dk1"/>
                </a:solidFill>
              </a:rPr>
              <a:t>"Sportify Hub" is going to be a comprehensive platform designed to meet the varied needs of sports enthusiasts, athletes, and fitness enjoyers alike. Whether you're seeking connections with like-minded individuals, exploring new sports and activities, or tracking your progress and achievements, Sportify Hub provides a centralized hub for all things sports-related. With community challenges, Sportify Hub aims to inspire, motivate, and empower users to lead active and healthy lifestyles. </a:t>
            </a:r>
            <a:endParaRPr sz="2000"/>
          </a:p>
        </p:txBody>
      </p:sp>
      <p:pic>
        <p:nvPicPr>
          <p:cNvPr id="67" name="Google Shape;67;p14"/>
          <p:cNvPicPr preferRelativeResize="0"/>
          <p:nvPr/>
        </p:nvPicPr>
        <p:blipFill>
          <a:blip r:embed="rId3">
            <a:alphaModFix/>
          </a:blip>
          <a:stretch>
            <a:fillRect/>
          </a:stretch>
        </p:blipFill>
        <p:spPr>
          <a:xfrm>
            <a:off x="4997425" y="1017725"/>
            <a:ext cx="3802075" cy="3528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4915150" y="445025"/>
            <a:ext cx="37479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Clr>
                <a:schemeClr val="dk1"/>
              </a:buClr>
              <a:buSzPct val="45000"/>
              <a:buFont typeface="Arial"/>
              <a:buNone/>
            </a:pPr>
            <a:r>
              <a:rPr b="1" lang="en" sz="2444"/>
              <a:t>GOALS</a:t>
            </a:r>
            <a:endParaRPr sz="3244"/>
          </a:p>
        </p:txBody>
      </p:sp>
      <p:sp>
        <p:nvSpPr>
          <p:cNvPr id="73" name="Google Shape;73;p15"/>
          <p:cNvSpPr txBox="1"/>
          <p:nvPr>
            <p:ph idx="1" type="body"/>
          </p:nvPr>
        </p:nvSpPr>
        <p:spPr>
          <a:xfrm>
            <a:off x="4915200" y="1152475"/>
            <a:ext cx="37479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sz="1400">
                <a:solidFill>
                  <a:schemeClr val="dk1"/>
                </a:solidFill>
              </a:rPr>
              <a:t>Our plan is to cultivate a supportive community where users, dependent on their free time, preferences, and previous activities, can track their progress, set fitness goals, and participate in challenges, all while accessing expert advice and diverse sports content to stay motivated and engaged. Join the Sportify community and discover endless opportunities to explore, engage, and succeed in your sporting journey.</a:t>
            </a:r>
            <a:endParaRPr sz="2000"/>
          </a:p>
        </p:txBody>
      </p:sp>
      <p:pic>
        <p:nvPicPr>
          <p:cNvPr id="74" name="Google Shape;74;p15"/>
          <p:cNvPicPr preferRelativeResize="0"/>
          <p:nvPr/>
        </p:nvPicPr>
        <p:blipFill>
          <a:blip r:embed="rId3">
            <a:alphaModFix/>
          </a:blip>
          <a:stretch>
            <a:fillRect/>
          </a:stretch>
        </p:blipFill>
        <p:spPr>
          <a:xfrm>
            <a:off x="237475" y="920349"/>
            <a:ext cx="4334526" cy="3302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342450"/>
            <a:ext cx="3807600" cy="5640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45000"/>
              <a:buFont typeface="Arial"/>
              <a:buNone/>
            </a:pPr>
            <a:r>
              <a:rPr b="1" lang="en" sz="2444"/>
              <a:t>THE PROTOTYPE</a:t>
            </a:r>
            <a:endParaRPr b="1" sz="2444"/>
          </a:p>
          <a:p>
            <a:pPr indent="0" lvl="0" marL="0" rtl="0" algn="l">
              <a:spcBef>
                <a:spcPts val="0"/>
              </a:spcBef>
              <a:spcAft>
                <a:spcPts val="0"/>
              </a:spcAft>
              <a:buNone/>
            </a:pPr>
            <a:r>
              <a:t/>
            </a:r>
            <a:endParaRPr/>
          </a:p>
        </p:txBody>
      </p:sp>
      <p:sp>
        <p:nvSpPr>
          <p:cNvPr id="80" name="Google Shape;80;p16"/>
          <p:cNvSpPr txBox="1"/>
          <p:nvPr>
            <p:ph idx="1" type="body"/>
          </p:nvPr>
        </p:nvSpPr>
        <p:spPr>
          <a:xfrm>
            <a:off x="311700" y="1152475"/>
            <a:ext cx="3807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rPr lang="en"/>
              <a:t>Link to our prototype:</a:t>
            </a:r>
            <a:endParaRPr/>
          </a:p>
          <a:p>
            <a:pPr indent="0" lvl="0" marL="0" rtl="0" algn="ctr">
              <a:spcBef>
                <a:spcPts val="1200"/>
              </a:spcBef>
              <a:spcAft>
                <a:spcPts val="1200"/>
              </a:spcAft>
              <a:buNone/>
            </a:pPr>
            <a:r>
              <a:rPr lang="en">
                <a:solidFill>
                  <a:srgbClr val="6D9EEB"/>
                </a:solidFill>
                <a:uFill>
                  <a:noFill/>
                </a:uFill>
                <a:hlinkClick r:id="rId3">
                  <a:extLst>
                    <a:ext uri="{A12FA001-AC4F-418D-AE19-62706E023703}">
                      <ahyp:hlinkClr val="tx"/>
                    </a:ext>
                  </a:extLst>
                </a:hlinkClick>
              </a:rPr>
              <a:t>SPORTIFY HUB</a:t>
            </a:r>
            <a:endParaRPr>
              <a:solidFill>
                <a:srgbClr val="6D9EEB"/>
              </a:solidFill>
            </a:endParaRPr>
          </a:p>
        </p:txBody>
      </p:sp>
      <p:pic>
        <p:nvPicPr>
          <p:cNvPr id="81" name="Google Shape;81;p16"/>
          <p:cNvPicPr preferRelativeResize="0"/>
          <p:nvPr/>
        </p:nvPicPr>
        <p:blipFill>
          <a:blip r:embed="rId4">
            <a:alphaModFix/>
          </a:blip>
          <a:stretch>
            <a:fillRect/>
          </a:stretch>
        </p:blipFill>
        <p:spPr>
          <a:xfrm>
            <a:off x="6728100" y="342450"/>
            <a:ext cx="2303901" cy="4685576"/>
          </a:xfrm>
          <a:prstGeom prst="rect">
            <a:avLst/>
          </a:prstGeom>
          <a:noFill/>
          <a:ln>
            <a:noFill/>
          </a:ln>
        </p:spPr>
      </p:pic>
      <p:pic>
        <p:nvPicPr>
          <p:cNvPr id="82" name="Google Shape;82;p16"/>
          <p:cNvPicPr preferRelativeResize="0"/>
          <p:nvPr/>
        </p:nvPicPr>
        <p:blipFill>
          <a:blip r:embed="rId5">
            <a:alphaModFix/>
          </a:blip>
          <a:stretch>
            <a:fillRect/>
          </a:stretch>
        </p:blipFill>
        <p:spPr>
          <a:xfrm>
            <a:off x="4268100" y="342450"/>
            <a:ext cx="2357650" cy="46855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299775" y="445025"/>
            <a:ext cx="8532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b="1" lang="en" sz="2220"/>
              <a:t>OUR CATEGORIES</a:t>
            </a:r>
            <a:endParaRPr b="1" sz="2220"/>
          </a:p>
        </p:txBody>
      </p:sp>
      <p:sp>
        <p:nvSpPr>
          <p:cNvPr id="88" name="Google Shape;88;p17"/>
          <p:cNvSpPr txBox="1"/>
          <p:nvPr>
            <p:ph idx="1" type="body"/>
          </p:nvPr>
        </p:nvSpPr>
        <p:spPr>
          <a:xfrm>
            <a:off x="299600" y="1152475"/>
            <a:ext cx="8532600" cy="3762900"/>
          </a:xfrm>
          <a:prstGeom prst="rect">
            <a:avLst/>
          </a:prstGeom>
        </p:spPr>
        <p:txBody>
          <a:bodyPr anchorCtr="0" anchor="t" bIns="91425" lIns="91425" spcFirstLastPara="1" rIns="91425" wrap="square" tIns="91425">
            <a:normAutofit lnSpcReduction="10000"/>
          </a:bodyPr>
          <a:lstStyle/>
          <a:p>
            <a:pPr indent="-228600" lvl="0" marL="457200" rtl="0" algn="l">
              <a:spcBef>
                <a:spcPts val="1500"/>
              </a:spcBef>
              <a:spcAft>
                <a:spcPts val="0"/>
              </a:spcAft>
              <a:buClr>
                <a:schemeClr val="dk1"/>
              </a:buClr>
              <a:buSzPts val="1400"/>
              <a:buFont typeface="Arial"/>
              <a:buNone/>
            </a:pPr>
            <a:r>
              <a:rPr lang="en" sz="1400">
                <a:solidFill>
                  <a:schemeClr val="dk1"/>
                </a:solidFill>
              </a:rPr>
              <a:t>Team Sports:</a:t>
            </a:r>
            <a:endParaRPr sz="1400">
              <a:solidFill>
                <a:schemeClr val="dk1"/>
              </a:solidFill>
            </a:endParaRPr>
          </a:p>
          <a:p>
            <a:pPr indent="-228600" lvl="0" marL="457200" rtl="0" algn="l">
              <a:spcBef>
                <a:spcPts val="0"/>
              </a:spcBef>
              <a:spcAft>
                <a:spcPts val="0"/>
              </a:spcAft>
              <a:buClr>
                <a:schemeClr val="dk1"/>
              </a:buClr>
              <a:buSzPts val="1200"/>
              <a:buFont typeface="Arial"/>
              <a:buNone/>
            </a:pPr>
            <a:r>
              <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Football: </a:t>
            </a:r>
            <a:r>
              <a:rPr lang="en" sz="1200">
                <a:solidFill>
                  <a:schemeClr val="dk1"/>
                </a:solidFill>
              </a:rPr>
              <a:t>Played between two teams to score goals by kicking the ball into the opposing team's net.</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Basketball</a:t>
            </a:r>
            <a:r>
              <a:rPr lang="en" sz="1200">
                <a:solidFill>
                  <a:schemeClr val="dk1"/>
                </a:solidFill>
              </a:rPr>
              <a:t>: Involves two teams competing to score points by shooting a ball through the opponent's hoop.</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Handball</a:t>
            </a:r>
            <a:r>
              <a:rPr lang="en" sz="1200">
                <a:solidFill>
                  <a:schemeClr val="dk1"/>
                </a:solidFill>
              </a:rPr>
              <a:t>: Precise throws, and strategic teamwork, where players aim to score goals by throwing a ball into the opponent's net.</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Volleyball</a:t>
            </a:r>
            <a:r>
              <a:rPr lang="en" sz="1200">
                <a:solidFill>
                  <a:schemeClr val="dk1"/>
                </a:solidFill>
              </a:rPr>
              <a:t>: Players use their hands or arms to hit a ball over a net and score points by grounding it in the opponent's court.</a:t>
            </a:r>
            <a:endParaRPr sz="1200">
              <a:solidFill>
                <a:schemeClr val="dk1"/>
              </a:solidFill>
            </a:endParaRPr>
          </a:p>
          <a:p>
            <a:pPr indent="-228600" lvl="0" marL="457200" rtl="0" algn="l">
              <a:spcBef>
                <a:spcPts val="0"/>
              </a:spcBef>
              <a:spcAft>
                <a:spcPts val="0"/>
              </a:spcAft>
              <a:buClr>
                <a:schemeClr val="dk1"/>
              </a:buClr>
              <a:buSzPts val="1200"/>
              <a:buFont typeface="Arial"/>
              <a:buNone/>
            </a:pPr>
            <a:r>
              <a:t/>
            </a:r>
            <a:endParaRPr sz="1200">
              <a:solidFill>
                <a:schemeClr val="dk1"/>
              </a:solidFill>
            </a:endParaRPr>
          </a:p>
          <a:p>
            <a:pPr indent="-228600" lvl="0" marL="457200" rtl="0" algn="l">
              <a:spcBef>
                <a:spcPts val="0"/>
              </a:spcBef>
              <a:spcAft>
                <a:spcPts val="0"/>
              </a:spcAft>
              <a:buClr>
                <a:schemeClr val="dk1"/>
              </a:buClr>
              <a:buSzPts val="1400"/>
              <a:buFont typeface="Arial"/>
              <a:buNone/>
            </a:pPr>
            <a:r>
              <a:rPr lang="en" sz="1400">
                <a:solidFill>
                  <a:schemeClr val="dk1"/>
                </a:solidFill>
              </a:rPr>
              <a:t>Individual Sports:</a:t>
            </a:r>
            <a:endParaRPr sz="1400">
              <a:solidFill>
                <a:schemeClr val="dk1"/>
              </a:solidFill>
            </a:endParaRPr>
          </a:p>
          <a:p>
            <a:pPr indent="-228600" lvl="0" marL="457200" rtl="0" algn="l">
              <a:spcBef>
                <a:spcPts val="0"/>
              </a:spcBef>
              <a:spcAft>
                <a:spcPts val="0"/>
              </a:spcAft>
              <a:buClr>
                <a:schemeClr val="dk1"/>
              </a:buClr>
              <a:buSzPts val="1200"/>
              <a:buFont typeface="Arial"/>
              <a:buNone/>
            </a:pPr>
            <a:r>
              <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Running</a:t>
            </a:r>
            <a:r>
              <a:rPr lang="en" sz="1200">
                <a:solidFill>
                  <a:schemeClr val="dk1"/>
                </a:solidFill>
              </a:rPr>
              <a:t>: Includes various disciplines such as sprinting, long-distance running, and hurdling.</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Swimming</a:t>
            </a:r>
            <a:r>
              <a:rPr lang="en" sz="1200">
                <a:solidFill>
                  <a:schemeClr val="dk1"/>
                </a:solidFill>
              </a:rPr>
              <a:t>: Involves various strokes (e.g., freestyle, breaststroke, butterfly) swum in pools or open water.</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Golf</a:t>
            </a:r>
            <a:r>
              <a:rPr lang="en" sz="1200">
                <a:solidFill>
                  <a:schemeClr val="dk1"/>
                </a:solidFill>
              </a:rPr>
              <a:t>: Players use clubs to hit a ball into a series of holes on a course in as few strokes as possible.</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Boxing</a:t>
            </a:r>
            <a:r>
              <a:rPr lang="en" sz="1200">
                <a:solidFill>
                  <a:schemeClr val="dk1"/>
                </a:solidFill>
              </a:rPr>
              <a:t>: A combat sport where participants throw punches at each other to score points or achieve a knockout.</a:t>
            </a:r>
            <a:endParaRPr sz="1200">
              <a:solidFill>
                <a:schemeClr val="dk1"/>
              </a:solidFill>
            </a:endParaRPr>
          </a:p>
          <a:p>
            <a:pPr indent="0" lvl="0" marL="0" rtl="0" algn="l">
              <a:spcBef>
                <a:spcPts val="15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idx="1" type="body"/>
          </p:nvPr>
        </p:nvSpPr>
        <p:spPr>
          <a:xfrm>
            <a:off x="311700" y="198750"/>
            <a:ext cx="8520600" cy="4805700"/>
          </a:xfrm>
          <a:prstGeom prst="rect">
            <a:avLst/>
          </a:prstGeom>
        </p:spPr>
        <p:txBody>
          <a:bodyPr anchorCtr="0" anchor="t" bIns="91425" lIns="91425" spcFirstLastPara="1" rIns="91425" wrap="square" tIns="91425">
            <a:normAutofit lnSpcReduction="20000"/>
          </a:bodyPr>
          <a:lstStyle/>
          <a:p>
            <a:pPr indent="0" lvl="0" marL="457200" rtl="0" algn="l">
              <a:spcBef>
                <a:spcPts val="1500"/>
              </a:spcBef>
              <a:spcAft>
                <a:spcPts val="0"/>
              </a:spcAft>
              <a:buClr>
                <a:schemeClr val="dk1"/>
              </a:buClr>
              <a:buSzPts val="1100"/>
              <a:buFont typeface="Arial"/>
              <a:buNone/>
            </a:pPr>
            <a:r>
              <a:rPr lang="en" sz="1400">
                <a:solidFill>
                  <a:schemeClr val="dk1"/>
                </a:solidFill>
              </a:rPr>
              <a:t>Combat Sports:</a:t>
            </a:r>
            <a:endParaRPr sz="1400">
              <a:solidFill>
                <a:schemeClr val="dk1"/>
              </a:solidFill>
            </a:endParaRPr>
          </a:p>
          <a:p>
            <a:pPr indent="-304800" lvl="1" marL="914400" rtl="0" algn="l">
              <a:spcBef>
                <a:spcPts val="1500"/>
              </a:spcBef>
              <a:spcAft>
                <a:spcPts val="0"/>
              </a:spcAft>
              <a:buClr>
                <a:schemeClr val="dk1"/>
              </a:buClr>
              <a:buSzPts val="1200"/>
              <a:buFont typeface="Roboto"/>
              <a:buChar char="●"/>
            </a:pPr>
            <a:r>
              <a:rPr b="1" lang="en" sz="1200">
                <a:solidFill>
                  <a:schemeClr val="dk1"/>
                </a:solidFill>
              </a:rPr>
              <a:t>Martial Arts</a:t>
            </a:r>
            <a:r>
              <a:rPr lang="en" sz="1200">
                <a:solidFill>
                  <a:schemeClr val="dk1"/>
                </a:solidFill>
              </a:rPr>
              <a:t>: Includes disciplines such as karate, judo, taekwondo, and Brazilian jiu-jitsu, where participants engage in combat using various techniques and strategies.</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Wrestling</a:t>
            </a:r>
            <a:r>
              <a:rPr lang="en" sz="1200">
                <a:solidFill>
                  <a:schemeClr val="dk1"/>
                </a:solidFill>
              </a:rPr>
              <a:t>: Involves grappling techniques to gain control over an opponent and pin them to the ground.</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Mixed Martial Arts (MMA)</a:t>
            </a:r>
            <a:r>
              <a:rPr lang="en" sz="1200">
                <a:solidFill>
                  <a:schemeClr val="dk1"/>
                </a:solidFill>
              </a:rPr>
              <a:t>: Combines techniques from various martial arts disciplines, including striking and grappling, in standing and ground positions.</a:t>
            </a:r>
            <a:endParaRPr sz="1200">
              <a:solidFill>
                <a:schemeClr val="dk1"/>
              </a:solidFill>
            </a:endParaRPr>
          </a:p>
          <a:p>
            <a:pPr indent="-228600" lvl="0" marL="457200" rtl="0" algn="l">
              <a:spcBef>
                <a:spcPts val="0"/>
              </a:spcBef>
              <a:spcAft>
                <a:spcPts val="0"/>
              </a:spcAft>
              <a:buClr>
                <a:schemeClr val="dk1"/>
              </a:buClr>
              <a:buSzPts val="1200"/>
              <a:buFont typeface="Roboto"/>
              <a:buNone/>
            </a:pPr>
            <a:r>
              <a:t/>
            </a:r>
            <a:endParaRPr sz="1200">
              <a:solidFill>
                <a:schemeClr val="dk1"/>
              </a:solidFill>
            </a:endParaRPr>
          </a:p>
          <a:p>
            <a:pPr indent="-228600" lvl="0" marL="457200" rtl="0" algn="l">
              <a:spcBef>
                <a:spcPts val="0"/>
              </a:spcBef>
              <a:spcAft>
                <a:spcPts val="0"/>
              </a:spcAft>
              <a:buClr>
                <a:schemeClr val="dk1"/>
              </a:buClr>
              <a:buSzPts val="1400"/>
              <a:buFont typeface="Arial"/>
              <a:buNone/>
            </a:pPr>
            <a:r>
              <a:rPr lang="en" sz="1400">
                <a:solidFill>
                  <a:schemeClr val="dk1"/>
                </a:solidFill>
              </a:rPr>
              <a:t>Racquet Sports:</a:t>
            </a:r>
            <a:endParaRPr sz="1400">
              <a:solidFill>
                <a:schemeClr val="dk1"/>
              </a:solidFill>
            </a:endParaRPr>
          </a:p>
          <a:p>
            <a:pPr indent="-228600" lvl="0" marL="457200" rtl="0" algn="l">
              <a:spcBef>
                <a:spcPts val="0"/>
              </a:spcBef>
              <a:spcAft>
                <a:spcPts val="0"/>
              </a:spcAft>
              <a:buClr>
                <a:schemeClr val="dk1"/>
              </a:buClr>
              <a:buSzPts val="1200"/>
              <a:buFont typeface="Arial"/>
              <a:buNone/>
            </a:pPr>
            <a:r>
              <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Badminton</a:t>
            </a:r>
            <a:r>
              <a:rPr lang="en" sz="1200">
                <a:solidFill>
                  <a:schemeClr val="dk1"/>
                </a:solidFill>
              </a:rPr>
              <a:t>: Played with racquets and a shuttlecock, where players hit the shuttlecock over a net.</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Squash</a:t>
            </a:r>
            <a:r>
              <a:rPr lang="en" sz="1200">
                <a:solidFill>
                  <a:schemeClr val="dk1"/>
                </a:solidFill>
              </a:rPr>
              <a:t>: Involves hitting a ball against a wall within a defined court using a racquet.</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Ping Pong</a:t>
            </a:r>
            <a:r>
              <a:rPr lang="en" sz="1200">
                <a:solidFill>
                  <a:schemeClr val="dk1"/>
                </a:solidFill>
              </a:rPr>
              <a:t>: Players use paddles to hit a lightweight ball back and forth over a table divided by a net.</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Tennis</a:t>
            </a:r>
            <a:r>
              <a:rPr lang="en" sz="1200">
                <a:solidFill>
                  <a:schemeClr val="dk1"/>
                </a:solidFill>
              </a:rPr>
              <a:t>: Played between two individuals or teams, where players use racquets to hit a ball over a net into the opponent's court.</a:t>
            </a:r>
            <a:endParaRPr sz="1200">
              <a:solidFill>
                <a:schemeClr val="dk1"/>
              </a:solidFill>
            </a:endParaRPr>
          </a:p>
          <a:p>
            <a:pPr indent="-228600" lvl="0" marL="457200" rtl="0" algn="l">
              <a:spcBef>
                <a:spcPts val="0"/>
              </a:spcBef>
              <a:spcAft>
                <a:spcPts val="0"/>
              </a:spcAft>
              <a:buClr>
                <a:schemeClr val="dk1"/>
              </a:buClr>
              <a:buSzPts val="1200"/>
              <a:buFont typeface="Arial"/>
              <a:buNone/>
            </a:pPr>
            <a:r>
              <a:t/>
            </a:r>
            <a:endParaRPr sz="1200">
              <a:solidFill>
                <a:schemeClr val="dk1"/>
              </a:solidFill>
            </a:endParaRPr>
          </a:p>
          <a:p>
            <a:pPr indent="-228600" lvl="0" marL="457200" rtl="0" algn="l">
              <a:spcBef>
                <a:spcPts val="0"/>
              </a:spcBef>
              <a:spcAft>
                <a:spcPts val="0"/>
              </a:spcAft>
              <a:buClr>
                <a:schemeClr val="dk1"/>
              </a:buClr>
              <a:buSzPts val="1400"/>
              <a:buFont typeface="Arial"/>
              <a:buNone/>
            </a:pPr>
            <a:r>
              <a:rPr lang="en" sz="1400">
                <a:solidFill>
                  <a:schemeClr val="dk1"/>
                </a:solidFill>
              </a:rPr>
              <a:t>Adventure Sports:</a:t>
            </a:r>
            <a:endParaRPr sz="1400">
              <a:solidFill>
                <a:schemeClr val="dk1"/>
              </a:solidFill>
            </a:endParaRPr>
          </a:p>
          <a:p>
            <a:pPr indent="-228600" lvl="0" marL="457200" rtl="0" algn="l">
              <a:spcBef>
                <a:spcPts val="0"/>
              </a:spcBef>
              <a:spcAft>
                <a:spcPts val="0"/>
              </a:spcAft>
              <a:buClr>
                <a:schemeClr val="dk1"/>
              </a:buClr>
              <a:buSzPts val="1200"/>
              <a:buFont typeface="Arial"/>
              <a:buNone/>
            </a:pPr>
            <a:r>
              <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Hiking</a:t>
            </a:r>
            <a:r>
              <a:rPr lang="en" sz="1200">
                <a:solidFill>
                  <a:schemeClr val="dk1"/>
                </a:solidFill>
              </a:rPr>
              <a:t>: lets you explore nature, relax, and recharge while walking through beautiful outdoor scenery and trails.</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Rock Climbing</a:t>
            </a:r>
            <a:r>
              <a:rPr lang="en" sz="1200">
                <a:solidFill>
                  <a:schemeClr val="dk1"/>
                </a:solidFill>
              </a:rPr>
              <a:t>: Participants climb natural rock formations or artificial climbing walls using ropes and specialized equipment.</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Surfing</a:t>
            </a:r>
            <a:r>
              <a:rPr lang="en" sz="1200">
                <a:solidFill>
                  <a:schemeClr val="dk1"/>
                </a:solidFill>
              </a:rPr>
              <a:t>: Riding waves on a surfboard in the ocean.</a:t>
            </a:r>
            <a:endParaRPr sz="1200">
              <a:solidFill>
                <a:schemeClr val="dk1"/>
              </a:solidFill>
            </a:endParaRPr>
          </a:p>
          <a:p>
            <a:pPr indent="-304800" lvl="1" marL="914400" rtl="0" algn="l">
              <a:spcBef>
                <a:spcPts val="0"/>
              </a:spcBef>
              <a:spcAft>
                <a:spcPts val="0"/>
              </a:spcAft>
              <a:buClr>
                <a:schemeClr val="dk1"/>
              </a:buClr>
              <a:buSzPts val="1200"/>
              <a:buFont typeface="Roboto"/>
              <a:buChar char="●"/>
            </a:pPr>
            <a:r>
              <a:rPr b="1" lang="en" sz="1200">
                <a:solidFill>
                  <a:schemeClr val="dk1"/>
                </a:solidFill>
              </a:rPr>
              <a:t>Skydiving</a:t>
            </a:r>
            <a:r>
              <a:rPr lang="en" sz="1200">
                <a:solidFill>
                  <a:schemeClr val="dk1"/>
                </a:solidFill>
              </a:rPr>
              <a:t>: Involves jumping from an aircraft with a parachute and freefalling before deploying the parachute to slow descent</a:t>
            </a:r>
            <a:endParaRPr sz="12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9"/>
          <p:cNvPicPr preferRelativeResize="0"/>
          <p:nvPr/>
        </p:nvPicPr>
        <p:blipFill>
          <a:blip r:embed="rId3">
            <a:alphaModFix/>
          </a:blip>
          <a:stretch>
            <a:fillRect/>
          </a:stretch>
        </p:blipFill>
        <p:spPr>
          <a:xfrm>
            <a:off x="1340225" y="229000"/>
            <a:ext cx="2323175" cy="4685500"/>
          </a:xfrm>
          <a:prstGeom prst="rect">
            <a:avLst/>
          </a:prstGeom>
          <a:noFill/>
          <a:ln>
            <a:noFill/>
          </a:ln>
        </p:spPr>
      </p:pic>
      <p:pic>
        <p:nvPicPr>
          <p:cNvPr id="99" name="Google Shape;99;p19"/>
          <p:cNvPicPr preferRelativeResize="0"/>
          <p:nvPr/>
        </p:nvPicPr>
        <p:blipFill>
          <a:blip r:embed="rId4">
            <a:alphaModFix/>
          </a:blip>
          <a:stretch>
            <a:fillRect/>
          </a:stretch>
        </p:blipFill>
        <p:spPr>
          <a:xfrm>
            <a:off x="5484100" y="229000"/>
            <a:ext cx="2298625" cy="4685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457275" y="445025"/>
            <a:ext cx="8229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Clr>
                <a:schemeClr val="dk1"/>
              </a:buClr>
              <a:buSzPct val="45000"/>
              <a:buFont typeface="Arial"/>
              <a:buNone/>
            </a:pPr>
            <a:r>
              <a:rPr b="1" lang="en" sz="2444"/>
              <a:t>ASK US ANYTHING</a:t>
            </a:r>
            <a:endParaRPr b="1" sz="2444"/>
          </a:p>
          <a:p>
            <a:pPr indent="0" lvl="0" marL="0" rtl="0" algn="ctr">
              <a:lnSpc>
                <a:spcPct val="115000"/>
              </a:lnSpc>
              <a:spcBef>
                <a:spcPts val="0"/>
              </a:spcBef>
              <a:spcAft>
                <a:spcPts val="0"/>
              </a:spcAft>
              <a:buClr>
                <a:schemeClr val="dk1"/>
              </a:buClr>
              <a:buSzPct val="45000"/>
              <a:buFont typeface="Arial"/>
              <a:buNone/>
            </a:pPr>
            <a:r>
              <a:t/>
            </a:r>
            <a:endParaRPr b="1" sz="2444"/>
          </a:p>
          <a:p>
            <a:pPr indent="0" lvl="0" marL="0" rtl="0" algn="l">
              <a:spcBef>
                <a:spcPts val="0"/>
              </a:spcBef>
              <a:spcAft>
                <a:spcPts val="0"/>
              </a:spcAft>
              <a:buNone/>
            </a:pPr>
            <a:r>
              <a:t/>
            </a:r>
            <a:endParaRPr/>
          </a:p>
        </p:txBody>
      </p:sp>
      <p:sp>
        <p:nvSpPr>
          <p:cNvPr id="105" name="Google Shape;105;p20"/>
          <p:cNvSpPr txBox="1"/>
          <p:nvPr>
            <p:ph idx="1" type="body"/>
          </p:nvPr>
        </p:nvSpPr>
        <p:spPr>
          <a:xfrm>
            <a:off x="311700" y="1152475"/>
            <a:ext cx="3796200" cy="378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u="sng">
                <a:solidFill>
                  <a:schemeClr val="dk1"/>
                </a:solidFill>
              </a:rPr>
              <a:t>Session 1</a:t>
            </a:r>
            <a:endParaRPr b="1" u="sng">
              <a:solidFill>
                <a:schemeClr val="dk1"/>
              </a:solidFill>
            </a:endParaRPr>
          </a:p>
          <a:p>
            <a:pPr indent="0" lvl="0" marL="0" rtl="0" algn="l">
              <a:spcBef>
                <a:spcPts val="1200"/>
              </a:spcBef>
              <a:spcAft>
                <a:spcPts val="0"/>
              </a:spcAft>
              <a:buNone/>
            </a:pPr>
            <a:r>
              <a:rPr b="1" lang="en" sz="1300"/>
              <a:t>Luca:</a:t>
            </a:r>
            <a:r>
              <a:rPr lang="en" sz="1300"/>
              <a:t> Is the user able to rate the sport </a:t>
            </a:r>
            <a:r>
              <a:rPr lang="en" sz="1300"/>
              <a:t>after having a session, so he can get better recommendations?</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rPr b="1" lang="en" sz="1300"/>
              <a:t>Michele:</a:t>
            </a:r>
            <a:r>
              <a:rPr lang="en" sz="1300"/>
              <a:t> What if the user wants to play a team sport with his friends? Can they book a session together?</a:t>
            </a:r>
            <a:endParaRPr sz="1300"/>
          </a:p>
          <a:p>
            <a:pPr indent="0" lvl="0" marL="0" rtl="0" algn="l">
              <a:spcBef>
                <a:spcPts val="1200"/>
              </a:spcBef>
              <a:spcAft>
                <a:spcPts val="0"/>
              </a:spcAft>
              <a:buNone/>
            </a:pPr>
            <a:r>
              <a:t/>
            </a:r>
            <a:endParaRPr sz="1300"/>
          </a:p>
          <a:p>
            <a:pPr indent="0" lvl="0" marL="0" rtl="0" algn="l">
              <a:spcBef>
                <a:spcPts val="1200"/>
              </a:spcBef>
              <a:spcAft>
                <a:spcPts val="1200"/>
              </a:spcAft>
              <a:buNone/>
            </a:pPr>
            <a:r>
              <a:rPr b="1" lang="en" sz="1300"/>
              <a:t>Tobias: </a:t>
            </a:r>
            <a:r>
              <a:rPr lang="en" sz="1300"/>
              <a:t>Does the user have the option to recommend a sport to similar users? Can he choose more favorite sports while registering on the platform?</a:t>
            </a:r>
            <a:endParaRPr sz="1300"/>
          </a:p>
        </p:txBody>
      </p:sp>
      <p:sp>
        <p:nvSpPr>
          <p:cNvPr id="106" name="Google Shape;106;p20"/>
          <p:cNvSpPr txBox="1"/>
          <p:nvPr>
            <p:ph idx="1" type="body"/>
          </p:nvPr>
        </p:nvSpPr>
        <p:spPr>
          <a:xfrm>
            <a:off x="4795875" y="1152475"/>
            <a:ext cx="3796200" cy="3789300"/>
          </a:xfrm>
          <a:prstGeom prst="rect">
            <a:avLst/>
          </a:prstGeom>
        </p:spPr>
        <p:txBody>
          <a:bodyPr anchorCtr="0" anchor="t" bIns="91425" lIns="91425" spcFirstLastPara="1" rIns="91425" wrap="square" tIns="91425">
            <a:normAutofit fontScale="55000" lnSpcReduction="10000"/>
          </a:bodyPr>
          <a:lstStyle/>
          <a:p>
            <a:pPr indent="0" lvl="0" marL="0" rtl="0" algn="ctr">
              <a:spcBef>
                <a:spcPts val="0"/>
              </a:spcBef>
              <a:spcAft>
                <a:spcPts val="0"/>
              </a:spcAft>
              <a:buNone/>
            </a:pPr>
            <a:r>
              <a:rPr b="1" lang="en" sz="3277" u="sng">
                <a:solidFill>
                  <a:schemeClr val="dk1"/>
                </a:solidFill>
              </a:rPr>
              <a:t>Session 2</a:t>
            </a:r>
            <a:endParaRPr b="1" sz="3277" u="sng">
              <a:solidFill>
                <a:schemeClr val="dk1"/>
              </a:solidFill>
            </a:endParaRPr>
          </a:p>
          <a:p>
            <a:pPr indent="0" lvl="0" marL="0" rtl="0" algn="l">
              <a:spcBef>
                <a:spcPts val="1200"/>
              </a:spcBef>
              <a:spcAft>
                <a:spcPts val="0"/>
              </a:spcAft>
              <a:buNone/>
            </a:pPr>
            <a:r>
              <a:t/>
            </a:r>
            <a:endParaRPr b="1"/>
          </a:p>
          <a:p>
            <a:pPr indent="0" lvl="0" marL="0" rtl="0" algn="l">
              <a:spcBef>
                <a:spcPts val="1200"/>
              </a:spcBef>
              <a:spcAft>
                <a:spcPts val="0"/>
              </a:spcAft>
              <a:buNone/>
            </a:pPr>
            <a:r>
              <a:rPr b="1" lang="en" sz="2427"/>
              <a:t>Pierre</a:t>
            </a:r>
            <a:r>
              <a:rPr b="1" lang="en" sz="2427"/>
              <a:t>:</a:t>
            </a:r>
            <a:r>
              <a:rPr lang="en" sz="2427"/>
              <a:t> To get better recommendations, the logic in the whole projects needs to look a bit more fuzzy. Does the user get any reward after completing his sessions?</a:t>
            </a:r>
            <a:endParaRPr sz="2427"/>
          </a:p>
          <a:p>
            <a:pPr indent="0" lvl="0" marL="0" rtl="0" algn="l">
              <a:spcBef>
                <a:spcPts val="1200"/>
              </a:spcBef>
              <a:spcAft>
                <a:spcPts val="0"/>
              </a:spcAft>
              <a:buNone/>
            </a:pPr>
            <a:r>
              <a:t/>
            </a:r>
            <a:endParaRPr sz="2427"/>
          </a:p>
          <a:p>
            <a:pPr indent="0" lvl="0" marL="0" rtl="0" algn="l">
              <a:spcBef>
                <a:spcPts val="1200"/>
              </a:spcBef>
              <a:spcAft>
                <a:spcPts val="0"/>
              </a:spcAft>
              <a:buNone/>
            </a:pPr>
            <a:r>
              <a:rPr b="1" lang="en" sz="2427"/>
              <a:t>Jiaxin</a:t>
            </a:r>
            <a:r>
              <a:rPr b="1" lang="en" sz="2427"/>
              <a:t>:</a:t>
            </a:r>
            <a:r>
              <a:rPr lang="en" sz="2427"/>
              <a:t> Do you have a streak for days in a row exercised in your platform? Can the user see how much calories is he going to burn after completing a session, before booking one? </a:t>
            </a:r>
            <a:endParaRPr sz="2427"/>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457275" y="245925"/>
            <a:ext cx="8229600" cy="561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45000"/>
              <a:buFont typeface="Arial"/>
              <a:buNone/>
            </a:pPr>
            <a:r>
              <a:rPr b="1" lang="en" sz="2200"/>
              <a:t>SPORTIFY HUB’S RESPONSES</a:t>
            </a:r>
            <a:endParaRPr b="1" sz="2200"/>
          </a:p>
          <a:p>
            <a:pPr indent="0" lvl="0" marL="0" rtl="0" algn="ctr">
              <a:lnSpc>
                <a:spcPct val="115000"/>
              </a:lnSpc>
              <a:spcBef>
                <a:spcPts val="0"/>
              </a:spcBef>
              <a:spcAft>
                <a:spcPts val="0"/>
              </a:spcAft>
              <a:buClr>
                <a:schemeClr val="dk1"/>
              </a:buClr>
              <a:buSzPct val="45000"/>
              <a:buFont typeface="Arial"/>
              <a:buNone/>
            </a:pPr>
            <a:r>
              <a:t/>
            </a:r>
            <a:endParaRPr b="1" sz="2444"/>
          </a:p>
          <a:p>
            <a:pPr indent="0" lvl="0" marL="0" rtl="0" algn="l">
              <a:spcBef>
                <a:spcPts val="0"/>
              </a:spcBef>
              <a:spcAft>
                <a:spcPts val="0"/>
              </a:spcAft>
              <a:buNone/>
            </a:pPr>
            <a:r>
              <a:t/>
            </a:r>
            <a:endParaRPr/>
          </a:p>
        </p:txBody>
      </p:sp>
      <p:sp>
        <p:nvSpPr>
          <p:cNvPr id="112" name="Google Shape;112;p21"/>
          <p:cNvSpPr txBox="1"/>
          <p:nvPr>
            <p:ph idx="1" type="body"/>
          </p:nvPr>
        </p:nvSpPr>
        <p:spPr>
          <a:xfrm>
            <a:off x="457275" y="946400"/>
            <a:ext cx="8229600" cy="38760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b="1" lang="en"/>
              <a:t>Answer 1:</a:t>
            </a:r>
            <a:r>
              <a:rPr lang="en"/>
              <a:t> Right now the user can’t rate the sport after having a session. It will definitely lead to better recommendations if he is able to rate the sessions that he enjoyed.</a:t>
            </a:r>
            <a:endParaRPr/>
          </a:p>
          <a:p>
            <a:pPr indent="0" lvl="0" marL="0" rtl="0" algn="l">
              <a:spcBef>
                <a:spcPts val="1200"/>
              </a:spcBef>
              <a:spcAft>
                <a:spcPts val="0"/>
              </a:spcAft>
              <a:buNone/>
            </a:pPr>
            <a:r>
              <a:rPr b="1" lang="en"/>
              <a:t>Answer 2:</a:t>
            </a:r>
            <a:r>
              <a:rPr lang="en"/>
              <a:t> Regarding the team sports booking, they can actually play all together if they only have the exact number of players required for the given sport. We can maybe improve that in a way too.</a:t>
            </a:r>
            <a:endParaRPr/>
          </a:p>
          <a:p>
            <a:pPr indent="0" lvl="0" marL="0" rtl="0" algn="l">
              <a:spcBef>
                <a:spcPts val="1200"/>
              </a:spcBef>
              <a:spcAft>
                <a:spcPts val="0"/>
              </a:spcAft>
              <a:buNone/>
            </a:pPr>
            <a:r>
              <a:rPr b="1" lang="en"/>
              <a:t>Answer 3:</a:t>
            </a:r>
            <a:r>
              <a:rPr lang="en"/>
              <a:t> The user doesn’t have the option to recommend a sport to a similar user, and that can be a nice </a:t>
            </a:r>
            <a:r>
              <a:rPr lang="en"/>
              <a:t>improvement</a:t>
            </a:r>
            <a:r>
              <a:rPr lang="en"/>
              <a:t> on our platform. Choosing more favorite sports can also lead to better recommendations for the user.</a:t>
            </a:r>
            <a:endParaRPr/>
          </a:p>
          <a:p>
            <a:pPr indent="0" lvl="0" marL="0" rtl="0" algn="l">
              <a:spcBef>
                <a:spcPts val="1200"/>
              </a:spcBef>
              <a:spcAft>
                <a:spcPts val="0"/>
              </a:spcAft>
              <a:buNone/>
            </a:pPr>
            <a:r>
              <a:rPr b="1" lang="en"/>
              <a:t>Answer 4:</a:t>
            </a:r>
            <a:r>
              <a:rPr lang="en"/>
              <a:t> The user doesn’t get any reward after completing a session right now, and that is a nice idea that we can add on our improvements list.</a:t>
            </a:r>
            <a:endParaRPr/>
          </a:p>
          <a:p>
            <a:pPr indent="0" lvl="0" marL="0" rtl="0" algn="l">
              <a:spcBef>
                <a:spcPts val="1200"/>
              </a:spcBef>
              <a:spcAft>
                <a:spcPts val="0"/>
              </a:spcAft>
              <a:buNone/>
            </a:pPr>
            <a:r>
              <a:rPr b="1" lang="en"/>
              <a:t>Answer 5:</a:t>
            </a:r>
            <a:r>
              <a:rPr lang="en"/>
              <a:t> We don’t have a day-streak counter, but it will be a nice feature </a:t>
            </a:r>
            <a:r>
              <a:rPr lang="en"/>
              <a:t>for improved motivation.</a:t>
            </a:r>
            <a:endParaRPr/>
          </a:p>
          <a:p>
            <a:pPr indent="457200" lvl="0" marL="914400" rtl="0" algn="l">
              <a:spcBef>
                <a:spcPts val="1200"/>
              </a:spcBef>
              <a:spcAft>
                <a:spcPts val="1200"/>
              </a:spcAft>
              <a:buNone/>
            </a:pPr>
            <a:r>
              <a:rPr lang="en"/>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445025"/>
            <a:ext cx="3796200" cy="8973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2444"/>
              <a:t>WHERE SHOULD WE IMPROVE?</a:t>
            </a:r>
            <a:endParaRPr b="1" sz="2444"/>
          </a:p>
          <a:p>
            <a:pPr indent="0" lvl="0" marL="0" rtl="0" algn="ctr">
              <a:spcBef>
                <a:spcPts val="0"/>
              </a:spcBef>
              <a:spcAft>
                <a:spcPts val="0"/>
              </a:spcAft>
              <a:buSzPts val="990"/>
              <a:buNone/>
            </a:pPr>
            <a:r>
              <a:t/>
            </a:r>
            <a:endParaRPr b="1" sz="2200"/>
          </a:p>
        </p:txBody>
      </p:sp>
      <p:sp>
        <p:nvSpPr>
          <p:cNvPr id="118" name="Google Shape;118;p22"/>
          <p:cNvSpPr txBox="1"/>
          <p:nvPr>
            <p:ph idx="1" type="body"/>
          </p:nvPr>
        </p:nvSpPr>
        <p:spPr>
          <a:xfrm>
            <a:off x="311700" y="1434650"/>
            <a:ext cx="3796200" cy="3563400"/>
          </a:xfrm>
          <a:prstGeom prst="rect">
            <a:avLst/>
          </a:prstGeom>
        </p:spPr>
        <p:txBody>
          <a:bodyPr anchorCtr="0" anchor="t" bIns="91425" lIns="91425" spcFirstLastPara="1" rIns="91425" wrap="square" tIns="91425">
            <a:normAutofit fontScale="47500" lnSpcReduction="20000"/>
          </a:bodyPr>
          <a:lstStyle/>
          <a:p>
            <a:pPr indent="0" lvl="0" marL="0" rtl="0" algn="l">
              <a:spcBef>
                <a:spcPts val="0"/>
              </a:spcBef>
              <a:spcAft>
                <a:spcPts val="0"/>
              </a:spcAft>
              <a:buNone/>
            </a:pPr>
            <a:r>
              <a:rPr b="1" lang="en" sz="3200"/>
              <a:t>From session 1: </a:t>
            </a:r>
            <a:endParaRPr b="1" sz="3200"/>
          </a:p>
          <a:p>
            <a:pPr indent="0" lvl="0" marL="0" rtl="0" algn="l">
              <a:spcBef>
                <a:spcPts val="1200"/>
              </a:spcBef>
              <a:spcAft>
                <a:spcPts val="0"/>
              </a:spcAft>
              <a:buNone/>
            </a:pPr>
            <a:r>
              <a:rPr lang="en" sz="2444"/>
              <a:t>Users should be able to rate sports after sessions. They also need to get better recommendations, according to their ratings of previous experiences, as well as recommend sports to similar users. Regarding the team sports, we are planning to add one more option on the platform.</a:t>
            </a:r>
            <a:endParaRPr sz="2444"/>
          </a:p>
          <a:p>
            <a:pPr indent="0" lvl="0" marL="0" rtl="0" algn="l">
              <a:spcBef>
                <a:spcPts val="1200"/>
              </a:spcBef>
              <a:spcAft>
                <a:spcPts val="0"/>
              </a:spcAft>
              <a:buNone/>
            </a:pPr>
            <a:r>
              <a:rPr b="1" lang="en" sz="3150"/>
              <a:t>From session 2:</a:t>
            </a:r>
            <a:endParaRPr b="1" sz="3150"/>
          </a:p>
          <a:p>
            <a:pPr indent="0" lvl="0" marL="0" rtl="0" algn="l">
              <a:spcBef>
                <a:spcPts val="1200"/>
              </a:spcBef>
              <a:spcAft>
                <a:spcPts val="0"/>
              </a:spcAft>
              <a:buNone/>
            </a:pPr>
            <a:r>
              <a:rPr lang="en" sz="2444"/>
              <a:t>Those who are serious about their goal, need to get more motivation by claiming rewards after completing a session or having a day-streak. </a:t>
            </a:r>
            <a:endParaRPr sz="2444"/>
          </a:p>
          <a:p>
            <a:pPr indent="0" lvl="0" marL="0" rtl="0" algn="l">
              <a:spcBef>
                <a:spcPts val="1200"/>
              </a:spcBef>
              <a:spcAft>
                <a:spcPts val="0"/>
              </a:spcAft>
              <a:buClr>
                <a:schemeClr val="dk1"/>
              </a:buClr>
              <a:buSzPct val="44995"/>
              <a:buFont typeface="Arial"/>
              <a:buNone/>
            </a:pPr>
            <a:r>
              <a:rPr lang="en" sz="2444"/>
              <a:t>Also, a </a:t>
            </a:r>
            <a:r>
              <a:rPr lang="en" sz="2444"/>
              <a:t>bit more fuzzy logic should be implemented in the whole idea.</a:t>
            </a:r>
            <a:endParaRPr/>
          </a:p>
          <a:p>
            <a:pPr indent="0" lvl="0" marL="0" rtl="0" algn="l">
              <a:spcBef>
                <a:spcPts val="1200"/>
              </a:spcBef>
              <a:spcAft>
                <a:spcPts val="1200"/>
              </a:spcAft>
              <a:buNone/>
            </a:pPr>
            <a:r>
              <a:t/>
            </a:r>
            <a:endParaRPr/>
          </a:p>
        </p:txBody>
      </p:sp>
      <p:pic>
        <p:nvPicPr>
          <p:cNvPr id="119" name="Google Shape;119;p22"/>
          <p:cNvPicPr preferRelativeResize="0"/>
          <p:nvPr/>
        </p:nvPicPr>
        <p:blipFill>
          <a:blip r:embed="rId3">
            <a:alphaModFix/>
          </a:blip>
          <a:stretch>
            <a:fillRect/>
          </a:stretch>
        </p:blipFill>
        <p:spPr>
          <a:xfrm>
            <a:off x="5147600" y="1590675"/>
            <a:ext cx="3429000" cy="1962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4837550" y="445025"/>
            <a:ext cx="4056300" cy="9204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Clr>
                <a:schemeClr val="dk1"/>
              </a:buClr>
              <a:buSzPct val="41509"/>
              <a:buFont typeface="Arial"/>
              <a:buNone/>
            </a:pPr>
            <a:r>
              <a:rPr b="1" lang="en" sz="2650"/>
              <a:t>WHAT SHOULD BE EXCLUDED? WHAT IS INSUFFICIENT?</a:t>
            </a:r>
            <a:endParaRPr b="1" sz="2650"/>
          </a:p>
          <a:p>
            <a:pPr indent="0" lvl="0" marL="0" rtl="0" algn="l">
              <a:spcBef>
                <a:spcPts val="0"/>
              </a:spcBef>
              <a:spcAft>
                <a:spcPts val="0"/>
              </a:spcAft>
              <a:buClr>
                <a:schemeClr val="dk1"/>
              </a:buClr>
              <a:buSzPct val="36666"/>
              <a:buFont typeface="Arial"/>
              <a:buNone/>
            </a:pPr>
            <a:r>
              <a:t/>
            </a:r>
            <a:endParaRPr/>
          </a:p>
          <a:p>
            <a:pPr indent="0" lvl="0" marL="0" rtl="0" algn="ctr">
              <a:spcBef>
                <a:spcPts val="0"/>
              </a:spcBef>
              <a:spcAft>
                <a:spcPts val="0"/>
              </a:spcAft>
              <a:buNone/>
            </a:pPr>
            <a:r>
              <a:t/>
            </a:r>
            <a:endParaRPr b="1" sz="2444"/>
          </a:p>
        </p:txBody>
      </p:sp>
      <p:sp>
        <p:nvSpPr>
          <p:cNvPr id="125" name="Google Shape;125;p23"/>
          <p:cNvSpPr txBox="1"/>
          <p:nvPr>
            <p:ph idx="1" type="body"/>
          </p:nvPr>
        </p:nvSpPr>
        <p:spPr>
          <a:xfrm>
            <a:off x="5030450" y="1469250"/>
            <a:ext cx="3655800" cy="355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Do not give a lot of recommendations</a:t>
            </a:r>
            <a:endParaRPr b="1" sz="1400"/>
          </a:p>
          <a:p>
            <a:pPr indent="0" lvl="0" marL="0" rtl="0" algn="l">
              <a:spcBef>
                <a:spcPts val="1200"/>
              </a:spcBef>
              <a:spcAft>
                <a:spcPts val="0"/>
              </a:spcAft>
              <a:buNone/>
            </a:pPr>
            <a:r>
              <a:rPr lang="en" sz="1200"/>
              <a:t>While aiming to give a better view to the variety of sports is good, having too broad of a scope might reduce the platform's effectiveness. It's important to focus on specific target goals or preferences to ensure a strong community foundation before expanding.</a:t>
            </a:r>
            <a:endParaRPr sz="1000"/>
          </a:p>
          <a:p>
            <a:pPr indent="0" lvl="0" marL="0" rtl="0" algn="l">
              <a:spcBef>
                <a:spcPts val="1200"/>
              </a:spcBef>
              <a:spcAft>
                <a:spcPts val="0"/>
              </a:spcAft>
              <a:buNone/>
            </a:pPr>
            <a:r>
              <a:rPr b="1" lang="en" sz="1400"/>
              <a:t>Simple progress tracking and goal setting </a:t>
            </a:r>
            <a:endParaRPr b="1" sz="1400"/>
          </a:p>
          <a:p>
            <a:pPr indent="0" lvl="0" marL="0" rtl="0" algn="l">
              <a:spcBef>
                <a:spcPts val="1200"/>
              </a:spcBef>
              <a:spcAft>
                <a:spcPts val="0"/>
              </a:spcAft>
              <a:buNone/>
            </a:pPr>
            <a:r>
              <a:rPr lang="en" sz="1200"/>
              <a:t>Building a supportive community requires active engagement and interaction among users. Simply providing a platform for tracking progress and setting goals may not be enough to foster meaningful connections. Implementing features such as forums, group challenges, or live events can encourage community participation.</a:t>
            </a:r>
            <a:endParaRPr sz="1000"/>
          </a:p>
          <a:p>
            <a:pPr indent="0" lvl="0" marL="0" rtl="0" algn="ctr">
              <a:spcBef>
                <a:spcPts val="1200"/>
              </a:spcBef>
              <a:spcAft>
                <a:spcPts val="1200"/>
              </a:spcAft>
              <a:buNone/>
            </a:pPr>
            <a:r>
              <a:t/>
            </a:r>
            <a:endParaRPr/>
          </a:p>
        </p:txBody>
      </p:sp>
      <p:pic>
        <p:nvPicPr>
          <p:cNvPr id="126" name="Google Shape;126;p23"/>
          <p:cNvPicPr preferRelativeResize="0"/>
          <p:nvPr/>
        </p:nvPicPr>
        <p:blipFill>
          <a:blip r:embed="rId3">
            <a:alphaModFix/>
          </a:blip>
          <a:stretch>
            <a:fillRect/>
          </a:stretch>
        </p:blipFill>
        <p:spPr>
          <a:xfrm>
            <a:off x="515825" y="1422500"/>
            <a:ext cx="4056176" cy="2298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452075" y="445025"/>
            <a:ext cx="8234700" cy="528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b="1" lang="en" sz="2200"/>
              <a:t>CONCLUSION</a:t>
            </a:r>
            <a:endParaRPr/>
          </a:p>
        </p:txBody>
      </p:sp>
      <p:sp>
        <p:nvSpPr>
          <p:cNvPr id="132" name="Google Shape;132;p24"/>
          <p:cNvSpPr txBox="1"/>
          <p:nvPr>
            <p:ph idx="1" type="body"/>
          </p:nvPr>
        </p:nvSpPr>
        <p:spPr>
          <a:xfrm>
            <a:off x="452075" y="1258325"/>
            <a:ext cx="8234700" cy="3728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conclusion, while Sportify Hub holds promise as a comprehensive platform for sports enthusiasts, addressing potential challenges is crucial. By refining its focus, prioritizing user experience and community engagement, and ensuring data security, Sportify Hub can maximize its appeal and become a better community for users to thrive in their sporting journey. Join us as we advance through Sportify Hub.</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idx="1" type="body"/>
          </p:nvPr>
        </p:nvSpPr>
        <p:spPr>
          <a:xfrm>
            <a:off x="311700" y="2193900"/>
            <a:ext cx="8520600" cy="7557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sz="4800">
                <a:solidFill>
                  <a:schemeClr val="dk1"/>
                </a:solidFill>
              </a:rPr>
              <a:t>Any questions?</a:t>
            </a:r>
            <a:endParaRPr sz="4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