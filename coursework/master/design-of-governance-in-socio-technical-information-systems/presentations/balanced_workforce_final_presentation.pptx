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62" r:id="rId4"/>
    <p:sldId id="263" r:id="rId5"/>
    <p:sldId id="264" r:id="rId6"/>
    <p:sldId id="265" r:id="rId7"/>
    <p:sldId id="266" r:id="rId8"/>
    <p:sldId id="267" r:id="rId9"/>
    <p:sldId id="286" r:id="rId10"/>
    <p:sldId id="268" r:id="rId11"/>
    <p:sldId id="269" r:id="rId12"/>
    <p:sldId id="270" r:id="rId13"/>
    <p:sldId id="271" r:id="rId14"/>
    <p:sldId id="272" r:id="rId15"/>
    <p:sldId id="275" r:id="rId16"/>
    <p:sldId id="276" r:id="rId17"/>
    <p:sldId id="277" r:id="rId18"/>
    <p:sldId id="287" r:id="rId19"/>
    <p:sldId id="281" r:id="rId20"/>
    <p:sldId id="282" r:id="rId21"/>
    <p:sldId id="278" r:id="rId22"/>
    <p:sldId id="279" r:id="rId23"/>
    <p:sldId id="280" r:id="rId24"/>
    <p:sldId id="283" r:id="rId25"/>
    <p:sldId id="284" r:id="rId26"/>
    <p:sldId id="285" r:id="rId27"/>
    <p:sldId id="288" r:id="rId28"/>
    <p:sldId id="289" r:id="rId29"/>
    <p:sldId id="292" r:id="rId30"/>
    <p:sldId id="291" r:id="rId31"/>
    <p:sldId id="295" r:id="rId32"/>
    <p:sldId id="296" r:id="rId33"/>
    <p:sldId id="297" r:id="rId34"/>
    <p:sldId id="259" r:id="rId35"/>
    <p:sldId id="260" r:id="rId36"/>
    <p:sldId id="257" r:id="rId37"/>
    <p:sldId id="25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AF0"/>
    <a:srgbClr val="AFED85"/>
    <a:srgbClr val="DAE3F3"/>
    <a:srgbClr val="F0A675"/>
    <a:srgbClr val="ED7D31"/>
    <a:srgbClr val="B5F2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997B16-429D-CA12-0076-372DA9D29D5D}" v="1" dt="2024-06-08T19:13:33.8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C5DED3-79FF-4F6E-B482-246D048CCB9E}" type="doc">
      <dgm:prSet loTypeId="urn:microsoft.com/office/officeart/2016/7/layout/ChevronBlockProcess" loCatId="process" qsTypeId="urn:microsoft.com/office/officeart/2005/8/quickstyle/simple1" qsCatId="simple" csTypeId="urn:microsoft.com/office/officeart/2005/8/colors/accent4_2" csCatId="accent4" phldr="1"/>
      <dgm:spPr/>
      <dgm:t>
        <a:bodyPr/>
        <a:lstStyle/>
        <a:p>
          <a:endParaRPr lang="en-US"/>
        </a:p>
      </dgm:t>
    </dgm:pt>
    <dgm:pt modelId="{E40C5CB9-47E6-4AA5-A3EF-971AC8D46CC0}">
      <dgm:prSet/>
      <dgm:spPr/>
      <dgm:t>
        <a:bodyPr/>
        <a:lstStyle/>
        <a:p>
          <a:pPr>
            <a:defRPr b="1"/>
          </a:pPr>
          <a:r>
            <a:rPr lang="en-US" b="1"/>
            <a:t>Overview</a:t>
          </a:r>
          <a:endParaRPr lang="en-US"/>
        </a:p>
      </dgm:t>
    </dgm:pt>
    <dgm:pt modelId="{C2C08984-3D7C-4B76-928B-5C1C54088F60}" type="parTrans" cxnId="{4ED3AA79-A5FF-49CA-BE02-E2690D446479}">
      <dgm:prSet/>
      <dgm:spPr/>
      <dgm:t>
        <a:bodyPr/>
        <a:lstStyle/>
        <a:p>
          <a:endParaRPr lang="en-US"/>
        </a:p>
      </dgm:t>
    </dgm:pt>
    <dgm:pt modelId="{ABAEF4F0-FE1B-49B1-A729-DD9B65ABAEF5}" type="sibTrans" cxnId="{4ED3AA79-A5FF-49CA-BE02-E2690D446479}">
      <dgm:prSet/>
      <dgm:spPr/>
      <dgm:t>
        <a:bodyPr/>
        <a:lstStyle/>
        <a:p>
          <a:endParaRPr lang="en-US"/>
        </a:p>
      </dgm:t>
    </dgm:pt>
    <dgm:pt modelId="{A8AF9070-8F68-48E1-9A6D-1B01CB712BDF}">
      <dgm:prSet/>
      <dgm:spPr/>
      <dgm:t>
        <a:bodyPr/>
        <a:lstStyle/>
        <a:p>
          <a:r>
            <a:rPr lang="en-US"/>
            <a:t>Companies struggle to adapt manpower quickly to changing demands.</a:t>
          </a:r>
        </a:p>
      </dgm:t>
    </dgm:pt>
    <dgm:pt modelId="{71BB8D79-09AB-478E-B2BD-A43E8D26373D}" type="parTrans" cxnId="{652D7563-393D-4F3D-A2E9-4B6E83CED3FE}">
      <dgm:prSet/>
      <dgm:spPr/>
      <dgm:t>
        <a:bodyPr/>
        <a:lstStyle/>
        <a:p>
          <a:endParaRPr lang="en-US"/>
        </a:p>
      </dgm:t>
    </dgm:pt>
    <dgm:pt modelId="{400B1C77-0F6F-4303-850A-CA37982EC874}" type="sibTrans" cxnId="{652D7563-393D-4F3D-A2E9-4B6E83CED3FE}">
      <dgm:prSet/>
      <dgm:spPr/>
      <dgm:t>
        <a:bodyPr/>
        <a:lstStyle/>
        <a:p>
          <a:endParaRPr lang="en-US"/>
        </a:p>
      </dgm:t>
    </dgm:pt>
    <dgm:pt modelId="{833E6A3E-F375-4058-ADDC-C01E82886FA7}">
      <dgm:prSet/>
      <dgm:spPr/>
      <dgm:t>
        <a:bodyPr/>
        <a:lstStyle/>
        <a:p>
          <a:r>
            <a:rPr lang="en-US"/>
            <a:t>Recruitment and training of new employees is time-consuming and costly.</a:t>
          </a:r>
        </a:p>
      </dgm:t>
    </dgm:pt>
    <dgm:pt modelId="{7725E93E-6AF8-4A80-8906-D54847AB9A7D}" type="parTrans" cxnId="{7D36F2CF-89A6-43BA-9771-DE224ED8AD80}">
      <dgm:prSet/>
      <dgm:spPr/>
      <dgm:t>
        <a:bodyPr/>
        <a:lstStyle/>
        <a:p>
          <a:endParaRPr lang="en-US"/>
        </a:p>
      </dgm:t>
    </dgm:pt>
    <dgm:pt modelId="{9368AD13-17F2-4BD9-9010-2A908FF7D061}" type="sibTrans" cxnId="{7D36F2CF-89A6-43BA-9771-DE224ED8AD80}">
      <dgm:prSet/>
      <dgm:spPr/>
      <dgm:t>
        <a:bodyPr/>
        <a:lstStyle/>
        <a:p>
          <a:endParaRPr lang="en-US"/>
        </a:p>
      </dgm:t>
    </dgm:pt>
    <dgm:pt modelId="{FF7C9EC1-9CFF-4AB7-9CC4-A3F5F19977F1}">
      <dgm:prSet/>
      <dgm:spPr/>
      <dgm:t>
        <a:bodyPr/>
        <a:lstStyle/>
        <a:p>
          <a:pPr>
            <a:defRPr b="1"/>
          </a:pPr>
          <a:r>
            <a:rPr lang="en-US" b="1"/>
            <a:t>Challenges</a:t>
          </a:r>
          <a:endParaRPr lang="en-US"/>
        </a:p>
      </dgm:t>
    </dgm:pt>
    <dgm:pt modelId="{3E8477C3-016B-4C4E-8B8D-8D22B5BAABB4}" type="parTrans" cxnId="{F5B10DF5-766A-4830-A9DC-9A767ADC81BB}">
      <dgm:prSet/>
      <dgm:spPr/>
      <dgm:t>
        <a:bodyPr/>
        <a:lstStyle/>
        <a:p>
          <a:endParaRPr lang="en-US"/>
        </a:p>
      </dgm:t>
    </dgm:pt>
    <dgm:pt modelId="{738FA407-7ADC-44EA-ACB5-1F3E86B25C4E}" type="sibTrans" cxnId="{F5B10DF5-766A-4830-A9DC-9A767ADC81BB}">
      <dgm:prSet/>
      <dgm:spPr/>
      <dgm:t>
        <a:bodyPr/>
        <a:lstStyle/>
        <a:p>
          <a:endParaRPr lang="en-US"/>
        </a:p>
      </dgm:t>
    </dgm:pt>
    <dgm:pt modelId="{C05BDE41-004D-414D-B87F-333B25442E99}">
      <dgm:prSet/>
      <dgm:spPr/>
      <dgm:t>
        <a:bodyPr/>
        <a:lstStyle/>
        <a:p>
          <a:r>
            <a:rPr lang="en-US"/>
            <a:t>Operational inefficiencies during periods of </a:t>
          </a:r>
          <a:r>
            <a:rPr lang="en-US">
              <a:latin typeface="Calibri Light" panose="020F0302020204030204"/>
            </a:rPr>
            <a:t>high</a:t>
          </a:r>
          <a:r>
            <a:rPr lang="en-US"/>
            <a:t> demand. </a:t>
          </a:r>
          <a:r>
            <a:rPr lang="en-US">
              <a:latin typeface="Calibri Light" panose="020F0302020204030204"/>
            </a:rPr>
            <a:t>Companies</a:t>
          </a:r>
          <a:r>
            <a:rPr lang="en-US"/>
            <a:t> who struggle to find employees for a specific need and lack workforce in their branches.</a:t>
          </a:r>
        </a:p>
      </dgm:t>
    </dgm:pt>
    <dgm:pt modelId="{8E3477B7-33C5-4D49-B86A-C402E24CBA69}" type="parTrans" cxnId="{7F534C38-1576-4994-BB9C-7A35A8A4CEEA}">
      <dgm:prSet/>
      <dgm:spPr/>
      <dgm:t>
        <a:bodyPr/>
        <a:lstStyle/>
        <a:p>
          <a:endParaRPr lang="en-US"/>
        </a:p>
      </dgm:t>
    </dgm:pt>
    <dgm:pt modelId="{BA376710-3501-41AB-9540-0365E5F41AB0}" type="sibTrans" cxnId="{7F534C38-1576-4994-BB9C-7A35A8A4CEEA}">
      <dgm:prSet/>
      <dgm:spPr/>
      <dgm:t>
        <a:bodyPr/>
        <a:lstStyle/>
        <a:p>
          <a:endParaRPr lang="en-US"/>
        </a:p>
      </dgm:t>
    </dgm:pt>
    <dgm:pt modelId="{BBBF2119-C7CF-404B-A1C5-E9B5F709AEA8}">
      <dgm:prSet/>
      <dgm:spPr/>
      <dgm:t>
        <a:bodyPr/>
        <a:lstStyle/>
        <a:p>
          <a:pPr rtl="0"/>
          <a:r>
            <a:rPr lang="en-US" dirty="0"/>
            <a:t>Financial inefficiency due to idle workforce. Some companies struggle with overcapacity, which leads to employee insufficient work-time and lack of having tasks or active projects to work on</a:t>
          </a:r>
          <a:r>
            <a:rPr lang="en-US" dirty="0">
              <a:latin typeface="Calibri Light" panose="020F0302020204030204"/>
            </a:rPr>
            <a:t> – further reflecting on their annual/hourly salary</a:t>
          </a:r>
          <a:r>
            <a:rPr lang="en-US" dirty="0"/>
            <a:t>.</a:t>
          </a:r>
        </a:p>
      </dgm:t>
    </dgm:pt>
    <dgm:pt modelId="{61C108E8-EF13-45E5-A564-F6CF5D835A6A}" type="parTrans" cxnId="{99E21FB8-5292-4CC5-A95C-DF633B2075FB}">
      <dgm:prSet/>
      <dgm:spPr/>
      <dgm:t>
        <a:bodyPr/>
        <a:lstStyle/>
        <a:p>
          <a:endParaRPr lang="en-US"/>
        </a:p>
      </dgm:t>
    </dgm:pt>
    <dgm:pt modelId="{11BF8764-7772-4D33-BE25-8FDB49573FF5}" type="sibTrans" cxnId="{99E21FB8-5292-4CC5-A95C-DF633B2075FB}">
      <dgm:prSet/>
      <dgm:spPr/>
      <dgm:t>
        <a:bodyPr/>
        <a:lstStyle/>
        <a:p>
          <a:endParaRPr lang="en-US"/>
        </a:p>
      </dgm:t>
    </dgm:pt>
    <dgm:pt modelId="{17A5D67A-F021-4300-A4A2-AEB697EED748}">
      <dgm:prSet/>
      <dgm:spPr/>
      <dgm:t>
        <a:bodyPr/>
        <a:lstStyle/>
        <a:p>
          <a:pPr>
            <a:defRPr b="1"/>
          </a:pPr>
          <a:r>
            <a:rPr lang="en-US" b="1"/>
            <a:t>Solution</a:t>
          </a:r>
          <a:endParaRPr lang="en-US"/>
        </a:p>
      </dgm:t>
    </dgm:pt>
    <dgm:pt modelId="{96FB0C9B-4C2D-4485-A558-1CEF795598B3}" type="parTrans" cxnId="{A32821F5-7FB6-4A9A-8EBE-5E29CD5B0EC2}">
      <dgm:prSet/>
      <dgm:spPr/>
      <dgm:t>
        <a:bodyPr/>
        <a:lstStyle/>
        <a:p>
          <a:endParaRPr lang="en-US"/>
        </a:p>
      </dgm:t>
    </dgm:pt>
    <dgm:pt modelId="{1547D913-3BF8-474D-A03F-2D1B339A1AED}" type="sibTrans" cxnId="{A32821F5-7FB6-4A9A-8EBE-5E29CD5B0EC2}">
      <dgm:prSet/>
      <dgm:spPr/>
      <dgm:t>
        <a:bodyPr/>
        <a:lstStyle/>
        <a:p>
          <a:endParaRPr lang="en-US"/>
        </a:p>
      </dgm:t>
    </dgm:pt>
    <dgm:pt modelId="{3E4BF7EE-1F43-452E-BC6C-BED9691491DA}">
      <dgm:prSet/>
      <dgm:spPr/>
      <dgm:t>
        <a:bodyPr/>
        <a:lstStyle/>
        <a:p>
          <a:r>
            <a:rPr lang="en-US"/>
            <a:t>Balancing workforce needs between companies through temporary employee exchanges. Companies who need employees for a specific job, skill, tool or any other reason, can search for companies who loan their employees about the same needs for a specific period of time.</a:t>
          </a:r>
        </a:p>
      </dgm:t>
    </dgm:pt>
    <dgm:pt modelId="{F8F04399-625E-4726-A5F3-0CAC92B63C6C}" type="parTrans" cxnId="{6F258E54-6759-4321-B9AE-16D2E1E597AB}">
      <dgm:prSet/>
      <dgm:spPr/>
      <dgm:t>
        <a:bodyPr/>
        <a:lstStyle/>
        <a:p>
          <a:endParaRPr lang="en-US"/>
        </a:p>
      </dgm:t>
    </dgm:pt>
    <dgm:pt modelId="{4BDCD12E-B997-48E9-BB1A-6A2B2F4199DE}" type="sibTrans" cxnId="{6F258E54-6759-4321-B9AE-16D2E1E597AB}">
      <dgm:prSet/>
      <dgm:spPr/>
      <dgm:t>
        <a:bodyPr/>
        <a:lstStyle/>
        <a:p>
          <a:endParaRPr lang="en-US"/>
        </a:p>
      </dgm:t>
    </dgm:pt>
    <dgm:pt modelId="{A578076B-697A-41EE-B125-2E42DF7279B2}" type="pres">
      <dgm:prSet presAssocID="{1DC5DED3-79FF-4F6E-B482-246D048CCB9E}" presName="Name0" presStyleCnt="0">
        <dgm:presLayoutVars>
          <dgm:dir/>
          <dgm:animLvl val="lvl"/>
          <dgm:resizeHandles val="exact"/>
        </dgm:presLayoutVars>
      </dgm:prSet>
      <dgm:spPr/>
    </dgm:pt>
    <dgm:pt modelId="{427A0D41-96B7-4B40-BF69-516C2F732EBC}" type="pres">
      <dgm:prSet presAssocID="{E40C5CB9-47E6-4AA5-A3EF-971AC8D46CC0}" presName="composite" presStyleCnt="0"/>
      <dgm:spPr/>
    </dgm:pt>
    <dgm:pt modelId="{86AC7A84-0681-4CA9-A39F-0275E88083F5}" type="pres">
      <dgm:prSet presAssocID="{E40C5CB9-47E6-4AA5-A3EF-971AC8D46CC0}" presName="parTx" presStyleLbl="alignNode1" presStyleIdx="0" presStyleCnt="3">
        <dgm:presLayoutVars>
          <dgm:chMax val="0"/>
          <dgm:chPref val="0"/>
        </dgm:presLayoutVars>
      </dgm:prSet>
      <dgm:spPr/>
    </dgm:pt>
    <dgm:pt modelId="{80E4C698-1F40-4DB1-B9C0-E657FBC5490F}" type="pres">
      <dgm:prSet presAssocID="{E40C5CB9-47E6-4AA5-A3EF-971AC8D46CC0}" presName="desTx" presStyleLbl="alignAccFollowNode1" presStyleIdx="0" presStyleCnt="3">
        <dgm:presLayoutVars/>
      </dgm:prSet>
      <dgm:spPr/>
    </dgm:pt>
    <dgm:pt modelId="{A5BF70EA-FD6E-4595-80C7-B782BE1621B7}" type="pres">
      <dgm:prSet presAssocID="{ABAEF4F0-FE1B-49B1-A729-DD9B65ABAEF5}" presName="space" presStyleCnt="0"/>
      <dgm:spPr/>
    </dgm:pt>
    <dgm:pt modelId="{3564EB3C-A3C9-48BD-94D1-FC058FAE89EE}" type="pres">
      <dgm:prSet presAssocID="{FF7C9EC1-9CFF-4AB7-9CC4-A3F5F19977F1}" presName="composite" presStyleCnt="0"/>
      <dgm:spPr/>
    </dgm:pt>
    <dgm:pt modelId="{6163A308-7E03-460E-8ECA-FE00F29571CE}" type="pres">
      <dgm:prSet presAssocID="{FF7C9EC1-9CFF-4AB7-9CC4-A3F5F19977F1}" presName="parTx" presStyleLbl="alignNode1" presStyleIdx="1" presStyleCnt="3">
        <dgm:presLayoutVars>
          <dgm:chMax val="0"/>
          <dgm:chPref val="0"/>
        </dgm:presLayoutVars>
      </dgm:prSet>
      <dgm:spPr/>
    </dgm:pt>
    <dgm:pt modelId="{A6F0EDB7-88BF-4604-B499-F2BEA9B2E38F}" type="pres">
      <dgm:prSet presAssocID="{FF7C9EC1-9CFF-4AB7-9CC4-A3F5F19977F1}" presName="desTx" presStyleLbl="alignAccFollowNode1" presStyleIdx="1" presStyleCnt="3">
        <dgm:presLayoutVars/>
      </dgm:prSet>
      <dgm:spPr/>
    </dgm:pt>
    <dgm:pt modelId="{6BC77747-D139-4DD9-9587-DE7FB3A742F6}" type="pres">
      <dgm:prSet presAssocID="{738FA407-7ADC-44EA-ACB5-1F3E86B25C4E}" presName="space" presStyleCnt="0"/>
      <dgm:spPr/>
    </dgm:pt>
    <dgm:pt modelId="{ACA9965B-4D82-46E1-BC1B-48147C0BD714}" type="pres">
      <dgm:prSet presAssocID="{17A5D67A-F021-4300-A4A2-AEB697EED748}" presName="composite" presStyleCnt="0"/>
      <dgm:spPr/>
    </dgm:pt>
    <dgm:pt modelId="{3CED8005-D737-478E-A4EA-7D2FE3E4A4F6}" type="pres">
      <dgm:prSet presAssocID="{17A5D67A-F021-4300-A4A2-AEB697EED748}" presName="parTx" presStyleLbl="alignNode1" presStyleIdx="2" presStyleCnt="3">
        <dgm:presLayoutVars>
          <dgm:chMax val="0"/>
          <dgm:chPref val="0"/>
        </dgm:presLayoutVars>
      </dgm:prSet>
      <dgm:spPr/>
    </dgm:pt>
    <dgm:pt modelId="{FA8B4781-6F0F-4095-B0CD-15ADC0037093}" type="pres">
      <dgm:prSet presAssocID="{17A5D67A-F021-4300-A4A2-AEB697EED748}" presName="desTx" presStyleLbl="alignAccFollowNode1" presStyleIdx="2" presStyleCnt="3">
        <dgm:presLayoutVars/>
      </dgm:prSet>
      <dgm:spPr/>
    </dgm:pt>
  </dgm:ptLst>
  <dgm:cxnLst>
    <dgm:cxn modelId="{6F9DCD02-6FC7-465C-ADB0-DF0EA7ED48C0}" type="presOf" srcId="{A8AF9070-8F68-48E1-9A6D-1B01CB712BDF}" destId="{80E4C698-1F40-4DB1-B9C0-E657FBC5490F}" srcOrd="0" destOrd="0" presId="urn:microsoft.com/office/officeart/2016/7/layout/ChevronBlockProcess"/>
    <dgm:cxn modelId="{7F534C38-1576-4994-BB9C-7A35A8A4CEEA}" srcId="{FF7C9EC1-9CFF-4AB7-9CC4-A3F5F19977F1}" destId="{C05BDE41-004D-414D-B87F-333B25442E99}" srcOrd="0" destOrd="0" parTransId="{8E3477B7-33C5-4D49-B86A-C402E24CBA69}" sibTransId="{BA376710-3501-41AB-9540-0365E5F41AB0}"/>
    <dgm:cxn modelId="{7F71C938-2273-4300-BC7E-10371C5A9FFD}" type="presOf" srcId="{C05BDE41-004D-414D-B87F-333B25442E99}" destId="{A6F0EDB7-88BF-4604-B499-F2BEA9B2E38F}" srcOrd="0" destOrd="0" presId="urn:microsoft.com/office/officeart/2016/7/layout/ChevronBlockProcess"/>
    <dgm:cxn modelId="{652D7563-393D-4F3D-A2E9-4B6E83CED3FE}" srcId="{E40C5CB9-47E6-4AA5-A3EF-971AC8D46CC0}" destId="{A8AF9070-8F68-48E1-9A6D-1B01CB712BDF}" srcOrd="0" destOrd="0" parTransId="{71BB8D79-09AB-478E-B2BD-A43E8D26373D}" sibTransId="{400B1C77-0F6F-4303-850A-CA37982EC874}"/>
    <dgm:cxn modelId="{6F258E54-6759-4321-B9AE-16D2E1E597AB}" srcId="{17A5D67A-F021-4300-A4A2-AEB697EED748}" destId="{3E4BF7EE-1F43-452E-BC6C-BED9691491DA}" srcOrd="0" destOrd="0" parTransId="{F8F04399-625E-4726-A5F3-0CAC92B63C6C}" sibTransId="{4BDCD12E-B997-48E9-BB1A-6A2B2F4199DE}"/>
    <dgm:cxn modelId="{4ED3AA79-A5FF-49CA-BE02-E2690D446479}" srcId="{1DC5DED3-79FF-4F6E-B482-246D048CCB9E}" destId="{E40C5CB9-47E6-4AA5-A3EF-971AC8D46CC0}" srcOrd="0" destOrd="0" parTransId="{C2C08984-3D7C-4B76-928B-5C1C54088F60}" sibTransId="{ABAEF4F0-FE1B-49B1-A729-DD9B65ABAEF5}"/>
    <dgm:cxn modelId="{82831E8B-290E-4AC2-A07F-B3DCD1191AF8}" type="presOf" srcId="{FF7C9EC1-9CFF-4AB7-9CC4-A3F5F19977F1}" destId="{6163A308-7E03-460E-8ECA-FE00F29571CE}" srcOrd="0" destOrd="0" presId="urn:microsoft.com/office/officeart/2016/7/layout/ChevronBlockProcess"/>
    <dgm:cxn modelId="{506A8E90-DA8E-4290-94AB-2AAD57C83175}" type="presOf" srcId="{3E4BF7EE-1F43-452E-BC6C-BED9691491DA}" destId="{FA8B4781-6F0F-4095-B0CD-15ADC0037093}" srcOrd="0" destOrd="0" presId="urn:microsoft.com/office/officeart/2016/7/layout/ChevronBlockProcess"/>
    <dgm:cxn modelId="{471AB094-EE25-4C0E-8756-929B24A034F0}" type="presOf" srcId="{17A5D67A-F021-4300-A4A2-AEB697EED748}" destId="{3CED8005-D737-478E-A4EA-7D2FE3E4A4F6}" srcOrd="0" destOrd="0" presId="urn:microsoft.com/office/officeart/2016/7/layout/ChevronBlockProcess"/>
    <dgm:cxn modelId="{99E21FB8-5292-4CC5-A95C-DF633B2075FB}" srcId="{FF7C9EC1-9CFF-4AB7-9CC4-A3F5F19977F1}" destId="{BBBF2119-C7CF-404B-A1C5-E9B5F709AEA8}" srcOrd="1" destOrd="0" parTransId="{61C108E8-EF13-45E5-A564-F6CF5D835A6A}" sibTransId="{11BF8764-7772-4D33-BE25-8FDB49573FF5}"/>
    <dgm:cxn modelId="{0D7B45C1-C3B3-490B-A512-E87E9662046C}" type="presOf" srcId="{1DC5DED3-79FF-4F6E-B482-246D048CCB9E}" destId="{A578076B-697A-41EE-B125-2E42DF7279B2}" srcOrd="0" destOrd="0" presId="urn:microsoft.com/office/officeart/2016/7/layout/ChevronBlockProcess"/>
    <dgm:cxn modelId="{DD1EF4C1-8762-4273-A484-58E035A9FD9C}" type="presOf" srcId="{E40C5CB9-47E6-4AA5-A3EF-971AC8D46CC0}" destId="{86AC7A84-0681-4CA9-A39F-0275E88083F5}" srcOrd="0" destOrd="0" presId="urn:microsoft.com/office/officeart/2016/7/layout/ChevronBlockProcess"/>
    <dgm:cxn modelId="{6FA786C4-FCD9-4296-ADFF-5BF203033889}" type="presOf" srcId="{BBBF2119-C7CF-404B-A1C5-E9B5F709AEA8}" destId="{A6F0EDB7-88BF-4604-B499-F2BEA9B2E38F}" srcOrd="0" destOrd="1" presId="urn:microsoft.com/office/officeart/2016/7/layout/ChevronBlockProcess"/>
    <dgm:cxn modelId="{7D36F2CF-89A6-43BA-9771-DE224ED8AD80}" srcId="{E40C5CB9-47E6-4AA5-A3EF-971AC8D46CC0}" destId="{833E6A3E-F375-4058-ADDC-C01E82886FA7}" srcOrd="1" destOrd="0" parTransId="{7725E93E-6AF8-4A80-8906-D54847AB9A7D}" sibTransId="{9368AD13-17F2-4BD9-9010-2A908FF7D061}"/>
    <dgm:cxn modelId="{F5B10DF5-766A-4830-A9DC-9A767ADC81BB}" srcId="{1DC5DED3-79FF-4F6E-B482-246D048CCB9E}" destId="{FF7C9EC1-9CFF-4AB7-9CC4-A3F5F19977F1}" srcOrd="1" destOrd="0" parTransId="{3E8477C3-016B-4C4E-8B8D-8D22B5BAABB4}" sibTransId="{738FA407-7ADC-44EA-ACB5-1F3E86B25C4E}"/>
    <dgm:cxn modelId="{A32821F5-7FB6-4A9A-8EBE-5E29CD5B0EC2}" srcId="{1DC5DED3-79FF-4F6E-B482-246D048CCB9E}" destId="{17A5D67A-F021-4300-A4A2-AEB697EED748}" srcOrd="2" destOrd="0" parTransId="{96FB0C9B-4C2D-4485-A558-1CEF795598B3}" sibTransId="{1547D913-3BF8-474D-A03F-2D1B339A1AED}"/>
    <dgm:cxn modelId="{2D4A5FFF-0145-414D-92B3-EDE20443CC53}" type="presOf" srcId="{833E6A3E-F375-4058-ADDC-C01E82886FA7}" destId="{80E4C698-1F40-4DB1-B9C0-E657FBC5490F}" srcOrd="0" destOrd="1" presId="urn:microsoft.com/office/officeart/2016/7/layout/ChevronBlockProcess"/>
    <dgm:cxn modelId="{F6B7CB34-46AE-43C2-89B1-45AD8F215510}" type="presParOf" srcId="{A578076B-697A-41EE-B125-2E42DF7279B2}" destId="{427A0D41-96B7-4B40-BF69-516C2F732EBC}" srcOrd="0" destOrd="0" presId="urn:microsoft.com/office/officeart/2016/7/layout/ChevronBlockProcess"/>
    <dgm:cxn modelId="{858092CF-1538-41E1-9381-8A4DE2ED458B}" type="presParOf" srcId="{427A0D41-96B7-4B40-BF69-516C2F732EBC}" destId="{86AC7A84-0681-4CA9-A39F-0275E88083F5}" srcOrd="0" destOrd="0" presId="urn:microsoft.com/office/officeart/2016/7/layout/ChevronBlockProcess"/>
    <dgm:cxn modelId="{5765C232-7F5D-4DE4-88FC-CE0CFA81055B}" type="presParOf" srcId="{427A0D41-96B7-4B40-BF69-516C2F732EBC}" destId="{80E4C698-1F40-4DB1-B9C0-E657FBC5490F}" srcOrd="1" destOrd="0" presId="urn:microsoft.com/office/officeart/2016/7/layout/ChevronBlockProcess"/>
    <dgm:cxn modelId="{43FE145E-0177-4B50-9DF4-7F667A7D3B72}" type="presParOf" srcId="{A578076B-697A-41EE-B125-2E42DF7279B2}" destId="{A5BF70EA-FD6E-4595-80C7-B782BE1621B7}" srcOrd="1" destOrd="0" presId="urn:microsoft.com/office/officeart/2016/7/layout/ChevronBlockProcess"/>
    <dgm:cxn modelId="{9897BC3C-78A7-4DE9-9D58-BFC1AAD5D9B1}" type="presParOf" srcId="{A578076B-697A-41EE-B125-2E42DF7279B2}" destId="{3564EB3C-A3C9-48BD-94D1-FC058FAE89EE}" srcOrd="2" destOrd="0" presId="urn:microsoft.com/office/officeart/2016/7/layout/ChevronBlockProcess"/>
    <dgm:cxn modelId="{F9789925-28B2-4E4B-B6D8-84D72680FF48}" type="presParOf" srcId="{3564EB3C-A3C9-48BD-94D1-FC058FAE89EE}" destId="{6163A308-7E03-460E-8ECA-FE00F29571CE}" srcOrd="0" destOrd="0" presId="urn:microsoft.com/office/officeart/2016/7/layout/ChevronBlockProcess"/>
    <dgm:cxn modelId="{850B8EE0-765A-4BA9-8B9F-FBCC5875ADE4}" type="presParOf" srcId="{3564EB3C-A3C9-48BD-94D1-FC058FAE89EE}" destId="{A6F0EDB7-88BF-4604-B499-F2BEA9B2E38F}" srcOrd="1" destOrd="0" presId="urn:microsoft.com/office/officeart/2016/7/layout/ChevronBlockProcess"/>
    <dgm:cxn modelId="{76C5C596-E117-4038-A174-A9E0FE1CC115}" type="presParOf" srcId="{A578076B-697A-41EE-B125-2E42DF7279B2}" destId="{6BC77747-D139-4DD9-9587-DE7FB3A742F6}" srcOrd="3" destOrd="0" presId="urn:microsoft.com/office/officeart/2016/7/layout/ChevronBlockProcess"/>
    <dgm:cxn modelId="{72EDE350-8407-4DA5-87B9-DFC58EDAC71C}" type="presParOf" srcId="{A578076B-697A-41EE-B125-2E42DF7279B2}" destId="{ACA9965B-4D82-46E1-BC1B-48147C0BD714}" srcOrd="4" destOrd="0" presId="urn:microsoft.com/office/officeart/2016/7/layout/ChevronBlockProcess"/>
    <dgm:cxn modelId="{F74E4D6B-D658-4677-B5B9-55711A6C6FFE}" type="presParOf" srcId="{ACA9965B-4D82-46E1-BC1B-48147C0BD714}" destId="{3CED8005-D737-478E-A4EA-7D2FE3E4A4F6}" srcOrd="0" destOrd="0" presId="urn:microsoft.com/office/officeart/2016/7/layout/ChevronBlockProcess"/>
    <dgm:cxn modelId="{AA5EBBDF-8672-4307-8053-5979F14774A9}" type="presParOf" srcId="{ACA9965B-4D82-46E1-BC1B-48147C0BD714}" destId="{FA8B4781-6F0F-4095-B0CD-15ADC0037093}" srcOrd="1" destOrd="0" presId="urn:microsoft.com/office/officeart/2016/7/layout/Chevron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171B26-F974-4349-9651-3854077C8C3E}"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151A1888-BBE8-4D5C-9CC3-4EDA4B1D55CD}">
      <dgm:prSet/>
      <dgm:spPr/>
      <dgm:t>
        <a:bodyPr/>
        <a:lstStyle/>
        <a:p>
          <a:pPr>
            <a:lnSpc>
              <a:spcPct val="100000"/>
            </a:lnSpc>
            <a:defRPr b="1"/>
          </a:pPr>
          <a:r>
            <a:rPr lang="en-US" b="1"/>
            <a:t>Company 1 (Lessor) and Company 2 (Lessee</a:t>
          </a:r>
          <a:r>
            <a:rPr lang="en-US" b="1">
              <a:latin typeface="Calibri Light" panose="020F0302020204030204"/>
            </a:rPr>
            <a:t>)</a:t>
          </a:r>
          <a:endParaRPr lang="en-US"/>
        </a:p>
      </dgm:t>
    </dgm:pt>
    <dgm:pt modelId="{3F00209D-4B03-45E3-8074-7E5B75D697F7}" type="parTrans" cxnId="{61867950-BA55-4FD0-8FCD-927056C0BE63}">
      <dgm:prSet/>
      <dgm:spPr/>
      <dgm:t>
        <a:bodyPr/>
        <a:lstStyle/>
        <a:p>
          <a:endParaRPr lang="en-US"/>
        </a:p>
      </dgm:t>
    </dgm:pt>
    <dgm:pt modelId="{3DCDB50C-388B-4C92-814A-863DD07C2FD0}" type="sibTrans" cxnId="{61867950-BA55-4FD0-8FCD-927056C0BE63}">
      <dgm:prSet/>
      <dgm:spPr/>
      <dgm:t>
        <a:bodyPr/>
        <a:lstStyle/>
        <a:p>
          <a:endParaRPr lang="en-US"/>
        </a:p>
      </dgm:t>
    </dgm:pt>
    <dgm:pt modelId="{4400CF6E-BEE7-40E5-A379-5D955C76CB69}">
      <dgm:prSet/>
      <dgm:spPr/>
      <dgm:t>
        <a:bodyPr/>
        <a:lstStyle/>
        <a:p>
          <a:pPr>
            <a:lnSpc>
              <a:spcPct val="100000"/>
            </a:lnSpc>
          </a:pPr>
          <a:r>
            <a:rPr lang="en-US"/>
            <a:t>Use a Docker image to host the web application within their environments.</a:t>
          </a:r>
        </a:p>
      </dgm:t>
    </dgm:pt>
    <dgm:pt modelId="{F3B5F6A9-C0CC-45B5-B26A-B0D1C6515A24}" type="parTrans" cxnId="{625422A0-E667-4333-AAA9-200829D7B7ED}">
      <dgm:prSet/>
      <dgm:spPr/>
      <dgm:t>
        <a:bodyPr/>
        <a:lstStyle/>
        <a:p>
          <a:endParaRPr lang="en-US"/>
        </a:p>
      </dgm:t>
    </dgm:pt>
    <dgm:pt modelId="{666E82D6-14FF-424E-8AD6-422507CC4C2E}" type="sibTrans" cxnId="{625422A0-E667-4333-AAA9-200829D7B7ED}">
      <dgm:prSet/>
      <dgm:spPr/>
      <dgm:t>
        <a:bodyPr/>
        <a:lstStyle/>
        <a:p>
          <a:endParaRPr lang="en-US"/>
        </a:p>
      </dgm:t>
    </dgm:pt>
    <dgm:pt modelId="{52B28C3A-8917-483C-9BC1-2BFF453C9862}">
      <dgm:prSet/>
      <dgm:spPr/>
      <dgm:t>
        <a:bodyPr/>
        <a:lstStyle/>
        <a:p>
          <a:pPr>
            <a:lnSpc>
              <a:spcPct val="100000"/>
            </a:lnSpc>
            <a:defRPr b="1"/>
          </a:pPr>
          <a:r>
            <a:rPr lang="en-US" b="1"/>
            <a:t>Platform</a:t>
          </a:r>
          <a:endParaRPr lang="en-US"/>
        </a:p>
      </dgm:t>
    </dgm:pt>
    <dgm:pt modelId="{5CFE52C2-81AE-4FCB-AC20-DC669AA33CB9}" type="parTrans" cxnId="{D2CDC6ED-9B06-4BBF-9FF0-BA31C6C99B26}">
      <dgm:prSet/>
      <dgm:spPr/>
      <dgm:t>
        <a:bodyPr/>
        <a:lstStyle/>
        <a:p>
          <a:endParaRPr lang="en-US"/>
        </a:p>
      </dgm:t>
    </dgm:pt>
    <dgm:pt modelId="{5406BD21-A878-4D78-9496-90BD94C39636}" type="sibTrans" cxnId="{D2CDC6ED-9B06-4BBF-9FF0-BA31C6C99B26}">
      <dgm:prSet/>
      <dgm:spPr/>
      <dgm:t>
        <a:bodyPr/>
        <a:lstStyle/>
        <a:p>
          <a:endParaRPr lang="en-US"/>
        </a:p>
      </dgm:t>
    </dgm:pt>
    <dgm:pt modelId="{A4BF0B4F-F073-4487-BEB1-532A3BD357B0}">
      <dgm:prSet/>
      <dgm:spPr/>
      <dgm:t>
        <a:bodyPr/>
        <a:lstStyle/>
        <a:p>
          <a:pPr>
            <a:lnSpc>
              <a:spcPct val="100000"/>
            </a:lnSpc>
          </a:pPr>
          <a:r>
            <a:rPr lang="en-US"/>
            <a:t>Accessed through a specific port tunneled by the Docker image for security.</a:t>
          </a:r>
        </a:p>
      </dgm:t>
    </dgm:pt>
    <dgm:pt modelId="{44B4F2DC-DA66-42CD-BC6F-679EF5FAC901}" type="parTrans" cxnId="{6577FBB8-B7E4-4649-A307-0E3DFA24105D}">
      <dgm:prSet/>
      <dgm:spPr/>
      <dgm:t>
        <a:bodyPr/>
        <a:lstStyle/>
        <a:p>
          <a:endParaRPr lang="en-US"/>
        </a:p>
      </dgm:t>
    </dgm:pt>
    <dgm:pt modelId="{2293E353-6E72-4604-A92E-E7EE56036037}" type="sibTrans" cxnId="{6577FBB8-B7E4-4649-A307-0E3DFA24105D}">
      <dgm:prSet/>
      <dgm:spPr/>
      <dgm:t>
        <a:bodyPr/>
        <a:lstStyle/>
        <a:p>
          <a:endParaRPr lang="en-US"/>
        </a:p>
      </dgm:t>
    </dgm:pt>
    <dgm:pt modelId="{1215C9BF-B104-4B06-A18F-A79B2C35135A}">
      <dgm:prSet/>
      <dgm:spPr/>
      <dgm:t>
        <a:bodyPr/>
        <a:lstStyle/>
        <a:p>
          <a:pPr>
            <a:lnSpc>
              <a:spcPct val="100000"/>
            </a:lnSpc>
            <a:defRPr b="1"/>
          </a:pPr>
          <a:r>
            <a:rPr lang="en-US" b="1"/>
            <a:t>Central Server</a:t>
          </a:r>
          <a:endParaRPr lang="en-US"/>
        </a:p>
      </dgm:t>
    </dgm:pt>
    <dgm:pt modelId="{30A6B5B8-4B13-4492-8B14-D3629B167964}" type="parTrans" cxnId="{2AF86EAB-80FA-4C3F-9FE0-BE8EA2C5B822}">
      <dgm:prSet/>
      <dgm:spPr/>
      <dgm:t>
        <a:bodyPr/>
        <a:lstStyle/>
        <a:p>
          <a:endParaRPr lang="en-US"/>
        </a:p>
      </dgm:t>
    </dgm:pt>
    <dgm:pt modelId="{B4C0A390-3E80-4C53-8F45-8B5CFE5E9928}" type="sibTrans" cxnId="{2AF86EAB-80FA-4C3F-9FE0-BE8EA2C5B822}">
      <dgm:prSet/>
      <dgm:spPr/>
      <dgm:t>
        <a:bodyPr/>
        <a:lstStyle/>
        <a:p>
          <a:endParaRPr lang="en-US"/>
        </a:p>
      </dgm:t>
    </dgm:pt>
    <dgm:pt modelId="{A29283A0-A9BF-4093-A2F8-FB29FD844FE1}">
      <dgm:prSet/>
      <dgm:spPr/>
      <dgm:t>
        <a:bodyPr/>
        <a:lstStyle/>
        <a:p>
          <a:pPr>
            <a:lnSpc>
              <a:spcPct val="100000"/>
            </a:lnSpc>
          </a:pPr>
          <a:r>
            <a:rPr lang="en-US"/>
            <a:t>Hosts a database with non-personal data about employee availability.</a:t>
          </a:r>
        </a:p>
      </dgm:t>
    </dgm:pt>
    <dgm:pt modelId="{1CE71B31-E1D5-4B19-A833-2FD87FB43460}" type="parTrans" cxnId="{98FCBE82-B13A-44B8-B261-063F30CC7E9B}">
      <dgm:prSet/>
      <dgm:spPr/>
      <dgm:t>
        <a:bodyPr/>
        <a:lstStyle/>
        <a:p>
          <a:endParaRPr lang="en-US"/>
        </a:p>
      </dgm:t>
    </dgm:pt>
    <dgm:pt modelId="{9C05C3FF-9B86-4E6E-B257-5567667DB703}" type="sibTrans" cxnId="{98FCBE82-B13A-44B8-B261-063F30CC7E9B}">
      <dgm:prSet/>
      <dgm:spPr/>
      <dgm:t>
        <a:bodyPr/>
        <a:lstStyle/>
        <a:p>
          <a:endParaRPr lang="en-US"/>
        </a:p>
      </dgm:t>
    </dgm:pt>
    <dgm:pt modelId="{91970FE3-90D2-4624-B7B7-5A005ABA86E5}">
      <dgm:prSet/>
      <dgm:spPr/>
      <dgm:t>
        <a:bodyPr/>
        <a:lstStyle/>
        <a:p>
          <a:pPr>
            <a:lnSpc>
              <a:spcPct val="100000"/>
            </a:lnSpc>
            <a:defRPr b="1"/>
          </a:pPr>
          <a:r>
            <a:rPr lang="en-US" b="1"/>
            <a:t>Chat System</a:t>
          </a:r>
          <a:endParaRPr lang="en-US"/>
        </a:p>
      </dgm:t>
    </dgm:pt>
    <dgm:pt modelId="{238AE04D-34BE-4154-A759-7C160AF5BA52}" type="parTrans" cxnId="{CE4F67B4-2692-4520-A99A-E81631C40506}">
      <dgm:prSet/>
      <dgm:spPr/>
      <dgm:t>
        <a:bodyPr/>
        <a:lstStyle/>
        <a:p>
          <a:endParaRPr lang="en-US"/>
        </a:p>
      </dgm:t>
    </dgm:pt>
    <dgm:pt modelId="{22676A6A-F61F-4E61-847A-83DBFB408293}" type="sibTrans" cxnId="{CE4F67B4-2692-4520-A99A-E81631C40506}">
      <dgm:prSet/>
      <dgm:spPr/>
      <dgm:t>
        <a:bodyPr/>
        <a:lstStyle/>
        <a:p>
          <a:endParaRPr lang="en-US"/>
        </a:p>
      </dgm:t>
    </dgm:pt>
    <dgm:pt modelId="{15A979F1-481E-49AA-B4E0-29F18CBA00FA}">
      <dgm:prSet/>
      <dgm:spPr/>
      <dgm:t>
        <a:bodyPr/>
        <a:lstStyle/>
        <a:p>
          <a:pPr>
            <a:lnSpc>
              <a:spcPct val="100000"/>
            </a:lnSpc>
          </a:pPr>
          <a:r>
            <a:rPr lang="en-US"/>
            <a:t>Facilitates secure communication between companies.</a:t>
          </a:r>
        </a:p>
      </dgm:t>
    </dgm:pt>
    <dgm:pt modelId="{741C91D3-7642-4128-9A81-F1560AE5D17C}" type="parTrans" cxnId="{F01ABB44-99DA-4570-B504-71A761019803}">
      <dgm:prSet/>
      <dgm:spPr/>
      <dgm:t>
        <a:bodyPr/>
        <a:lstStyle/>
        <a:p>
          <a:endParaRPr lang="en-US"/>
        </a:p>
      </dgm:t>
    </dgm:pt>
    <dgm:pt modelId="{0896971E-B604-4BE3-8E30-789AF3531424}" type="sibTrans" cxnId="{F01ABB44-99DA-4570-B504-71A761019803}">
      <dgm:prSet/>
      <dgm:spPr/>
      <dgm:t>
        <a:bodyPr/>
        <a:lstStyle/>
        <a:p>
          <a:endParaRPr lang="en-US"/>
        </a:p>
      </dgm:t>
    </dgm:pt>
    <dgm:pt modelId="{FC9E1224-EEBE-4892-87A4-AD609752ED66}">
      <dgm:prSet/>
      <dgm:spPr/>
      <dgm:t>
        <a:bodyPr/>
        <a:lstStyle/>
        <a:p>
          <a:pPr>
            <a:lnSpc>
              <a:spcPct val="100000"/>
            </a:lnSpc>
            <a:defRPr b="1"/>
          </a:pPr>
          <a:r>
            <a:rPr lang="en-US" b="1"/>
            <a:t>Contract Management System</a:t>
          </a:r>
          <a:endParaRPr lang="en-US"/>
        </a:p>
      </dgm:t>
    </dgm:pt>
    <dgm:pt modelId="{C9937B06-F4CF-4AC7-8FD6-F30617B1F3AF}" type="parTrans" cxnId="{453A7F43-FAF4-4C2F-AEF8-36166801B639}">
      <dgm:prSet/>
      <dgm:spPr/>
      <dgm:t>
        <a:bodyPr/>
        <a:lstStyle/>
        <a:p>
          <a:endParaRPr lang="en-US"/>
        </a:p>
      </dgm:t>
    </dgm:pt>
    <dgm:pt modelId="{9C0BC6D0-6255-4C24-9FBA-EDA0388677E9}" type="sibTrans" cxnId="{453A7F43-FAF4-4C2F-AEF8-36166801B639}">
      <dgm:prSet/>
      <dgm:spPr/>
      <dgm:t>
        <a:bodyPr/>
        <a:lstStyle/>
        <a:p>
          <a:endParaRPr lang="en-US"/>
        </a:p>
      </dgm:t>
    </dgm:pt>
    <dgm:pt modelId="{E86DA565-0D85-4E65-B62B-D35B272B7D86}">
      <dgm:prSet/>
      <dgm:spPr/>
      <dgm:t>
        <a:bodyPr/>
        <a:lstStyle/>
        <a:p>
          <a:pPr>
            <a:lnSpc>
              <a:spcPct val="100000"/>
            </a:lnSpc>
          </a:pPr>
          <a:r>
            <a:rPr lang="en-US"/>
            <a:t>Integrated for generating, signing, and storing leasing contracts.</a:t>
          </a:r>
        </a:p>
      </dgm:t>
    </dgm:pt>
    <dgm:pt modelId="{BB5C291D-4200-46B7-88C0-2D91CB55FA77}" type="parTrans" cxnId="{4127F441-D8AA-473D-9564-173E09F9460E}">
      <dgm:prSet/>
      <dgm:spPr/>
      <dgm:t>
        <a:bodyPr/>
        <a:lstStyle/>
        <a:p>
          <a:endParaRPr lang="en-US"/>
        </a:p>
      </dgm:t>
    </dgm:pt>
    <dgm:pt modelId="{7F1A4B66-DB29-48CE-8A7A-C5908CA3FA89}" type="sibTrans" cxnId="{4127F441-D8AA-473D-9564-173E09F9460E}">
      <dgm:prSet/>
      <dgm:spPr/>
      <dgm:t>
        <a:bodyPr/>
        <a:lstStyle/>
        <a:p>
          <a:endParaRPr lang="en-US"/>
        </a:p>
      </dgm:t>
    </dgm:pt>
    <dgm:pt modelId="{79CDDB5F-3F28-43CF-9A86-3B22792D85DF}" type="pres">
      <dgm:prSet presAssocID="{3F171B26-F974-4349-9651-3854077C8C3E}" presName="root" presStyleCnt="0">
        <dgm:presLayoutVars>
          <dgm:dir/>
          <dgm:resizeHandles val="exact"/>
        </dgm:presLayoutVars>
      </dgm:prSet>
      <dgm:spPr/>
    </dgm:pt>
    <dgm:pt modelId="{35ACE5CD-7485-4D8A-8859-0584BCDFC38B}" type="pres">
      <dgm:prSet presAssocID="{151A1888-BBE8-4D5C-9CC3-4EDA4B1D55CD}" presName="compNode" presStyleCnt="0"/>
      <dgm:spPr/>
    </dgm:pt>
    <dgm:pt modelId="{F7B4E0E8-373A-4EE9-9CE6-4432101FC166}" type="pres">
      <dgm:prSet presAssocID="{151A1888-BBE8-4D5C-9CC3-4EDA4B1D55C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jector"/>
        </a:ext>
      </dgm:extLst>
    </dgm:pt>
    <dgm:pt modelId="{61C5BDE3-D2C5-4FCF-A1D0-FCE3211A3626}" type="pres">
      <dgm:prSet presAssocID="{151A1888-BBE8-4D5C-9CC3-4EDA4B1D55CD}" presName="iconSpace" presStyleCnt="0"/>
      <dgm:spPr/>
    </dgm:pt>
    <dgm:pt modelId="{31EEDDC0-7174-4C88-8709-6D464B6C613E}" type="pres">
      <dgm:prSet presAssocID="{151A1888-BBE8-4D5C-9CC3-4EDA4B1D55CD}" presName="parTx" presStyleLbl="revTx" presStyleIdx="0" presStyleCnt="10">
        <dgm:presLayoutVars>
          <dgm:chMax val="0"/>
          <dgm:chPref val="0"/>
        </dgm:presLayoutVars>
      </dgm:prSet>
      <dgm:spPr/>
    </dgm:pt>
    <dgm:pt modelId="{85FCA937-57A9-4CB9-B2B0-471273F81FE5}" type="pres">
      <dgm:prSet presAssocID="{151A1888-BBE8-4D5C-9CC3-4EDA4B1D55CD}" presName="txSpace" presStyleCnt="0"/>
      <dgm:spPr/>
    </dgm:pt>
    <dgm:pt modelId="{301038DE-6DAB-4F03-B053-70506D06D86C}" type="pres">
      <dgm:prSet presAssocID="{151A1888-BBE8-4D5C-9CC3-4EDA4B1D55CD}" presName="desTx" presStyleLbl="revTx" presStyleIdx="1" presStyleCnt="10">
        <dgm:presLayoutVars/>
      </dgm:prSet>
      <dgm:spPr/>
    </dgm:pt>
    <dgm:pt modelId="{78B7DCA1-36F3-47CD-B2F9-17D1FC098B2B}" type="pres">
      <dgm:prSet presAssocID="{3DCDB50C-388B-4C92-814A-863DD07C2FD0}" presName="sibTrans" presStyleCnt="0"/>
      <dgm:spPr/>
    </dgm:pt>
    <dgm:pt modelId="{87079980-0219-4FC1-8A08-1D3FC5BC3AD0}" type="pres">
      <dgm:prSet presAssocID="{52B28C3A-8917-483C-9BC1-2BFF453C9862}" presName="compNode" presStyleCnt="0"/>
      <dgm:spPr/>
    </dgm:pt>
    <dgm:pt modelId="{52FC22B2-D0F3-40DC-B01D-939753D51C26}" type="pres">
      <dgm:prSet presAssocID="{52B28C3A-8917-483C-9BC1-2BFF453C986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D09BACC1-BA70-480D-B377-B13E27FEB14B}" type="pres">
      <dgm:prSet presAssocID="{52B28C3A-8917-483C-9BC1-2BFF453C9862}" presName="iconSpace" presStyleCnt="0"/>
      <dgm:spPr/>
    </dgm:pt>
    <dgm:pt modelId="{A883821A-D37D-4B1E-B47B-AFAFCDB5E8C0}" type="pres">
      <dgm:prSet presAssocID="{52B28C3A-8917-483C-9BC1-2BFF453C9862}" presName="parTx" presStyleLbl="revTx" presStyleIdx="2" presStyleCnt="10">
        <dgm:presLayoutVars>
          <dgm:chMax val="0"/>
          <dgm:chPref val="0"/>
        </dgm:presLayoutVars>
      </dgm:prSet>
      <dgm:spPr/>
    </dgm:pt>
    <dgm:pt modelId="{6ABE90C2-A77C-4F84-A774-7BCE6857E118}" type="pres">
      <dgm:prSet presAssocID="{52B28C3A-8917-483C-9BC1-2BFF453C9862}" presName="txSpace" presStyleCnt="0"/>
      <dgm:spPr/>
    </dgm:pt>
    <dgm:pt modelId="{8A83709E-F8AB-473A-B629-F0A50E4762A5}" type="pres">
      <dgm:prSet presAssocID="{52B28C3A-8917-483C-9BC1-2BFF453C9862}" presName="desTx" presStyleLbl="revTx" presStyleIdx="3" presStyleCnt="10">
        <dgm:presLayoutVars/>
      </dgm:prSet>
      <dgm:spPr/>
    </dgm:pt>
    <dgm:pt modelId="{CF06820B-C751-4D96-A767-D7E758C75195}" type="pres">
      <dgm:prSet presAssocID="{5406BD21-A878-4D78-9496-90BD94C39636}" presName="sibTrans" presStyleCnt="0"/>
      <dgm:spPr/>
    </dgm:pt>
    <dgm:pt modelId="{78C244D0-2DF8-4505-8551-0AC438A20C45}" type="pres">
      <dgm:prSet presAssocID="{1215C9BF-B104-4B06-A18F-A79B2C35135A}" presName="compNode" presStyleCnt="0"/>
      <dgm:spPr/>
    </dgm:pt>
    <dgm:pt modelId="{9F2E8EC4-F16D-4DE6-9119-873009064B85}" type="pres">
      <dgm:prSet presAssocID="{1215C9BF-B104-4B06-A18F-A79B2C35135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F9DD8905-6A44-46C9-AF31-06F0544B851C}" type="pres">
      <dgm:prSet presAssocID="{1215C9BF-B104-4B06-A18F-A79B2C35135A}" presName="iconSpace" presStyleCnt="0"/>
      <dgm:spPr/>
    </dgm:pt>
    <dgm:pt modelId="{AF01C75F-7792-4FAB-8680-041C88366F4F}" type="pres">
      <dgm:prSet presAssocID="{1215C9BF-B104-4B06-A18F-A79B2C35135A}" presName="parTx" presStyleLbl="revTx" presStyleIdx="4" presStyleCnt="10">
        <dgm:presLayoutVars>
          <dgm:chMax val="0"/>
          <dgm:chPref val="0"/>
        </dgm:presLayoutVars>
      </dgm:prSet>
      <dgm:spPr/>
    </dgm:pt>
    <dgm:pt modelId="{8DB9CA59-9274-4FD8-9440-585AD56CD180}" type="pres">
      <dgm:prSet presAssocID="{1215C9BF-B104-4B06-A18F-A79B2C35135A}" presName="txSpace" presStyleCnt="0"/>
      <dgm:spPr/>
    </dgm:pt>
    <dgm:pt modelId="{46D82777-56B8-4BF2-BD7A-FA0A1038A3E7}" type="pres">
      <dgm:prSet presAssocID="{1215C9BF-B104-4B06-A18F-A79B2C35135A}" presName="desTx" presStyleLbl="revTx" presStyleIdx="5" presStyleCnt="10">
        <dgm:presLayoutVars/>
      </dgm:prSet>
      <dgm:spPr/>
    </dgm:pt>
    <dgm:pt modelId="{E3D6AFFA-5A74-4BB1-8CC8-60510C229D87}" type="pres">
      <dgm:prSet presAssocID="{B4C0A390-3E80-4C53-8F45-8B5CFE5E9928}" presName="sibTrans" presStyleCnt="0"/>
      <dgm:spPr/>
    </dgm:pt>
    <dgm:pt modelId="{D659DE68-F57E-48A3-8140-279AB09D92C3}" type="pres">
      <dgm:prSet presAssocID="{91970FE3-90D2-4624-B7B7-5A005ABA86E5}" presName="compNode" presStyleCnt="0"/>
      <dgm:spPr/>
    </dgm:pt>
    <dgm:pt modelId="{A22D388F-F7E3-4B56-8CBA-048B56044790}" type="pres">
      <dgm:prSet presAssocID="{91970FE3-90D2-4624-B7B7-5A005ABA86E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peech"/>
        </a:ext>
      </dgm:extLst>
    </dgm:pt>
    <dgm:pt modelId="{37349ACA-92A6-45A4-9562-D9F9C5047A3C}" type="pres">
      <dgm:prSet presAssocID="{91970FE3-90D2-4624-B7B7-5A005ABA86E5}" presName="iconSpace" presStyleCnt="0"/>
      <dgm:spPr/>
    </dgm:pt>
    <dgm:pt modelId="{C82BA087-2955-4916-B8D8-E199F42A597C}" type="pres">
      <dgm:prSet presAssocID="{91970FE3-90D2-4624-B7B7-5A005ABA86E5}" presName="parTx" presStyleLbl="revTx" presStyleIdx="6" presStyleCnt="10">
        <dgm:presLayoutVars>
          <dgm:chMax val="0"/>
          <dgm:chPref val="0"/>
        </dgm:presLayoutVars>
      </dgm:prSet>
      <dgm:spPr/>
    </dgm:pt>
    <dgm:pt modelId="{198D4DA0-FD11-4518-A686-FC5D44A33AD7}" type="pres">
      <dgm:prSet presAssocID="{91970FE3-90D2-4624-B7B7-5A005ABA86E5}" presName="txSpace" presStyleCnt="0"/>
      <dgm:spPr/>
    </dgm:pt>
    <dgm:pt modelId="{5668B3C2-2445-4213-B9DA-B7ABAEBF146B}" type="pres">
      <dgm:prSet presAssocID="{91970FE3-90D2-4624-B7B7-5A005ABA86E5}" presName="desTx" presStyleLbl="revTx" presStyleIdx="7" presStyleCnt="10">
        <dgm:presLayoutVars/>
      </dgm:prSet>
      <dgm:spPr/>
    </dgm:pt>
    <dgm:pt modelId="{8ADF8244-9506-44C2-9634-AB90DB327E10}" type="pres">
      <dgm:prSet presAssocID="{22676A6A-F61F-4E61-847A-83DBFB408293}" presName="sibTrans" presStyleCnt="0"/>
      <dgm:spPr/>
    </dgm:pt>
    <dgm:pt modelId="{CD90A539-E124-40D3-AA53-3287AF2BAC34}" type="pres">
      <dgm:prSet presAssocID="{FC9E1224-EEBE-4892-87A4-AD609752ED66}" presName="compNode" presStyleCnt="0"/>
      <dgm:spPr/>
    </dgm:pt>
    <dgm:pt modelId="{D6418E20-3F26-44C9-ABA8-F7FDE4219A8E}" type="pres">
      <dgm:prSet presAssocID="{FC9E1224-EEBE-4892-87A4-AD609752ED6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anching Diagram"/>
        </a:ext>
      </dgm:extLst>
    </dgm:pt>
    <dgm:pt modelId="{89B60D43-3122-462F-A7D9-DD5A00D862D6}" type="pres">
      <dgm:prSet presAssocID="{FC9E1224-EEBE-4892-87A4-AD609752ED66}" presName="iconSpace" presStyleCnt="0"/>
      <dgm:spPr/>
    </dgm:pt>
    <dgm:pt modelId="{A2F10DF6-D3A4-4F12-9A72-7991F72C5F54}" type="pres">
      <dgm:prSet presAssocID="{FC9E1224-EEBE-4892-87A4-AD609752ED66}" presName="parTx" presStyleLbl="revTx" presStyleIdx="8" presStyleCnt="10">
        <dgm:presLayoutVars>
          <dgm:chMax val="0"/>
          <dgm:chPref val="0"/>
        </dgm:presLayoutVars>
      </dgm:prSet>
      <dgm:spPr/>
    </dgm:pt>
    <dgm:pt modelId="{145640C8-9840-46FC-89AD-1CFB65F945A2}" type="pres">
      <dgm:prSet presAssocID="{FC9E1224-EEBE-4892-87A4-AD609752ED66}" presName="txSpace" presStyleCnt="0"/>
      <dgm:spPr/>
    </dgm:pt>
    <dgm:pt modelId="{B0DD6417-0688-48AF-90EA-61ECFB823B60}" type="pres">
      <dgm:prSet presAssocID="{FC9E1224-EEBE-4892-87A4-AD609752ED66}" presName="desTx" presStyleLbl="revTx" presStyleIdx="9" presStyleCnt="10">
        <dgm:presLayoutVars/>
      </dgm:prSet>
      <dgm:spPr/>
    </dgm:pt>
  </dgm:ptLst>
  <dgm:cxnLst>
    <dgm:cxn modelId="{07050F07-9C0F-4F27-B9C8-452F62F399F5}" type="presOf" srcId="{52B28C3A-8917-483C-9BC1-2BFF453C9862}" destId="{A883821A-D37D-4B1E-B47B-AFAFCDB5E8C0}" srcOrd="0" destOrd="0" presId="urn:microsoft.com/office/officeart/2018/5/layout/CenteredIconLabelDescriptionList"/>
    <dgm:cxn modelId="{8CCDB427-24CC-4C98-9938-BCC9BE0C71D1}" type="presOf" srcId="{15A979F1-481E-49AA-B4E0-29F18CBA00FA}" destId="{5668B3C2-2445-4213-B9DA-B7ABAEBF146B}" srcOrd="0" destOrd="0" presId="urn:microsoft.com/office/officeart/2018/5/layout/CenteredIconLabelDescriptionList"/>
    <dgm:cxn modelId="{67123D5B-55EE-4AB0-B429-E1B445EAB52B}" type="presOf" srcId="{FC9E1224-EEBE-4892-87A4-AD609752ED66}" destId="{A2F10DF6-D3A4-4F12-9A72-7991F72C5F54}" srcOrd="0" destOrd="0" presId="urn:microsoft.com/office/officeart/2018/5/layout/CenteredIconLabelDescriptionList"/>
    <dgm:cxn modelId="{4127F441-D8AA-473D-9564-173E09F9460E}" srcId="{FC9E1224-EEBE-4892-87A4-AD609752ED66}" destId="{E86DA565-0D85-4E65-B62B-D35B272B7D86}" srcOrd="0" destOrd="0" parTransId="{BB5C291D-4200-46B7-88C0-2D91CB55FA77}" sibTransId="{7F1A4B66-DB29-48CE-8A7A-C5908CA3FA89}"/>
    <dgm:cxn modelId="{453A7F43-FAF4-4C2F-AEF8-36166801B639}" srcId="{3F171B26-F974-4349-9651-3854077C8C3E}" destId="{FC9E1224-EEBE-4892-87A4-AD609752ED66}" srcOrd="4" destOrd="0" parTransId="{C9937B06-F4CF-4AC7-8FD6-F30617B1F3AF}" sibTransId="{9C0BC6D0-6255-4C24-9FBA-EDA0388677E9}"/>
    <dgm:cxn modelId="{F01ABB44-99DA-4570-B504-71A761019803}" srcId="{91970FE3-90D2-4624-B7B7-5A005ABA86E5}" destId="{15A979F1-481E-49AA-B4E0-29F18CBA00FA}" srcOrd="0" destOrd="0" parTransId="{741C91D3-7642-4128-9A81-F1560AE5D17C}" sibTransId="{0896971E-B604-4BE3-8E30-789AF3531424}"/>
    <dgm:cxn modelId="{66EA0E65-BBAE-4EBE-BC6F-70EAD3C176FE}" type="presOf" srcId="{3F171B26-F974-4349-9651-3854077C8C3E}" destId="{79CDDB5F-3F28-43CF-9A86-3B22792D85DF}" srcOrd="0" destOrd="0" presId="urn:microsoft.com/office/officeart/2018/5/layout/CenteredIconLabelDescriptionList"/>
    <dgm:cxn modelId="{61867950-BA55-4FD0-8FCD-927056C0BE63}" srcId="{3F171B26-F974-4349-9651-3854077C8C3E}" destId="{151A1888-BBE8-4D5C-9CC3-4EDA4B1D55CD}" srcOrd="0" destOrd="0" parTransId="{3F00209D-4B03-45E3-8074-7E5B75D697F7}" sibTransId="{3DCDB50C-388B-4C92-814A-863DD07C2FD0}"/>
    <dgm:cxn modelId="{98FCBE82-B13A-44B8-B261-063F30CC7E9B}" srcId="{1215C9BF-B104-4B06-A18F-A79B2C35135A}" destId="{A29283A0-A9BF-4093-A2F8-FB29FD844FE1}" srcOrd="0" destOrd="0" parTransId="{1CE71B31-E1D5-4B19-A833-2FD87FB43460}" sibTransId="{9C05C3FF-9B86-4E6E-B257-5567667DB703}"/>
    <dgm:cxn modelId="{FE8F9F83-F78D-468F-B608-52B069B78074}" type="presOf" srcId="{A29283A0-A9BF-4093-A2F8-FB29FD844FE1}" destId="{46D82777-56B8-4BF2-BD7A-FA0A1038A3E7}" srcOrd="0" destOrd="0" presId="urn:microsoft.com/office/officeart/2018/5/layout/CenteredIconLabelDescriptionList"/>
    <dgm:cxn modelId="{D0125A96-8F09-40FE-89EB-6F2C0BC44D6E}" type="presOf" srcId="{1215C9BF-B104-4B06-A18F-A79B2C35135A}" destId="{AF01C75F-7792-4FAB-8680-041C88366F4F}" srcOrd="0" destOrd="0" presId="urn:microsoft.com/office/officeart/2018/5/layout/CenteredIconLabelDescriptionList"/>
    <dgm:cxn modelId="{625422A0-E667-4333-AAA9-200829D7B7ED}" srcId="{151A1888-BBE8-4D5C-9CC3-4EDA4B1D55CD}" destId="{4400CF6E-BEE7-40E5-A379-5D955C76CB69}" srcOrd="0" destOrd="0" parTransId="{F3B5F6A9-C0CC-45B5-B26A-B0D1C6515A24}" sibTransId="{666E82D6-14FF-424E-8AD6-422507CC4C2E}"/>
    <dgm:cxn modelId="{2AF86EAB-80FA-4C3F-9FE0-BE8EA2C5B822}" srcId="{3F171B26-F974-4349-9651-3854077C8C3E}" destId="{1215C9BF-B104-4B06-A18F-A79B2C35135A}" srcOrd="2" destOrd="0" parTransId="{30A6B5B8-4B13-4492-8B14-D3629B167964}" sibTransId="{B4C0A390-3E80-4C53-8F45-8B5CFE5E9928}"/>
    <dgm:cxn modelId="{7D0D31B1-9A90-4F96-AAD7-71B3632E99B4}" type="presOf" srcId="{A4BF0B4F-F073-4487-BEB1-532A3BD357B0}" destId="{8A83709E-F8AB-473A-B629-F0A50E4762A5}" srcOrd="0" destOrd="0" presId="urn:microsoft.com/office/officeart/2018/5/layout/CenteredIconLabelDescriptionList"/>
    <dgm:cxn modelId="{0122DAB2-BFC3-439D-B6D1-07D9CC6BF24F}" type="presOf" srcId="{E86DA565-0D85-4E65-B62B-D35B272B7D86}" destId="{B0DD6417-0688-48AF-90EA-61ECFB823B60}" srcOrd="0" destOrd="0" presId="urn:microsoft.com/office/officeart/2018/5/layout/CenteredIconLabelDescriptionList"/>
    <dgm:cxn modelId="{CE4F67B4-2692-4520-A99A-E81631C40506}" srcId="{3F171B26-F974-4349-9651-3854077C8C3E}" destId="{91970FE3-90D2-4624-B7B7-5A005ABA86E5}" srcOrd="3" destOrd="0" parTransId="{238AE04D-34BE-4154-A759-7C160AF5BA52}" sibTransId="{22676A6A-F61F-4E61-847A-83DBFB408293}"/>
    <dgm:cxn modelId="{6577FBB8-B7E4-4649-A307-0E3DFA24105D}" srcId="{52B28C3A-8917-483C-9BC1-2BFF453C9862}" destId="{A4BF0B4F-F073-4487-BEB1-532A3BD357B0}" srcOrd="0" destOrd="0" parTransId="{44B4F2DC-DA66-42CD-BC6F-679EF5FAC901}" sibTransId="{2293E353-6E72-4604-A92E-E7EE56036037}"/>
    <dgm:cxn modelId="{98EA38B9-E479-461D-96D5-2F2DA06E402E}" type="presOf" srcId="{151A1888-BBE8-4D5C-9CC3-4EDA4B1D55CD}" destId="{31EEDDC0-7174-4C88-8709-6D464B6C613E}" srcOrd="0" destOrd="0" presId="urn:microsoft.com/office/officeart/2018/5/layout/CenteredIconLabelDescriptionList"/>
    <dgm:cxn modelId="{61FFD5DA-A40F-4D80-8B31-15B891502681}" type="presOf" srcId="{91970FE3-90D2-4624-B7B7-5A005ABA86E5}" destId="{C82BA087-2955-4916-B8D8-E199F42A597C}" srcOrd="0" destOrd="0" presId="urn:microsoft.com/office/officeart/2018/5/layout/CenteredIconLabelDescriptionList"/>
    <dgm:cxn modelId="{D2CDC6ED-9B06-4BBF-9FF0-BA31C6C99B26}" srcId="{3F171B26-F974-4349-9651-3854077C8C3E}" destId="{52B28C3A-8917-483C-9BC1-2BFF453C9862}" srcOrd="1" destOrd="0" parTransId="{5CFE52C2-81AE-4FCB-AC20-DC669AA33CB9}" sibTransId="{5406BD21-A878-4D78-9496-90BD94C39636}"/>
    <dgm:cxn modelId="{08DEE0F2-8954-4F09-84C7-124050F8A211}" type="presOf" srcId="{4400CF6E-BEE7-40E5-A379-5D955C76CB69}" destId="{301038DE-6DAB-4F03-B053-70506D06D86C}" srcOrd="0" destOrd="0" presId="urn:microsoft.com/office/officeart/2018/5/layout/CenteredIconLabelDescriptionList"/>
    <dgm:cxn modelId="{721E0E52-EF54-4DB1-A548-6ED2FFE6612A}" type="presParOf" srcId="{79CDDB5F-3F28-43CF-9A86-3B22792D85DF}" destId="{35ACE5CD-7485-4D8A-8859-0584BCDFC38B}" srcOrd="0" destOrd="0" presId="urn:microsoft.com/office/officeart/2018/5/layout/CenteredIconLabelDescriptionList"/>
    <dgm:cxn modelId="{1FBE7DA6-67F9-466B-9280-DC6BC53FF4A3}" type="presParOf" srcId="{35ACE5CD-7485-4D8A-8859-0584BCDFC38B}" destId="{F7B4E0E8-373A-4EE9-9CE6-4432101FC166}" srcOrd="0" destOrd="0" presId="urn:microsoft.com/office/officeart/2018/5/layout/CenteredIconLabelDescriptionList"/>
    <dgm:cxn modelId="{8EC7DDCE-B969-4C95-9149-A435E2401F13}" type="presParOf" srcId="{35ACE5CD-7485-4D8A-8859-0584BCDFC38B}" destId="{61C5BDE3-D2C5-4FCF-A1D0-FCE3211A3626}" srcOrd="1" destOrd="0" presId="urn:microsoft.com/office/officeart/2018/5/layout/CenteredIconLabelDescriptionList"/>
    <dgm:cxn modelId="{E3D9325F-987C-4EBC-858E-F4BA1E029F5E}" type="presParOf" srcId="{35ACE5CD-7485-4D8A-8859-0584BCDFC38B}" destId="{31EEDDC0-7174-4C88-8709-6D464B6C613E}" srcOrd="2" destOrd="0" presId="urn:microsoft.com/office/officeart/2018/5/layout/CenteredIconLabelDescriptionList"/>
    <dgm:cxn modelId="{BFE47223-FF94-451D-971E-06B95CB24A7C}" type="presParOf" srcId="{35ACE5CD-7485-4D8A-8859-0584BCDFC38B}" destId="{85FCA937-57A9-4CB9-B2B0-471273F81FE5}" srcOrd="3" destOrd="0" presId="urn:microsoft.com/office/officeart/2018/5/layout/CenteredIconLabelDescriptionList"/>
    <dgm:cxn modelId="{4583B435-5061-4BC8-BE4E-3FBC0E1C9526}" type="presParOf" srcId="{35ACE5CD-7485-4D8A-8859-0584BCDFC38B}" destId="{301038DE-6DAB-4F03-B053-70506D06D86C}" srcOrd="4" destOrd="0" presId="urn:microsoft.com/office/officeart/2018/5/layout/CenteredIconLabelDescriptionList"/>
    <dgm:cxn modelId="{ACA4F5D3-0D9C-4EDD-84C5-38B71FB603CF}" type="presParOf" srcId="{79CDDB5F-3F28-43CF-9A86-3B22792D85DF}" destId="{78B7DCA1-36F3-47CD-B2F9-17D1FC098B2B}" srcOrd="1" destOrd="0" presId="urn:microsoft.com/office/officeart/2018/5/layout/CenteredIconLabelDescriptionList"/>
    <dgm:cxn modelId="{FD30FC3D-701F-4F2A-A3CF-268B9E90DEA4}" type="presParOf" srcId="{79CDDB5F-3F28-43CF-9A86-3B22792D85DF}" destId="{87079980-0219-4FC1-8A08-1D3FC5BC3AD0}" srcOrd="2" destOrd="0" presId="urn:microsoft.com/office/officeart/2018/5/layout/CenteredIconLabelDescriptionList"/>
    <dgm:cxn modelId="{B5768D13-A536-4062-B3FF-A4BB2FDAABC1}" type="presParOf" srcId="{87079980-0219-4FC1-8A08-1D3FC5BC3AD0}" destId="{52FC22B2-D0F3-40DC-B01D-939753D51C26}" srcOrd="0" destOrd="0" presId="urn:microsoft.com/office/officeart/2018/5/layout/CenteredIconLabelDescriptionList"/>
    <dgm:cxn modelId="{A5070A52-F11E-4258-8031-18D59BF2B4DB}" type="presParOf" srcId="{87079980-0219-4FC1-8A08-1D3FC5BC3AD0}" destId="{D09BACC1-BA70-480D-B377-B13E27FEB14B}" srcOrd="1" destOrd="0" presId="urn:microsoft.com/office/officeart/2018/5/layout/CenteredIconLabelDescriptionList"/>
    <dgm:cxn modelId="{27E6BA87-3908-49DF-B771-46DC814BC6B3}" type="presParOf" srcId="{87079980-0219-4FC1-8A08-1D3FC5BC3AD0}" destId="{A883821A-D37D-4B1E-B47B-AFAFCDB5E8C0}" srcOrd="2" destOrd="0" presId="urn:microsoft.com/office/officeart/2018/5/layout/CenteredIconLabelDescriptionList"/>
    <dgm:cxn modelId="{A0D260AA-8AD9-4E0C-B9F7-97C412D18CBD}" type="presParOf" srcId="{87079980-0219-4FC1-8A08-1D3FC5BC3AD0}" destId="{6ABE90C2-A77C-4F84-A774-7BCE6857E118}" srcOrd="3" destOrd="0" presId="urn:microsoft.com/office/officeart/2018/5/layout/CenteredIconLabelDescriptionList"/>
    <dgm:cxn modelId="{C1D6C441-B02D-4249-BF2E-B962EDBC0A51}" type="presParOf" srcId="{87079980-0219-4FC1-8A08-1D3FC5BC3AD0}" destId="{8A83709E-F8AB-473A-B629-F0A50E4762A5}" srcOrd="4" destOrd="0" presId="urn:microsoft.com/office/officeart/2018/5/layout/CenteredIconLabelDescriptionList"/>
    <dgm:cxn modelId="{695CA16F-F04B-40E2-881C-1A8880456990}" type="presParOf" srcId="{79CDDB5F-3F28-43CF-9A86-3B22792D85DF}" destId="{CF06820B-C751-4D96-A767-D7E758C75195}" srcOrd="3" destOrd="0" presId="urn:microsoft.com/office/officeart/2018/5/layout/CenteredIconLabelDescriptionList"/>
    <dgm:cxn modelId="{0DDA737E-CB91-40F4-8347-5F7D148D60D6}" type="presParOf" srcId="{79CDDB5F-3F28-43CF-9A86-3B22792D85DF}" destId="{78C244D0-2DF8-4505-8551-0AC438A20C45}" srcOrd="4" destOrd="0" presId="urn:microsoft.com/office/officeart/2018/5/layout/CenteredIconLabelDescriptionList"/>
    <dgm:cxn modelId="{6BE1F530-4F8D-41D3-B357-B84B4F57C159}" type="presParOf" srcId="{78C244D0-2DF8-4505-8551-0AC438A20C45}" destId="{9F2E8EC4-F16D-4DE6-9119-873009064B85}" srcOrd="0" destOrd="0" presId="urn:microsoft.com/office/officeart/2018/5/layout/CenteredIconLabelDescriptionList"/>
    <dgm:cxn modelId="{D92750ED-DD33-4316-A4E2-2A4A8FFC2C51}" type="presParOf" srcId="{78C244D0-2DF8-4505-8551-0AC438A20C45}" destId="{F9DD8905-6A44-46C9-AF31-06F0544B851C}" srcOrd="1" destOrd="0" presId="urn:microsoft.com/office/officeart/2018/5/layout/CenteredIconLabelDescriptionList"/>
    <dgm:cxn modelId="{82D92521-725C-402A-AAF9-60D41114DEA4}" type="presParOf" srcId="{78C244D0-2DF8-4505-8551-0AC438A20C45}" destId="{AF01C75F-7792-4FAB-8680-041C88366F4F}" srcOrd="2" destOrd="0" presId="urn:microsoft.com/office/officeart/2018/5/layout/CenteredIconLabelDescriptionList"/>
    <dgm:cxn modelId="{EAC4FBFB-749E-4A5D-AE27-2F94EC233463}" type="presParOf" srcId="{78C244D0-2DF8-4505-8551-0AC438A20C45}" destId="{8DB9CA59-9274-4FD8-9440-585AD56CD180}" srcOrd="3" destOrd="0" presId="urn:microsoft.com/office/officeart/2018/5/layout/CenteredIconLabelDescriptionList"/>
    <dgm:cxn modelId="{B49AF60D-2FEA-41E9-A13D-0A1754DAA2C8}" type="presParOf" srcId="{78C244D0-2DF8-4505-8551-0AC438A20C45}" destId="{46D82777-56B8-4BF2-BD7A-FA0A1038A3E7}" srcOrd="4" destOrd="0" presId="urn:microsoft.com/office/officeart/2018/5/layout/CenteredIconLabelDescriptionList"/>
    <dgm:cxn modelId="{ACD96DC9-DC4B-4D14-A8D9-25100A3B38A2}" type="presParOf" srcId="{79CDDB5F-3F28-43CF-9A86-3B22792D85DF}" destId="{E3D6AFFA-5A74-4BB1-8CC8-60510C229D87}" srcOrd="5" destOrd="0" presId="urn:microsoft.com/office/officeart/2018/5/layout/CenteredIconLabelDescriptionList"/>
    <dgm:cxn modelId="{94A6C6D6-6B2E-4B26-AE6E-F125E1F2A811}" type="presParOf" srcId="{79CDDB5F-3F28-43CF-9A86-3B22792D85DF}" destId="{D659DE68-F57E-48A3-8140-279AB09D92C3}" srcOrd="6" destOrd="0" presId="urn:microsoft.com/office/officeart/2018/5/layout/CenteredIconLabelDescriptionList"/>
    <dgm:cxn modelId="{C07F75E0-689F-4F57-AC1D-20B2EEFA3503}" type="presParOf" srcId="{D659DE68-F57E-48A3-8140-279AB09D92C3}" destId="{A22D388F-F7E3-4B56-8CBA-048B56044790}" srcOrd="0" destOrd="0" presId="urn:microsoft.com/office/officeart/2018/5/layout/CenteredIconLabelDescriptionList"/>
    <dgm:cxn modelId="{27B33C50-A937-4159-8AFC-1AD62A8E401E}" type="presParOf" srcId="{D659DE68-F57E-48A3-8140-279AB09D92C3}" destId="{37349ACA-92A6-45A4-9562-D9F9C5047A3C}" srcOrd="1" destOrd="0" presId="urn:microsoft.com/office/officeart/2018/5/layout/CenteredIconLabelDescriptionList"/>
    <dgm:cxn modelId="{74EBF4E8-46EB-4506-9DE3-5C04023D808B}" type="presParOf" srcId="{D659DE68-F57E-48A3-8140-279AB09D92C3}" destId="{C82BA087-2955-4916-B8D8-E199F42A597C}" srcOrd="2" destOrd="0" presId="urn:microsoft.com/office/officeart/2018/5/layout/CenteredIconLabelDescriptionList"/>
    <dgm:cxn modelId="{35B0FD99-8270-45D5-96B4-985E7F7BFA66}" type="presParOf" srcId="{D659DE68-F57E-48A3-8140-279AB09D92C3}" destId="{198D4DA0-FD11-4518-A686-FC5D44A33AD7}" srcOrd="3" destOrd="0" presId="urn:microsoft.com/office/officeart/2018/5/layout/CenteredIconLabelDescriptionList"/>
    <dgm:cxn modelId="{A166AB6D-4E50-4E4E-B06E-F3AE24DB05BF}" type="presParOf" srcId="{D659DE68-F57E-48A3-8140-279AB09D92C3}" destId="{5668B3C2-2445-4213-B9DA-B7ABAEBF146B}" srcOrd="4" destOrd="0" presId="urn:microsoft.com/office/officeart/2018/5/layout/CenteredIconLabelDescriptionList"/>
    <dgm:cxn modelId="{F008A191-C35B-46F1-AE41-B85623740F9D}" type="presParOf" srcId="{79CDDB5F-3F28-43CF-9A86-3B22792D85DF}" destId="{8ADF8244-9506-44C2-9634-AB90DB327E10}" srcOrd="7" destOrd="0" presId="urn:microsoft.com/office/officeart/2018/5/layout/CenteredIconLabelDescriptionList"/>
    <dgm:cxn modelId="{1F3558ED-6F14-4BD8-BCB0-B93443868CAA}" type="presParOf" srcId="{79CDDB5F-3F28-43CF-9A86-3B22792D85DF}" destId="{CD90A539-E124-40D3-AA53-3287AF2BAC34}" srcOrd="8" destOrd="0" presId="urn:microsoft.com/office/officeart/2018/5/layout/CenteredIconLabelDescriptionList"/>
    <dgm:cxn modelId="{628C7801-AF5F-46D0-9522-C38F0E481D8F}" type="presParOf" srcId="{CD90A539-E124-40D3-AA53-3287AF2BAC34}" destId="{D6418E20-3F26-44C9-ABA8-F7FDE4219A8E}" srcOrd="0" destOrd="0" presId="urn:microsoft.com/office/officeart/2018/5/layout/CenteredIconLabelDescriptionList"/>
    <dgm:cxn modelId="{A7AA97A4-CF09-4820-969E-7FEB9569F037}" type="presParOf" srcId="{CD90A539-E124-40D3-AA53-3287AF2BAC34}" destId="{89B60D43-3122-462F-A7D9-DD5A00D862D6}" srcOrd="1" destOrd="0" presId="urn:microsoft.com/office/officeart/2018/5/layout/CenteredIconLabelDescriptionList"/>
    <dgm:cxn modelId="{E4410383-80B6-456D-8759-55C3FB9370C5}" type="presParOf" srcId="{CD90A539-E124-40D3-AA53-3287AF2BAC34}" destId="{A2F10DF6-D3A4-4F12-9A72-7991F72C5F54}" srcOrd="2" destOrd="0" presId="urn:microsoft.com/office/officeart/2018/5/layout/CenteredIconLabelDescriptionList"/>
    <dgm:cxn modelId="{4EFBADC8-8716-460A-9C29-FBEFCCC4B0ED}" type="presParOf" srcId="{CD90A539-E124-40D3-AA53-3287AF2BAC34}" destId="{145640C8-9840-46FC-89AD-1CFB65F945A2}" srcOrd="3" destOrd="0" presId="urn:microsoft.com/office/officeart/2018/5/layout/CenteredIconLabelDescriptionList"/>
    <dgm:cxn modelId="{61CD7209-A876-45AE-8DDD-8076716C0D15}" type="presParOf" srcId="{CD90A539-E124-40D3-AA53-3287AF2BAC34}" destId="{B0DD6417-0688-48AF-90EA-61ECFB823B60}"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DC9C9B-E856-4D37-8A07-E200C02452D1}"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A6544378-968F-4F71-90E4-7184F7A021E9}">
      <dgm:prSet/>
      <dgm:spPr/>
      <dgm:t>
        <a:bodyPr/>
        <a:lstStyle/>
        <a:p>
          <a:pPr>
            <a:defRPr b="1"/>
          </a:pPr>
          <a:r>
            <a:rPr lang="en-US" b="1"/>
            <a:t>Discovery of Talent by C2</a:t>
          </a:r>
          <a:endParaRPr lang="en-US"/>
        </a:p>
      </dgm:t>
    </dgm:pt>
    <dgm:pt modelId="{DA69862F-BB57-4B63-A1D4-EBFB6DC4FB8E}" type="parTrans" cxnId="{2757E723-C66A-46E6-B369-C3C65D669D9E}">
      <dgm:prSet/>
      <dgm:spPr/>
      <dgm:t>
        <a:bodyPr/>
        <a:lstStyle/>
        <a:p>
          <a:endParaRPr lang="en-US"/>
        </a:p>
      </dgm:t>
    </dgm:pt>
    <dgm:pt modelId="{25ED36B9-579C-499A-990C-CB8BE14DAFFB}" type="sibTrans" cxnId="{2757E723-C66A-46E6-B369-C3C65D669D9E}">
      <dgm:prSet/>
      <dgm:spPr/>
      <dgm:t>
        <a:bodyPr/>
        <a:lstStyle/>
        <a:p>
          <a:endParaRPr lang="en-US"/>
        </a:p>
      </dgm:t>
    </dgm:pt>
    <dgm:pt modelId="{DE0492C6-FDD1-4202-A3E4-96C03131A134}">
      <dgm:prSet/>
      <dgm:spPr/>
      <dgm:t>
        <a:bodyPr/>
        <a:lstStyle/>
        <a:p>
          <a:r>
            <a:rPr lang="en-US"/>
            <a:t>Company 2 reviews available listings and selects potential candidates.</a:t>
          </a:r>
        </a:p>
      </dgm:t>
    </dgm:pt>
    <dgm:pt modelId="{216B7487-43B8-44F2-83FD-5A6101E09768}" type="parTrans" cxnId="{AA2C78DD-C761-4D44-9CF7-B91126C0B551}">
      <dgm:prSet/>
      <dgm:spPr/>
      <dgm:t>
        <a:bodyPr/>
        <a:lstStyle/>
        <a:p>
          <a:endParaRPr lang="en-US"/>
        </a:p>
      </dgm:t>
    </dgm:pt>
    <dgm:pt modelId="{EF7D2989-5059-448B-BC11-038BF0285942}" type="sibTrans" cxnId="{AA2C78DD-C761-4D44-9CF7-B91126C0B551}">
      <dgm:prSet/>
      <dgm:spPr/>
      <dgm:t>
        <a:bodyPr/>
        <a:lstStyle/>
        <a:p>
          <a:endParaRPr lang="en-US"/>
        </a:p>
      </dgm:t>
    </dgm:pt>
    <dgm:pt modelId="{09E79089-AEFB-401A-A959-D7E8C695BC2F}">
      <dgm:prSet/>
      <dgm:spPr/>
      <dgm:t>
        <a:bodyPr/>
        <a:lstStyle/>
        <a:p>
          <a:pPr>
            <a:defRPr b="1"/>
          </a:pPr>
          <a:r>
            <a:rPr lang="en-US" b="1"/>
            <a:t>Interest Expression</a:t>
          </a:r>
          <a:endParaRPr lang="en-US"/>
        </a:p>
      </dgm:t>
    </dgm:pt>
    <dgm:pt modelId="{306FAF44-04B4-4DCF-9E29-B05225E272B8}" type="parTrans" cxnId="{9AB8B6D8-BFE2-4E24-A28D-92BD1976ECB6}">
      <dgm:prSet/>
      <dgm:spPr/>
      <dgm:t>
        <a:bodyPr/>
        <a:lstStyle/>
        <a:p>
          <a:endParaRPr lang="en-US"/>
        </a:p>
      </dgm:t>
    </dgm:pt>
    <dgm:pt modelId="{7C38F6FD-6C25-4D61-BAE1-424BF2775857}" type="sibTrans" cxnId="{9AB8B6D8-BFE2-4E24-A28D-92BD1976ECB6}">
      <dgm:prSet/>
      <dgm:spPr/>
      <dgm:t>
        <a:bodyPr/>
        <a:lstStyle/>
        <a:p>
          <a:endParaRPr lang="en-US"/>
        </a:p>
      </dgm:t>
    </dgm:pt>
    <dgm:pt modelId="{8BE725FE-2B9F-4E85-A41E-0DF341E89633}">
      <dgm:prSet/>
      <dgm:spPr/>
      <dgm:t>
        <a:bodyPr/>
        <a:lstStyle/>
        <a:p>
          <a:r>
            <a:rPr lang="en-US"/>
            <a:t>C2 expresses interest through the platform, initiating secure communication.</a:t>
          </a:r>
        </a:p>
      </dgm:t>
    </dgm:pt>
    <dgm:pt modelId="{58D4303B-6275-4726-97B6-33E44627AE52}" type="parTrans" cxnId="{D496942B-456E-4FE6-9EAB-5699BBECB7D5}">
      <dgm:prSet/>
      <dgm:spPr/>
      <dgm:t>
        <a:bodyPr/>
        <a:lstStyle/>
        <a:p>
          <a:endParaRPr lang="en-US"/>
        </a:p>
      </dgm:t>
    </dgm:pt>
    <dgm:pt modelId="{C4196578-CBA4-40FB-ADC2-4302318B168E}" type="sibTrans" cxnId="{D496942B-456E-4FE6-9EAB-5699BBECB7D5}">
      <dgm:prSet/>
      <dgm:spPr/>
      <dgm:t>
        <a:bodyPr/>
        <a:lstStyle/>
        <a:p>
          <a:endParaRPr lang="en-US"/>
        </a:p>
      </dgm:t>
    </dgm:pt>
    <dgm:pt modelId="{CCF0DA77-8355-4000-AF9D-835E7778CCCB}">
      <dgm:prSet/>
      <dgm:spPr/>
      <dgm:t>
        <a:bodyPr/>
        <a:lstStyle/>
        <a:p>
          <a:pPr>
            <a:defRPr b="1"/>
          </a:pPr>
          <a:r>
            <a:rPr lang="en-US" b="1"/>
            <a:t>Negotiation and Agreement</a:t>
          </a:r>
          <a:endParaRPr lang="en-US"/>
        </a:p>
      </dgm:t>
    </dgm:pt>
    <dgm:pt modelId="{49D3002A-4B02-4EEA-A494-09AF6E73CCDD}" type="parTrans" cxnId="{B71052C5-184F-40E9-A703-E8A19666F5DB}">
      <dgm:prSet/>
      <dgm:spPr/>
      <dgm:t>
        <a:bodyPr/>
        <a:lstStyle/>
        <a:p>
          <a:endParaRPr lang="en-US"/>
        </a:p>
      </dgm:t>
    </dgm:pt>
    <dgm:pt modelId="{68F979DA-AC3C-4543-80ED-BDCF7563D368}" type="sibTrans" cxnId="{B71052C5-184F-40E9-A703-E8A19666F5DB}">
      <dgm:prSet/>
      <dgm:spPr/>
      <dgm:t>
        <a:bodyPr/>
        <a:lstStyle/>
        <a:p>
          <a:endParaRPr lang="en-US"/>
        </a:p>
      </dgm:t>
    </dgm:pt>
    <dgm:pt modelId="{96EEF99C-5B33-4FB3-9A59-32503CD7C7F5}">
      <dgm:prSet/>
      <dgm:spPr/>
      <dgm:t>
        <a:bodyPr/>
        <a:lstStyle/>
        <a:p>
          <a:r>
            <a:rPr lang="en-US"/>
            <a:t>Secure chat opens for negotiation, contract terms are drafted, reviewed, and signed.</a:t>
          </a:r>
        </a:p>
      </dgm:t>
    </dgm:pt>
    <dgm:pt modelId="{68B4602A-641D-4B38-B0F0-7DD77C77595C}" type="parTrans" cxnId="{440A63E7-6006-4C92-A1A7-63E25E0A32E9}">
      <dgm:prSet/>
      <dgm:spPr/>
      <dgm:t>
        <a:bodyPr/>
        <a:lstStyle/>
        <a:p>
          <a:endParaRPr lang="en-US"/>
        </a:p>
      </dgm:t>
    </dgm:pt>
    <dgm:pt modelId="{70FD3394-76F0-4566-9E7B-3AFC7244FB11}" type="sibTrans" cxnId="{440A63E7-6006-4C92-A1A7-63E25E0A32E9}">
      <dgm:prSet/>
      <dgm:spPr/>
      <dgm:t>
        <a:bodyPr/>
        <a:lstStyle/>
        <a:p>
          <a:endParaRPr lang="en-US"/>
        </a:p>
      </dgm:t>
    </dgm:pt>
    <dgm:pt modelId="{1D4FCCE6-7955-437C-9C99-AF08B91B523D}">
      <dgm:prSet/>
      <dgm:spPr/>
      <dgm:t>
        <a:bodyPr/>
        <a:lstStyle/>
        <a:p>
          <a:pPr>
            <a:defRPr b="1"/>
          </a:pPr>
          <a:r>
            <a:rPr lang="en-US" b="1"/>
            <a:t>Direct Employee Engagement</a:t>
          </a:r>
          <a:endParaRPr lang="en-US"/>
        </a:p>
      </dgm:t>
    </dgm:pt>
    <dgm:pt modelId="{544262F4-031E-4C56-91ED-B1AA3871196E}" type="parTrans" cxnId="{CF52B258-168F-4EA5-995C-D8211552AA17}">
      <dgm:prSet/>
      <dgm:spPr/>
      <dgm:t>
        <a:bodyPr/>
        <a:lstStyle/>
        <a:p>
          <a:endParaRPr lang="en-US"/>
        </a:p>
      </dgm:t>
    </dgm:pt>
    <dgm:pt modelId="{09406B19-3DFE-4D01-97ED-56C6EBFB23F9}" type="sibTrans" cxnId="{CF52B258-168F-4EA5-995C-D8211552AA17}">
      <dgm:prSet/>
      <dgm:spPr/>
      <dgm:t>
        <a:bodyPr/>
        <a:lstStyle/>
        <a:p>
          <a:endParaRPr lang="en-US"/>
        </a:p>
      </dgm:t>
    </dgm:pt>
    <dgm:pt modelId="{873F42EB-AA51-4999-8746-BDF076581315}">
      <dgm:prSet/>
      <dgm:spPr/>
      <dgm:t>
        <a:bodyPr/>
        <a:lstStyle/>
        <a:p>
          <a:r>
            <a:rPr lang="en-US"/>
            <a:t>C2 engages with the employee to finalize terms and start the assignment.</a:t>
          </a:r>
        </a:p>
      </dgm:t>
    </dgm:pt>
    <dgm:pt modelId="{64A37E1F-7EC7-4112-8159-3C05C37CA3CC}" type="parTrans" cxnId="{E2066753-240A-4FE4-94AA-76323C8A32B1}">
      <dgm:prSet/>
      <dgm:spPr/>
      <dgm:t>
        <a:bodyPr/>
        <a:lstStyle/>
        <a:p>
          <a:endParaRPr lang="en-US"/>
        </a:p>
      </dgm:t>
    </dgm:pt>
    <dgm:pt modelId="{7E058809-CF1B-44EB-A916-C8E87D1D1969}" type="sibTrans" cxnId="{E2066753-240A-4FE4-94AA-76323C8A32B1}">
      <dgm:prSet/>
      <dgm:spPr/>
      <dgm:t>
        <a:bodyPr/>
        <a:lstStyle/>
        <a:p>
          <a:endParaRPr lang="en-US"/>
        </a:p>
      </dgm:t>
    </dgm:pt>
    <dgm:pt modelId="{A706EB70-8CEA-46EE-90F8-5E2FA88EF645}">
      <dgm:prSet/>
      <dgm:spPr/>
      <dgm:t>
        <a:bodyPr/>
        <a:lstStyle/>
        <a:p>
          <a:pPr>
            <a:defRPr b="1"/>
          </a:pPr>
          <a:r>
            <a:rPr lang="en-US" b="1"/>
            <a:t>Documentation and Traceability</a:t>
          </a:r>
          <a:endParaRPr lang="en-US"/>
        </a:p>
      </dgm:t>
    </dgm:pt>
    <dgm:pt modelId="{6E73B9D4-0990-41FF-A80E-71824CBAFE7B}" type="parTrans" cxnId="{6D9B97CD-5E42-40F9-9657-A7513993C36E}">
      <dgm:prSet/>
      <dgm:spPr/>
      <dgm:t>
        <a:bodyPr/>
        <a:lstStyle/>
        <a:p>
          <a:endParaRPr lang="en-US"/>
        </a:p>
      </dgm:t>
    </dgm:pt>
    <dgm:pt modelId="{134CAD95-9C58-4674-BAC3-20E0029BF94B}" type="sibTrans" cxnId="{6D9B97CD-5E42-40F9-9657-A7513993C36E}">
      <dgm:prSet/>
      <dgm:spPr/>
      <dgm:t>
        <a:bodyPr/>
        <a:lstStyle/>
        <a:p>
          <a:endParaRPr lang="en-US"/>
        </a:p>
      </dgm:t>
    </dgm:pt>
    <dgm:pt modelId="{ACD88620-E9BD-4151-A908-62D74F73672A}">
      <dgm:prSet/>
      <dgm:spPr/>
      <dgm:t>
        <a:bodyPr/>
        <a:lstStyle/>
        <a:p>
          <a:r>
            <a:rPr lang="en-US"/>
            <a:t>All terms, agreements, and communications are documented and stored securely.</a:t>
          </a:r>
        </a:p>
      </dgm:t>
    </dgm:pt>
    <dgm:pt modelId="{67422C69-EE80-4502-90A7-61F2FC9DB9CD}" type="parTrans" cxnId="{57542E84-1413-4761-BE34-DDC66A31DC02}">
      <dgm:prSet/>
      <dgm:spPr/>
      <dgm:t>
        <a:bodyPr/>
        <a:lstStyle/>
        <a:p>
          <a:endParaRPr lang="en-US"/>
        </a:p>
      </dgm:t>
    </dgm:pt>
    <dgm:pt modelId="{FD788572-5683-45CE-8FBD-BA7EF82FC328}" type="sibTrans" cxnId="{57542E84-1413-4761-BE34-DDC66A31DC02}">
      <dgm:prSet/>
      <dgm:spPr/>
      <dgm:t>
        <a:bodyPr/>
        <a:lstStyle/>
        <a:p>
          <a:endParaRPr lang="en-US"/>
        </a:p>
      </dgm:t>
    </dgm:pt>
    <dgm:pt modelId="{27BE4D54-FD56-4543-B4C9-7FF7F369CED5}" type="pres">
      <dgm:prSet presAssocID="{D8DC9C9B-E856-4D37-8A07-E200C02452D1}" presName="root" presStyleCnt="0">
        <dgm:presLayoutVars>
          <dgm:dir/>
          <dgm:resizeHandles val="exact"/>
        </dgm:presLayoutVars>
      </dgm:prSet>
      <dgm:spPr/>
    </dgm:pt>
    <dgm:pt modelId="{7CDAE50A-CFD2-4A65-9E71-F96AAEC4B857}" type="pres">
      <dgm:prSet presAssocID="{A6544378-968F-4F71-90E4-7184F7A021E9}" presName="compNode" presStyleCnt="0"/>
      <dgm:spPr/>
    </dgm:pt>
    <dgm:pt modelId="{9D00A23E-F393-4F98-867E-613978D3155A}" type="pres">
      <dgm:prSet presAssocID="{A6544378-968F-4F71-90E4-7184F7A021E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10A41197-1450-448E-BE3D-BAFF16B109D1}" type="pres">
      <dgm:prSet presAssocID="{A6544378-968F-4F71-90E4-7184F7A021E9}" presName="iconSpace" presStyleCnt="0"/>
      <dgm:spPr/>
    </dgm:pt>
    <dgm:pt modelId="{928342B3-2419-4CCE-BCB9-E4A6CF159720}" type="pres">
      <dgm:prSet presAssocID="{A6544378-968F-4F71-90E4-7184F7A021E9}" presName="parTx" presStyleLbl="revTx" presStyleIdx="0" presStyleCnt="10">
        <dgm:presLayoutVars>
          <dgm:chMax val="0"/>
          <dgm:chPref val="0"/>
        </dgm:presLayoutVars>
      </dgm:prSet>
      <dgm:spPr/>
    </dgm:pt>
    <dgm:pt modelId="{C352B7FD-5FA0-4687-BC54-91AABCEAAAB3}" type="pres">
      <dgm:prSet presAssocID="{A6544378-968F-4F71-90E4-7184F7A021E9}" presName="txSpace" presStyleCnt="0"/>
      <dgm:spPr/>
    </dgm:pt>
    <dgm:pt modelId="{6BB45414-5DF7-41F2-852A-58DCB10678B0}" type="pres">
      <dgm:prSet presAssocID="{A6544378-968F-4F71-90E4-7184F7A021E9}" presName="desTx" presStyleLbl="revTx" presStyleIdx="1" presStyleCnt="10">
        <dgm:presLayoutVars/>
      </dgm:prSet>
      <dgm:spPr/>
    </dgm:pt>
    <dgm:pt modelId="{47454085-46CD-41E8-925C-37181C8BD52F}" type="pres">
      <dgm:prSet presAssocID="{25ED36B9-579C-499A-990C-CB8BE14DAFFB}" presName="sibTrans" presStyleCnt="0"/>
      <dgm:spPr/>
    </dgm:pt>
    <dgm:pt modelId="{06AD7D65-0927-4266-9771-8CB7879D1764}" type="pres">
      <dgm:prSet presAssocID="{09E79089-AEFB-401A-A959-D7E8C695BC2F}" presName="compNode" presStyleCnt="0"/>
      <dgm:spPr/>
    </dgm:pt>
    <dgm:pt modelId="{6FA1DDE4-7303-4B85-8F3C-F66844AB3288}" type="pres">
      <dgm:prSet presAssocID="{09E79089-AEFB-401A-A959-D7E8C695BC2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titles"/>
        </a:ext>
      </dgm:extLst>
    </dgm:pt>
    <dgm:pt modelId="{3D6006AE-499A-400D-A337-335F6792B8C5}" type="pres">
      <dgm:prSet presAssocID="{09E79089-AEFB-401A-A959-D7E8C695BC2F}" presName="iconSpace" presStyleCnt="0"/>
      <dgm:spPr/>
    </dgm:pt>
    <dgm:pt modelId="{E3376D21-0F30-433B-8057-785A396212BD}" type="pres">
      <dgm:prSet presAssocID="{09E79089-AEFB-401A-A959-D7E8C695BC2F}" presName="parTx" presStyleLbl="revTx" presStyleIdx="2" presStyleCnt="10">
        <dgm:presLayoutVars>
          <dgm:chMax val="0"/>
          <dgm:chPref val="0"/>
        </dgm:presLayoutVars>
      </dgm:prSet>
      <dgm:spPr/>
    </dgm:pt>
    <dgm:pt modelId="{C97D8B45-48DB-4144-8D4E-40FFBDD87E2B}" type="pres">
      <dgm:prSet presAssocID="{09E79089-AEFB-401A-A959-D7E8C695BC2F}" presName="txSpace" presStyleCnt="0"/>
      <dgm:spPr/>
    </dgm:pt>
    <dgm:pt modelId="{79A94E98-A584-4CEA-8E14-F5006F03FCBE}" type="pres">
      <dgm:prSet presAssocID="{09E79089-AEFB-401A-A959-D7E8C695BC2F}" presName="desTx" presStyleLbl="revTx" presStyleIdx="3" presStyleCnt="10">
        <dgm:presLayoutVars/>
      </dgm:prSet>
      <dgm:spPr/>
    </dgm:pt>
    <dgm:pt modelId="{61527514-D3F7-4622-9CF3-301D2CFC6D10}" type="pres">
      <dgm:prSet presAssocID="{7C38F6FD-6C25-4D61-BAE1-424BF2775857}" presName="sibTrans" presStyleCnt="0"/>
      <dgm:spPr/>
    </dgm:pt>
    <dgm:pt modelId="{9BAB7D45-F4F4-49B1-BB40-5551759B4B69}" type="pres">
      <dgm:prSet presAssocID="{CCF0DA77-8355-4000-AF9D-835E7778CCCB}" presName="compNode" presStyleCnt="0"/>
      <dgm:spPr/>
    </dgm:pt>
    <dgm:pt modelId="{11D58440-6E7E-401C-87A7-51F57B5F8D9D}" type="pres">
      <dgm:prSet presAssocID="{CCF0DA77-8355-4000-AF9D-835E7778CCC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E785C585-41E5-42DA-A2C3-05C142F36B9A}" type="pres">
      <dgm:prSet presAssocID="{CCF0DA77-8355-4000-AF9D-835E7778CCCB}" presName="iconSpace" presStyleCnt="0"/>
      <dgm:spPr/>
    </dgm:pt>
    <dgm:pt modelId="{5C8ABE7A-94DF-4862-B929-3E28F1EB5828}" type="pres">
      <dgm:prSet presAssocID="{CCF0DA77-8355-4000-AF9D-835E7778CCCB}" presName="parTx" presStyleLbl="revTx" presStyleIdx="4" presStyleCnt="10">
        <dgm:presLayoutVars>
          <dgm:chMax val="0"/>
          <dgm:chPref val="0"/>
        </dgm:presLayoutVars>
      </dgm:prSet>
      <dgm:spPr/>
    </dgm:pt>
    <dgm:pt modelId="{B465456B-4787-4A0F-9614-D95FD5EBAD24}" type="pres">
      <dgm:prSet presAssocID="{CCF0DA77-8355-4000-AF9D-835E7778CCCB}" presName="txSpace" presStyleCnt="0"/>
      <dgm:spPr/>
    </dgm:pt>
    <dgm:pt modelId="{C2F2739E-9FD7-4E36-B162-FFA079D8A5FC}" type="pres">
      <dgm:prSet presAssocID="{CCF0DA77-8355-4000-AF9D-835E7778CCCB}" presName="desTx" presStyleLbl="revTx" presStyleIdx="5" presStyleCnt="10">
        <dgm:presLayoutVars/>
      </dgm:prSet>
      <dgm:spPr/>
    </dgm:pt>
    <dgm:pt modelId="{3D1F9D11-9FB6-4733-ACF1-4BB80736790C}" type="pres">
      <dgm:prSet presAssocID="{68F979DA-AC3C-4543-80ED-BDCF7563D368}" presName="sibTrans" presStyleCnt="0"/>
      <dgm:spPr/>
    </dgm:pt>
    <dgm:pt modelId="{AE97A39B-4DEB-4E16-86ED-948576B92B5D}" type="pres">
      <dgm:prSet presAssocID="{1D4FCCE6-7955-437C-9C99-AF08B91B523D}" presName="compNode" presStyleCnt="0"/>
      <dgm:spPr/>
    </dgm:pt>
    <dgm:pt modelId="{585B0CF3-E5D7-46ED-BF64-664C743DBF56}" type="pres">
      <dgm:prSet presAssocID="{1D4FCCE6-7955-437C-9C99-AF08B91B523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ocial Network"/>
        </a:ext>
      </dgm:extLst>
    </dgm:pt>
    <dgm:pt modelId="{F961DF9C-B93D-4FBF-9A6E-AD288730B852}" type="pres">
      <dgm:prSet presAssocID="{1D4FCCE6-7955-437C-9C99-AF08B91B523D}" presName="iconSpace" presStyleCnt="0"/>
      <dgm:spPr/>
    </dgm:pt>
    <dgm:pt modelId="{B112C44C-6FD7-4585-A5B6-F12174D115D2}" type="pres">
      <dgm:prSet presAssocID="{1D4FCCE6-7955-437C-9C99-AF08B91B523D}" presName="parTx" presStyleLbl="revTx" presStyleIdx="6" presStyleCnt="10">
        <dgm:presLayoutVars>
          <dgm:chMax val="0"/>
          <dgm:chPref val="0"/>
        </dgm:presLayoutVars>
      </dgm:prSet>
      <dgm:spPr/>
    </dgm:pt>
    <dgm:pt modelId="{C8A0947B-2442-49E7-9412-C994810357BF}" type="pres">
      <dgm:prSet presAssocID="{1D4FCCE6-7955-437C-9C99-AF08B91B523D}" presName="txSpace" presStyleCnt="0"/>
      <dgm:spPr/>
    </dgm:pt>
    <dgm:pt modelId="{FF182E98-AFFA-406D-BBDD-2B8F9A02C39A}" type="pres">
      <dgm:prSet presAssocID="{1D4FCCE6-7955-437C-9C99-AF08B91B523D}" presName="desTx" presStyleLbl="revTx" presStyleIdx="7" presStyleCnt="10">
        <dgm:presLayoutVars/>
      </dgm:prSet>
      <dgm:spPr/>
    </dgm:pt>
    <dgm:pt modelId="{B2E9511F-6AB8-4420-AD07-C31A802D1AE1}" type="pres">
      <dgm:prSet presAssocID="{09406B19-3DFE-4D01-97ED-56C6EBFB23F9}" presName="sibTrans" presStyleCnt="0"/>
      <dgm:spPr/>
    </dgm:pt>
    <dgm:pt modelId="{3B29231B-A33A-46EC-8FF5-6E2E6AEDF935}" type="pres">
      <dgm:prSet presAssocID="{A706EB70-8CEA-46EE-90F8-5E2FA88EF645}" presName="compNode" presStyleCnt="0"/>
      <dgm:spPr/>
    </dgm:pt>
    <dgm:pt modelId="{1F1DE60F-A29B-4CA4-A538-4A44D87DE2E7}" type="pres">
      <dgm:prSet presAssocID="{A706EB70-8CEA-46EE-90F8-5E2FA88EF64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2A4BBFCB-7B49-40DF-B092-EDA852CA76CF}" type="pres">
      <dgm:prSet presAssocID="{A706EB70-8CEA-46EE-90F8-5E2FA88EF645}" presName="iconSpace" presStyleCnt="0"/>
      <dgm:spPr/>
    </dgm:pt>
    <dgm:pt modelId="{9F7BD9B8-942D-4F13-93BC-73907D5C8384}" type="pres">
      <dgm:prSet presAssocID="{A706EB70-8CEA-46EE-90F8-5E2FA88EF645}" presName="parTx" presStyleLbl="revTx" presStyleIdx="8" presStyleCnt="10">
        <dgm:presLayoutVars>
          <dgm:chMax val="0"/>
          <dgm:chPref val="0"/>
        </dgm:presLayoutVars>
      </dgm:prSet>
      <dgm:spPr/>
    </dgm:pt>
    <dgm:pt modelId="{1BDF7AE6-8A5A-4071-8760-3AB13AB63AF0}" type="pres">
      <dgm:prSet presAssocID="{A706EB70-8CEA-46EE-90F8-5E2FA88EF645}" presName="txSpace" presStyleCnt="0"/>
      <dgm:spPr/>
    </dgm:pt>
    <dgm:pt modelId="{07C28610-A462-4A75-8082-58E0165BAAA6}" type="pres">
      <dgm:prSet presAssocID="{A706EB70-8CEA-46EE-90F8-5E2FA88EF645}" presName="desTx" presStyleLbl="revTx" presStyleIdx="9" presStyleCnt="10">
        <dgm:presLayoutVars/>
      </dgm:prSet>
      <dgm:spPr/>
    </dgm:pt>
  </dgm:ptLst>
  <dgm:cxnLst>
    <dgm:cxn modelId="{66067E04-98CD-427B-A592-FCDCBD58474B}" type="presOf" srcId="{ACD88620-E9BD-4151-A908-62D74F73672A}" destId="{07C28610-A462-4A75-8082-58E0165BAAA6}" srcOrd="0" destOrd="0" presId="urn:microsoft.com/office/officeart/2018/2/layout/IconLabelDescriptionList"/>
    <dgm:cxn modelId="{6C622606-4DB9-4DFF-A940-3783C41AECCD}" type="presOf" srcId="{A6544378-968F-4F71-90E4-7184F7A021E9}" destId="{928342B3-2419-4CCE-BCB9-E4A6CF159720}" srcOrd="0" destOrd="0" presId="urn:microsoft.com/office/officeart/2018/2/layout/IconLabelDescriptionList"/>
    <dgm:cxn modelId="{2757E723-C66A-46E6-B369-C3C65D669D9E}" srcId="{D8DC9C9B-E856-4D37-8A07-E200C02452D1}" destId="{A6544378-968F-4F71-90E4-7184F7A021E9}" srcOrd="0" destOrd="0" parTransId="{DA69862F-BB57-4B63-A1D4-EBFB6DC4FB8E}" sibTransId="{25ED36B9-579C-499A-990C-CB8BE14DAFFB}"/>
    <dgm:cxn modelId="{D496942B-456E-4FE6-9EAB-5699BBECB7D5}" srcId="{09E79089-AEFB-401A-A959-D7E8C695BC2F}" destId="{8BE725FE-2B9F-4E85-A41E-0DF341E89633}" srcOrd="0" destOrd="0" parTransId="{58D4303B-6275-4726-97B6-33E44627AE52}" sibTransId="{C4196578-CBA4-40FB-ADC2-4302318B168E}"/>
    <dgm:cxn modelId="{1DE5443A-F2E2-4860-B202-EF22D15AFC66}" type="presOf" srcId="{09E79089-AEFB-401A-A959-D7E8C695BC2F}" destId="{E3376D21-0F30-433B-8057-785A396212BD}" srcOrd="0" destOrd="0" presId="urn:microsoft.com/office/officeart/2018/2/layout/IconLabelDescriptionList"/>
    <dgm:cxn modelId="{A427105D-8CF6-46F9-8615-B8375EF4E30B}" type="presOf" srcId="{8BE725FE-2B9F-4E85-A41E-0DF341E89633}" destId="{79A94E98-A584-4CEA-8E14-F5006F03FCBE}" srcOrd="0" destOrd="0" presId="urn:microsoft.com/office/officeart/2018/2/layout/IconLabelDescriptionList"/>
    <dgm:cxn modelId="{FFB9C45E-0FFA-47C5-93ED-6F5FD2F6CCDE}" type="presOf" srcId="{96EEF99C-5B33-4FB3-9A59-32503CD7C7F5}" destId="{C2F2739E-9FD7-4E36-B162-FFA079D8A5FC}" srcOrd="0" destOrd="0" presId="urn:microsoft.com/office/officeart/2018/2/layout/IconLabelDescriptionList"/>
    <dgm:cxn modelId="{3CF5914A-ADC6-47AA-A589-54345620ACD6}" type="presOf" srcId="{D8DC9C9B-E856-4D37-8A07-E200C02452D1}" destId="{27BE4D54-FD56-4543-B4C9-7FF7F369CED5}" srcOrd="0" destOrd="0" presId="urn:microsoft.com/office/officeart/2018/2/layout/IconLabelDescriptionList"/>
    <dgm:cxn modelId="{F61BC64B-F43E-407F-95C3-91E526FA2062}" type="presOf" srcId="{1D4FCCE6-7955-437C-9C99-AF08B91B523D}" destId="{B112C44C-6FD7-4585-A5B6-F12174D115D2}" srcOrd="0" destOrd="0" presId="urn:microsoft.com/office/officeart/2018/2/layout/IconLabelDescriptionList"/>
    <dgm:cxn modelId="{8C38E54B-C022-4937-A701-27898F58AB98}" type="presOf" srcId="{DE0492C6-FDD1-4202-A3E4-96C03131A134}" destId="{6BB45414-5DF7-41F2-852A-58DCB10678B0}" srcOrd="0" destOrd="0" presId="urn:microsoft.com/office/officeart/2018/2/layout/IconLabelDescriptionList"/>
    <dgm:cxn modelId="{E2066753-240A-4FE4-94AA-76323C8A32B1}" srcId="{1D4FCCE6-7955-437C-9C99-AF08B91B523D}" destId="{873F42EB-AA51-4999-8746-BDF076581315}" srcOrd="0" destOrd="0" parTransId="{64A37E1F-7EC7-4112-8159-3C05C37CA3CC}" sibTransId="{7E058809-CF1B-44EB-A916-C8E87D1D1969}"/>
    <dgm:cxn modelId="{A8C8F755-F2EA-422D-8143-3A97F40AB609}" type="presOf" srcId="{A706EB70-8CEA-46EE-90F8-5E2FA88EF645}" destId="{9F7BD9B8-942D-4F13-93BC-73907D5C8384}" srcOrd="0" destOrd="0" presId="urn:microsoft.com/office/officeart/2018/2/layout/IconLabelDescriptionList"/>
    <dgm:cxn modelId="{CF52B258-168F-4EA5-995C-D8211552AA17}" srcId="{D8DC9C9B-E856-4D37-8A07-E200C02452D1}" destId="{1D4FCCE6-7955-437C-9C99-AF08B91B523D}" srcOrd="3" destOrd="0" parTransId="{544262F4-031E-4C56-91ED-B1AA3871196E}" sibTransId="{09406B19-3DFE-4D01-97ED-56C6EBFB23F9}"/>
    <dgm:cxn modelId="{612A567F-16A0-4C93-9F39-21CF63988F5D}" type="presOf" srcId="{873F42EB-AA51-4999-8746-BDF076581315}" destId="{FF182E98-AFFA-406D-BBDD-2B8F9A02C39A}" srcOrd="0" destOrd="0" presId="urn:microsoft.com/office/officeart/2018/2/layout/IconLabelDescriptionList"/>
    <dgm:cxn modelId="{57542E84-1413-4761-BE34-DDC66A31DC02}" srcId="{A706EB70-8CEA-46EE-90F8-5E2FA88EF645}" destId="{ACD88620-E9BD-4151-A908-62D74F73672A}" srcOrd="0" destOrd="0" parTransId="{67422C69-EE80-4502-90A7-61F2FC9DB9CD}" sibTransId="{FD788572-5683-45CE-8FBD-BA7EF82FC328}"/>
    <dgm:cxn modelId="{B38248AA-4DCA-40B1-AB38-0AB8D4D38BE0}" type="presOf" srcId="{CCF0DA77-8355-4000-AF9D-835E7778CCCB}" destId="{5C8ABE7A-94DF-4862-B929-3E28F1EB5828}" srcOrd="0" destOrd="0" presId="urn:microsoft.com/office/officeart/2018/2/layout/IconLabelDescriptionList"/>
    <dgm:cxn modelId="{B71052C5-184F-40E9-A703-E8A19666F5DB}" srcId="{D8DC9C9B-E856-4D37-8A07-E200C02452D1}" destId="{CCF0DA77-8355-4000-AF9D-835E7778CCCB}" srcOrd="2" destOrd="0" parTransId="{49D3002A-4B02-4EEA-A494-09AF6E73CCDD}" sibTransId="{68F979DA-AC3C-4543-80ED-BDCF7563D368}"/>
    <dgm:cxn modelId="{6D9B97CD-5E42-40F9-9657-A7513993C36E}" srcId="{D8DC9C9B-E856-4D37-8A07-E200C02452D1}" destId="{A706EB70-8CEA-46EE-90F8-5E2FA88EF645}" srcOrd="4" destOrd="0" parTransId="{6E73B9D4-0990-41FF-A80E-71824CBAFE7B}" sibTransId="{134CAD95-9C58-4674-BAC3-20E0029BF94B}"/>
    <dgm:cxn modelId="{9AB8B6D8-BFE2-4E24-A28D-92BD1976ECB6}" srcId="{D8DC9C9B-E856-4D37-8A07-E200C02452D1}" destId="{09E79089-AEFB-401A-A959-D7E8C695BC2F}" srcOrd="1" destOrd="0" parTransId="{306FAF44-04B4-4DCF-9E29-B05225E272B8}" sibTransId="{7C38F6FD-6C25-4D61-BAE1-424BF2775857}"/>
    <dgm:cxn modelId="{AA2C78DD-C761-4D44-9CF7-B91126C0B551}" srcId="{A6544378-968F-4F71-90E4-7184F7A021E9}" destId="{DE0492C6-FDD1-4202-A3E4-96C03131A134}" srcOrd="0" destOrd="0" parTransId="{216B7487-43B8-44F2-83FD-5A6101E09768}" sibTransId="{EF7D2989-5059-448B-BC11-038BF0285942}"/>
    <dgm:cxn modelId="{440A63E7-6006-4C92-A1A7-63E25E0A32E9}" srcId="{CCF0DA77-8355-4000-AF9D-835E7778CCCB}" destId="{96EEF99C-5B33-4FB3-9A59-32503CD7C7F5}" srcOrd="0" destOrd="0" parTransId="{68B4602A-641D-4B38-B0F0-7DD77C77595C}" sibTransId="{70FD3394-76F0-4566-9E7B-3AFC7244FB11}"/>
    <dgm:cxn modelId="{1AB99CDE-29C2-42C0-A325-D742B23027DD}" type="presParOf" srcId="{27BE4D54-FD56-4543-B4C9-7FF7F369CED5}" destId="{7CDAE50A-CFD2-4A65-9E71-F96AAEC4B857}" srcOrd="0" destOrd="0" presId="urn:microsoft.com/office/officeart/2018/2/layout/IconLabelDescriptionList"/>
    <dgm:cxn modelId="{82A75427-A05C-4AAC-B1D2-52461D6B3FA4}" type="presParOf" srcId="{7CDAE50A-CFD2-4A65-9E71-F96AAEC4B857}" destId="{9D00A23E-F393-4F98-867E-613978D3155A}" srcOrd="0" destOrd="0" presId="urn:microsoft.com/office/officeart/2018/2/layout/IconLabelDescriptionList"/>
    <dgm:cxn modelId="{6215DC90-87E4-497E-B911-965FD11B4A34}" type="presParOf" srcId="{7CDAE50A-CFD2-4A65-9E71-F96AAEC4B857}" destId="{10A41197-1450-448E-BE3D-BAFF16B109D1}" srcOrd="1" destOrd="0" presId="urn:microsoft.com/office/officeart/2018/2/layout/IconLabelDescriptionList"/>
    <dgm:cxn modelId="{AC68AB1C-5549-46C8-B9D6-EE699844BA62}" type="presParOf" srcId="{7CDAE50A-CFD2-4A65-9E71-F96AAEC4B857}" destId="{928342B3-2419-4CCE-BCB9-E4A6CF159720}" srcOrd="2" destOrd="0" presId="urn:microsoft.com/office/officeart/2018/2/layout/IconLabelDescriptionList"/>
    <dgm:cxn modelId="{7C39616A-C8BF-47F1-8DEE-2B1551982592}" type="presParOf" srcId="{7CDAE50A-CFD2-4A65-9E71-F96AAEC4B857}" destId="{C352B7FD-5FA0-4687-BC54-91AABCEAAAB3}" srcOrd="3" destOrd="0" presId="urn:microsoft.com/office/officeart/2018/2/layout/IconLabelDescriptionList"/>
    <dgm:cxn modelId="{43BFE3F4-AA75-4552-8310-6F0FAE36E51F}" type="presParOf" srcId="{7CDAE50A-CFD2-4A65-9E71-F96AAEC4B857}" destId="{6BB45414-5DF7-41F2-852A-58DCB10678B0}" srcOrd="4" destOrd="0" presId="urn:microsoft.com/office/officeart/2018/2/layout/IconLabelDescriptionList"/>
    <dgm:cxn modelId="{5CC1FA38-6C09-4209-9413-CF71EB514602}" type="presParOf" srcId="{27BE4D54-FD56-4543-B4C9-7FF7F369CED5}" destId="{47454085-46CD-41E8-925C-37181C8BD52F}" srcOrd="1" destOrd="0" presId="urn:microsoft.com/office/officeart/2018/2/layout/IconLabelDescriptionList"/>
    <dgm:cxn modelId="{406631ED-9D6E-4283-96EA-9D4FA1961472}" type="presParOf" srcId="{27BE4D54-FD56-4543-B4C9-7FF7F369CED5}" destId="{06AD7D65-0927-4266-9771-8CB7879D1764}" srcOrd="2" destOrd="0" presId="urn:microsoft.com/office/officeart/2018/2/layout/IconLabelDescriptionList"/>
    <dgm:cxn modelId="{6551777C-F642-4871-865E-90B932661E3E}" type="presParOf" srcId="{06AD7D65-0927-4266-9771-8CB7879D1764}" destId="{6FA1DDE4-7303-4B85-8F3C-F66844AB3288}" srcOrd="0" destOrd="0" presId="urn:microsoft.com/office/officeart/2018/2/layout/IconLabelDescriptionList"/>
    <dgm:cxn modelId="{1B4A3595-049A-4DD5-A5C2-A4446AD04D2B}" type="presParOf" srcId="{06AD7D65-0927-4266-9771-8CB7879D1764}" destId="{3D6006AE-499A-400D-A337-335F6792B8C5}" srcOrd="1" destOrd="0" presId="urn:microsoft.com/office/officeart/2018/2/layout/IconLabelDescriptionList"/>
    <dgm:cxn modelId="{B7EF7CC5-CE9F-41FD-8A97-0EE595D2BAF1}" type="presParOf" srcId="{06AD7D65-0927-4266-9771-8CB7879D1764}" destId="{E3376D21-0F30-433B-8057-785A396212BD}" srcOrd="2" destOrd="0" presId="urn:microsoft.com/office/officeart/2018/2/layout/IconLabelDescriptionList"/>
    <dgm:cxn modelId="{8E8ED1E5-5A48-4AA3-BEF4-C17414E8F8E5}" type="presParOf" srcId="{06AD7D65-0927-4266-9771-8CB7879D1764}" destId="{C97D8B45-48DB-4144-8D4E-40FFBDD87E2B}" srcOrd="3" destOrd="0" presId="urn:microsoft.com/office/officeart/2018/2/layout/IconLabelDescriptionList"/>
    <dgm:cxn modelId="{35215BCE-FE84-40B0-826C-4E8DFE859D28}" type="presParOf" srcId="{06AD7D65-0927-4266-9771-8CB7879D1764}" destId="{79A94E98-A584-4CEA-8E14-F5006F03FCBE}" srcOrd="4" destOrd="0" presId="urn:microsoft.com/office/officeart/2018/2/layout/IconLabelDescriptionList"/>
    <dgm:cxn modelId="{CA60EC54-221A-4693-A743-6745E8309722}" type="presParOf" srcId="{27BE4D54-FD56-4543-B4C9-7FF7F369CED5}" destId="{61527514-D3F7-4622-9CF3-301D2CFC6D10}" srcOrd="3" destOrd="0" presId="urn:microsoft.com/office/officeart/2018/2/layout/IconLabelDescriptionList"/>
    <dgm:cxn modelId="{4CC2B97D-6B43-49DB-BEBB-DEDA31CCDF66}" type="presParOf" srcId="{27BE4D54-FD56-4543-B4C9-7FF7F369CED5}" destId="{9BAB7D45-F4F4-49B1-BB40-5551759B4B69}" srcOrd="4" destOrd="0" presId="urn:microsoft.com/office/officeart/2018/2/layout/IconLabelDescriptionList"/>
    <dgm:cxn modelId="{AD8EB3CF-CBD3-41B2-AE6D-1DEB830DF8B6}" type="presParOf" srcId="{9BAB7D45-F4F4-49B1-BB40-5551759B4B69}" destId="{11D58440-6E7E-401C-87A7-51F57B5F8D9D}" srcOrd="0" destOrd="0" presId="urn:microsoft.com/office/officeart/2018/2/layout/IconLabelDescriptionList"/>
    <dgm:cxn modelId="{4F45DF30-E21F-4CDA-9507-5B7D4AB0FA4A}" type="presParOf" srcId="{9BAB7D45-F4F4-49B1-BB40-5551759B4B69}" destId="{E785C585-41E5-42DA-A2C3-05C142F36B9A}" srcOrd="1" destOrd="0" presId="urn:microsoft.com/office/officeart/2018/2/layout/IconLabelDescriptionList"/>
    <dgm:cxn modelId="{40B98A28-D314-4CA0-A00D-FECBBC78682A}" type="presParOf" srcId="{9BAB7D45-F4F4-49B1-BB40-5551759B4B69}" destId="{5C8ABE7A-94DF-4862-B929-3E28F1EB5828}" srcOrd="2" destOrd="0" presId="urn:microsoft.com/office/officeart/2018/2/layout/IconLabelDescriptionList"/>
    <dgm:cxn modelId="{3828FFC1-2868-4B25-86E7-57604CE20111}" type="presParOf" srcId="{9BAB7D45-F4F4-49B1-BB40-5551759B4B69}" destId="{B465456B-4787-4A0F-9614-D95FD5EBAD24}" srcOrd="3" destOrd="0" presId="urn:microsoft.com/office/officeart/2018/2/layout/IconLabelDescriptionList"/>
    <dgm:cxn modelId="{E2AF0833-B3B4-4DE0-A36C-E2075A0C5198}" type="presParOf" srcId="{9BAB7D45-F4F4-49B1-BB40-5551759B4B69}" destId="{C2F2739E-9FD7-4E36-B162-FFA079D8A5FC}" srcOrd="4" destOrd="0" presId="urn:microsoft.com/office/officeart/2018/2/layout/IconLabelDescriptionList"/>
    <dgm:cxn modelId="{754841A1-B95C-413A-9B63-765B9E3857E5}" type="presParOf" srcId="{27BE4D54-FD56-4543-B4C9-7FF7F369CED5}" destId="{3D1F9D11-9FB6-4733-ACF1-4BB80736790C}" srcOrd="5" destOrd="0" presId="urn:microsoft.com/office/officeart/2018/2/layout/IconLabelDescriptionList"/>
    <dgm:cxn modelId="{A169381A-DA63-4F1E-9A19-CFE8C8889FF5}" type="presParOf" srcId="{27BE4D54-FD56-4543-B4C9-7FF7F369CED5}" destId="{AE97A39B-4DEB-4E16-86ED-948576B92B5D}" srcOrd="6" destOrd="0" presId="urn:microsoft.com/office/officeart/2018/2/layout/IconLabelDescriptionList"/>
    <dgm:cxn modelId="{2126A660-1016-4C58-9CC9-C137B368950C}" type="presParOf" srcId="{AE97A39B-4DEB-4E16-86ED-948576B92B5D}" destId="{585B0CF3-E5D7-46ED-BF64-664C743DBF56}" srcOrd="0" destOrd="0" presId="urn:microsoft.com/office/officeart/2018/2/layout/IconLabelDescriptionList"/>
    <dgm:cxn modelId="{BE584D47-DD17-4665-92A1-69CD155A9C00}" type="presParOf" srcId="{AE97A39B-4DEB-4E16-86ED-948576B92B5D}" destId="{F961DF9C-B93D-4FBF-9A6E-AD288730B852}" srcOrd="1" destOrd="0" presId="urn:microsoft.com/office/officeart/2018/2/layout/IconLabelDescriptionList"/>
    <dgm:cxn modelId="{B57AE8B8-394C-47FF-A3CE-FB920151D49C}" type="presParOf" srcId="{AE97A39B-4DEB-4E16-86ED-948576B92B5D}" destId="{B112C44C-6FD7-4585-A5B6-F12174D115D2}" srcOrd="2" destOrd="0" presId="urn:microsoft.com/office/officeart/2018/2/layout/IconLabelDescriptionList"/>
    <dgm:cxn modelId="{856439B4-35FC-4572-B1AD-5515847DCD10}" type="presParOf" srcId="{AE97A39B-4DEB-4E16-86ED-948576B92B5D}" destId="{C8A0947B-2442-49E7-9412-C994810357BF}" srcOrd="3" destOrd="0" presId="urn:microsoft.com/office/officeart/2018/2/layout/IconLabelDescriptionList"/>
    <dgm:cxn modelId="{E3FA2CFA-D25A-4409-B26C-E6B5570CDD2D}" type="presParOf" srcId="{AE97A39B-4DEB-4E16-86ED-948576B92B5D}" destId="{FF182E98-AFFA-406D-BBDD-2B8F9A02C39A}" srcOrd="4" destOrd="0" presId="urn:microsoft.com/office/officeart/2018/2/layout/IconLabelDescriptionList"/>
    <dgm:cxn modelId="{58D0B3B3-4E7B-4E06-9736-29C67B610FEA}" type="presParOf" srcId="{27BE4D54-FD56-4543-B4C9-7FF7F369CED5}" destId="{B2E9511F-6AB8-4420-AD07-C31A802D1AE1}" srcOrd="7" destOrd="0" presId="urn:microsoft.com/office/officeart/2018/2/layout/IconLabelDescriptionList"/>
    <dgm:cxn modelId="{0ED64E1A-F716-4BCB-830A-3F3C4CC864BE}" type="presParOf" srcId="{27BE4D54-FD56-4543-B4C9-7FF7F369CED5}" destId="{3B29231B-A33A-46EC-8FF5-6E2E6AEDF935}" srcOrd="8" destOrd="0" presId="urn:microsoft.com/office/officeart/2018/2/layout/IconLabelDescriptionList"/>
    <dgm:cxn modelId="{94A5C769-FA15-4D5C-AAB2-462743D52224}" type="presParOf" srcId="{3B29231B-A33A-46EC-8FF5-6E2E6AEDF935}" destId="{1F1DE60F-A29B-4CA4-A538-4A44D87DE2E7}" srcOrd="0" destOrd="0" presId="urn:microsoft.com/office/officeart/2018/2/layout/IconLabelDescriptionList"/>
    <dgm:cxn modelId="{C2663786-1377-41C8-8086-FF84D393899E}" type="presParOf" srcId="{3B29231B-A33A-46EC-8FF5-6E2E6AEDF935}" destId="{2A4BBFCB-7B49-40DF-B092-EDA852CA76CF}" srcOrd="1" destOrd="0" presId="urn:microsoft.com/office/officeart/2018/2/layout/IconLabelDescriptionList"/>
    <dgm:cxn modelId="{1F5E4129-DA7C-45AA-AFE0-3853C008A0DA}" type="presParOf" srcId="{3B29231B-A33A-46EC-8FF5-6E2E6AEDF935}" destId="{9F7BD9B8-942D-4F13-93BC-73907D5C8384}" srcOrd="2" destOrd="0" presId="urn:microsoft.com/office/officeart/2018/2/layout/IconLabelDescriptionList"/>
    <dgm:cxn modelId="{5C9BA0B0-6A82-40AD-BBCE-9224E3FC3FEB}" type="presParOf" srcId="{3B29231B-A33A-46EC-8FF5-6E2E6AEDF935}" destId="{1BDF7AE6-8A5A-4071-8760-3AB13AB63AF0}" srcOrd="3" destOrd="0" presId="urn:microsoft.com/office/officeart/2018/2/layout/IconLabelDescriptionList"/>
    <dgm:cxn modelId="{E0D93FA7-1FEF-4FEA-B1FC-B12050620233}" type="presParOf" srcId="{3B29231B-A33A-46EC-8FF5-6E2E6AEDF935}" destId="{07C28610-A462-4A75-8082-58E0165BAAA6}"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AC7A84-0681-4CA9-A39F-0275E88083F5}">
      <dsp:nvSpPr>
        <dsp:cNvPr id="0" name=""/>
        <dsp:cNvSpPr/>
      </dsp:nvSpPr>
      <dsp:spPr>
        <a:xfrm>
          <a:off x="10022" y="689387"/>
          <a:ext cx="3966442" cy="1189932"/>
        </a:xfrm>
        <a:prstGeom prst="chevron">
          <a:avLst>
            <a:gd name="adj" fmla="val 3000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924" tIns="146924" rIns="146924" bIns="146924" numCol="1" spcCol="1270" anchor="ctr" anchorCtr="0">
          <a:noAutofit/>
        </a:bodyPr>
        <a:lstStyle/>
        <a:p>
          <a:pPr marL="0" lvl="0" indent="0" algn="ctr" defTabSz="1244600">
            <a:lnSpc>
              <a:spcPct val="90000"/>
            </a:lnSpc>
            <a:spcBef>
              <a:spcPct val="0"/>
            </a:spcBef>
            <a:spcAft>
              <a:spcPct val="35000"/>
            </a:spcAft>
            <a:buNone/>
            <a:defRPr b="1"/>
          </a:pPr>
          <a:r>
            <a:rPr lang="en-US" sz="2800" b="1" kern="1200"/>
            <a:t>Overview</a:t>
          </a:r>
          <a:endParaRPr lang="en-US" sz="2800" kern="1200"/>
        </a:p>
      </dsp:txBody>
      <dsp:txXfrm>
        <a:off x="367002" y="689387"/>
        <a:ext cx="3252482" cy="1189932"/>
      </dsp:txXfrm>
    </dsp:sp>
    <dsp:sp modelId="{80E4C698-1F40-4DB1-B9C0-E657FBC5490F}">
      <dsp:nvSpPr>
        <dsp:cNvPr id="0" name=""/>
        <dsp:cNvSpPr/>
      </dsp:nvSpPr>
      <dsp:spPr>
        <a:xfrm>
          <a:off x="10022" y="1879320"/>
          <a:ext cx="3609462" cy="2760148"/>
        </a:xfrm>
        <a:prstGeom prst="rect">
          <a:avLst/>
        </a:prstGeom>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228" tIns="285228" rIns="285228" bIns="570456" numCol="1" spcCol="1270" anchor="t" anchorCtr="0">
          <a:noAutofit/>
        </a:bodyPr>
        <a:lstStyle/>
        <a:p>
          <a:pPr marL="0" lvl="0" indent="0" algn="l" defTabSz="577850">
            <a:lnSpc>
              <a:spcPct val="90000"/>
            </a:lnSpc>
            <a:spcBef>
              <a:spcPct val="0"/>
            </a:spcBef>
            <a:spcAft>
              <a:spcPct val="35000"/>
            </a:spcAft>
            <a:buNone/>
          </a:pPr>
          <a:r>
            <a:rPr lang="en-US" sz="1300" kern="1200"/>
            <a:t>Companies struggle to adapt manpower quickly to changing demands.</a:t>
          </a:r>
        </a:p>
        <a:p>
          <a:pPr marL="0" lvl="0" indent="0" algn="l" defTabSz="577850">
            <a:lnSpc>
              <a:spcPct val="90000"/>
            </a:lnSpc>
            <a:spcBef>
              <a:spcPct val="0"/>
            </a:spcBef>
            <a:spcAft>
              <a:spcPct val="35000"/>
            </a:spcAft>
            <a:buNone/>
          </a:pPr>
          <a:r>
            <a:rPr lang="en-US" sz="1300" kern="1200"/>
            <a:t>Recruitment and training of new employees is time-consuming and costly.</a:t>
          </a:r>
        </a:p>
      </dsp:txBody>
      <dsp:txXfrm>
        <a:off x="10022" y="1879320"/>
        <a:ext cx="3609462" cy="2760148"/>
      </dsp:txXfrm>
    </dsp:sp>
    <dsp:sp modelId="{6163A308-7E03-460E-8ECA-FE00F29571CE}">
      <dsp:nvSpPr>
        <dsp:cNvPr id="0" name=""/>
        <dsp:cNvSpPr/>
      </dsp:nvSpPr>
      <dsp:spPr>
        <a:xfrm>
          <a:off x="3917515" y="689387"/>
          <a:ext cx="3966442" cy="1189932"/>
        </a:xfrm>
        <a:prstGeom prst="chevron">
          <a:avLst>
            <a:gd name="adj" fmla="val 3000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924" tIns="146924" rIns="146924" bIns="146924" numCol="1" spcCol="1270" anchor="ctr" anchorCtr="0">
          <a:noAutofit/>
        </a:bodyPr>
        <a:lstStyle/>
        <a:p>
          <a:pPr marL="0" lvl="0" indent="0" algn="ctr" defTabSz="1244600">
            <a:lnSpc>
              <a:spcPct val="90000"/>
            </a:lnSpc>
            <a:spcBef>
              <a:spcPct val="0"/>
            </a:spcBef>
            <a:spcAft>
              <a:spcPct val="35000"/>
            </a:spcAft>
            <a:buNone/>
            <a:defRPr b="1"/>
          </a:pPr>
          <a:r>
            <a:rPr lang="en-US" sz="2800" b="1" kern="1200"/>
            <a:t>Challenges</a:t>
          </a:r>
          <a:endParaRPr lang="en-US" sz="2800" kern="1200"/>
        </a:p>
      </dsp:txBody>
      <dsp:txXfrm>
        <a:off x="4274495" y="689387"/>
        <a:ext cx="3252482" cy="1189932"/>
      </dsp:txXfrm>
    </dsp:sp>
    <dsp:sp modelId="{A6F0EDB7-88BF-4604-B499-F2BEA9B2E38F}">
      <dsp:nvSpPr>
        <dsp:cNvPr id="0" name=""/>
        <dsp:cNvSpPr/>
      </dsp:nvSpPr>
      <dsp:spPr>
        <a:xfrm>
          <a:off x="3917515" y="1879320"/>
          <a:ext cx="3609462" cy="2760148"/>
        </a:xfrm>
        <a:prstGeom prst="rect">
          <a:avLst/>
        </a:prstGeom>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228" tIns="285228" rIns="285228" bIns="570456" numCol="1" spcCol="1270" anchor="t" anchorCtr="0">
          <a:noAutofit/>
        </a:bodyPr>
        <a:lstStyle/>
        <a:p>
          <a:pPr marL="0" lvl="0" indent="0" algn="l" defTabSz="577850">
            <a:lnSpc>
              <a:spcPct val="90000"/>
            </a:lnSpc>
            <a:spcBef>
              <a:spcPct val="0"/>
            </a:spcBef>
            <a:spcAft>
              <a:spcPct val="35000"/>
            </a:spcAft>
            <a:buNone/>
          </a:pPr>
          <a:r>
            <a:rPr lang="en-US" sz="1300" kern="1200"/>
            <a:t>Operational inefficiencies during periods of </a:t>
          </a:r>
          <a:r>
            <a:rPr lang="en-US" sz="1300" kern="1200">
              <a:latin typeface="Calibri Light" panose="020F0302020204030204"/>
            </a:rPr>
            <a:t>high</a:t>
          </a:r>
          <a:r>
            <a:rPr lang="en-US" sz="1300" kern="1200"/>
            <a:t> demand. </a:t>
          </a:r>
          <a:r>
            <a:rPr lang="en-US" sz="1300" kern="1200">
              <a:latin typeface="Calibri Light" panose="020F0302020204030204"/>
            </a:rPr>
            <a:t>Companies</a:t>
          </a:r>
          <a:r>
            <a:rPr lang="en-US" sz="1300" kern="1200"/>
            <a:t> who struggle to find employees for a specific need and lack workforce in their branches.</a:t>
          </a:r>
        </a:p>
        <a:p>
          <a:pPr marL="0" lvl="0" indent="0" algn="l" defTabSz="577850" rtl="0">
            <a:lnSpc>
              <a:spcPct val="90000"/>
            </a:lnSpc>
            <a:spcBef>
              <a:spcPct val="0"/>
            </a:spcBef>
            <a:spcAft>
              <a:spcPct val="35000"/>
            </a:spcAft>
            <a:buNone/>
          </a:pPr>
          <a:r>
            <a:rPr lang="en-US" sz="1300" kern="1200" dirty="0"/>
            <a:t>Financial inefficiency due to idle workforce. Some companies struggle with overcapacity, which leads to employee insufficient work-time and lack of having tasks or active projects to work on</a:t>
          </a:r>
          <a:r>
            <a:rPr lang="en-US" sz="1300" kern="1200" dirty="0">
              <a:latin typeface="Calibri Light" panose="020F0302020204030204"/>
            </a:rPr>
            <a:t> – further reflecting on their annual/hourly salary</a:t>
          </a:r>
          <a:r>
            <a:rPr lang="en-US" sz="1300" kern="1200" dirty="0"/>
            <a:t>.</a:t>
          </a:r>
        </a:p>
      </dsp:txBody>
      <dsp:txXfrm>
        <a:off x="3917515" y="1879320"/>
        <a:ext cx="3609462" cy="2760148"/>
      </dsp:txXfrm>
    </dsp:sp>
    <dsp:sp modelId="{3CED8005-D737-478E-A4EA-7D2FE3E4A4F6}">
      <dsp:nvSpPr>
        <dsp:cNvPr id="0" name=""/>
        <dsp:cNvSpPr/>
      </dsp:nvSpPr>
      <dsp:spPr>
        <a:xfrm>
          <a:off x="7825008" y="689387"/>
          <a:ext cx="3966442" cy="1189932"/>
        </a:xfrm>
        <a:prstGeom prst="chevron">
          <a:avLst>
            <a:gd name="adj" fmla="val 3000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924" tIns="146924" rIns="146924" bIns="146924" numCol="1" spcCol="1270" anchor="ctr" anchorCtr="0">
          <a:noAutofit/>
        </a:bodyPr>
        <a:lstStyle/>
        <a:p>
          <a:pPr marL="0" lvl="0" indent="0" algn="ctr" defTabSz="1244600">
            <a:lnSpc>
              <a:spcPct val="90000"/>
            </a:lnSpc>
            <a:spcBef>
              <a:spcPct val="0"/>
            </a:spcBef>
            <a:spcAft>
              <a:spcPct val="35000"/>
            </a:spcAft>
            <a:buNone/>
            <a:defRPr b="1"/>
          </a:pPr>
          <a:r>
            <a:rPr lang="en-US" sz="2800" b="1" kern="1200"/>
            <a:t>Solution</a:t>
          </a:r>
          <a:endParaRPr lang="en-US" sz="2800" kern="1200"/>
        </a:p>
      </dsp:txBody>
      <dsp:txXfrm>
        <a:off x="8181988" y="689387"/>
        <a:ext cx="3252482" cy="1189932"/>
      </dsp:txXfrm>
    </dsp:sp>
    <dsp:sp modelId="{FA8B4781-6F0F-4095-B0CD-15ADC0037093}">
      <dsp:nvSpPr>
        <dsp:cNvPr id="0" name=""/>
        <dsp:cNvSpPr/>
      </dsp:nvSpPr>
      <dsp:spPr>
        <a:xfrm>
          <a:off x="7825008" y="1879320"/>
          <a:ext cx="3609462" cy="2760148"/>
        </a:xfrm>
        <a:prstGeom prst="rect">
          <a:avLst/>
        </a:prstGeom>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228" tIns="285228" rIns="285228" bIns="570456" numCol="1" spcCol="1270" anchor="t" anchorCtr="0">
          <a:noAutofit/>
        </a:bodyPr>
        <a:lstStyle/>
        <a:p>
          <a:pPr marL="0" lvl="0" indent="0" algn="l" defTabSz="577850">
            <a:lnSpc>
              <a:spcPct val="90000"/>
            </a:lnSpc>
            <a:spcBef>
              <a:spcPct val="0"/>
            </a:spcBef>
            <a:spcAft>
              <a:spcPct val="35000"/>
            </a:spcAft>
            <a:buNone/>
          </a:pPr>
          <a:r>
            <a:rPr lang="en-US" sz="1300" kern="1200"/>
            <a:t>Balancing workforce needs between companies through temporary employee exchanges. Companies who need employees for a specific job, skill, tool or any other reason, can search for companies who loan their employees about the same needs for a specific period of time.</a:t>
          </a:r>
        </a:p>
      </dsp:txBody>
      <dsp:txXfrm>
        <a:off x="7825008" y="1879320"/>
        <a:ext cx="3609462" cy="27601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B4E0E8-373A-4EE9-9CE6-4432101FC166}">
      <dsp:nvSpPr>
        <dsp:cNvPr id="0" name=""/>
        <dsp:cNvSpPr/>
      </dsp:nvSpPr>
      <dsp:spPr>
        <a:xfrm>
          <a:off x="624532" y="1376191"/>
          <a:ext cx="668144" cy="6681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EEDDC0-7174-4C88-8709-6D464B6C613E}">
      <dsp:nvSpPr>
        <dsp:cNvPr id="0" name=""/>
        <dsp:cNvSpPr/>
      </dsp:nvSpPr>
      <dsp:spPr>
        <a:xfrm>
          <a:off x="4112" y="2141169"/>
          <a:ext cx="1908984" cy="438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Company 1 (Lessor) and Company 2 (Lessee</a:t>
          </a:r>
          <a:r>
            <a:rPr lang="en-US" sz="1400" b="1" kern="1200">
              <a:latin typeface="Calibri Light" panose="020F0302020204030204"/>
            </a:rPr>
            <a:t>)</a:t>
          </a:r>
          <a:endParaRPr lang="en-US" sz="1400" kern="1200"/>
        </a:p>
      </dsp:txBody>
      <dsp:txXfrm>
        <a:off x="4112" y="2141169"/>
        <a:ext cx="1908984" cy="438469"/>
      </dsp:txXfrm>
    </dsp:sp>
    <dsp:sp modelId="{301038DE-6DAB-4F03-B053-70506D06D86C}">
      <dsp:nvSpPr>
        <dsp:cNvPr id="0" name=""/>
        <dsp:cNvSpPr/>
      </dsp:nvSpPr>
      <dsp:spPr>
        <a:xfrm>
          <a:off x="4112" y="2624678"/>
          <a:ext cx="1908984" cy="1003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Use a Docker image to host the web application within their environments.</a:t>
          </a:r>
        </a:p>
      </dsp:txBody>
      <dsp:txXfrm>
        <a:off x="4112" y="2624678"/>
        <a:ext cx="1908984" cy="1003462"/>
      </dsp:txXfrm>
    </dsp:sp>
    <dsp:sp modelId="{52FC22B2-D0F3-40DC-B01D-939753D51C26}">
      <dsp:nvSpPr>
        <dsp:cNvPr id="0" name=""/>
        <dsp:cNvSpPr/>
      </dsp:nvSpPr>
      <dsp:spPr>
        <a:xfrm>
          <a:off x="2867589" y="1376191"/>
          <a:ext cx="668144" cy="6681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83821A-D37D-4B1E-B47B-AFAFCDB5E8C0}">
      <dsp:nvSpPr>
        <dsp:cNvPr id="0" name=""/>
        <dsp:cNvSpPr/>
      </dsp:nvSpPr>
      <dsp:spPr>
        <a:xfrm>
          <a:off x="2247169" y="2141169"/>
          <a:ext cx="1908984" cy="438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Platform</a:t>
          </a:r>
          <a:endParaRPr lang="en-US" sz="1400" kern="1200"/>
        </a:p>
      </dsp:txBody>
      <dsp:txXfrm>
        <a:off x="2247169" y="2141169"/>
        <a:ext cx="1908984" cy="438469"/>
      </dsp:txXfrm>
    </dsp:sp>
    <dsp:sp modelId="{8A83709E-F8AB-473A-B629-F0A50E4762A5}">
      <dsp:nvSpPr>
        <dsp:cNvPr id="0" name=""/>
        <dsp:cNvSpPr/>
      </dsp:nvSpPr>
      <dsp:spPr>
        <a:xfrm>
          <a:off x="2247169" y="2624678"/>
          <a:ext cx="1908984" cy="1003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Accessed through a specific port tunneled by the Docker image for security.</a:t>
          </a:r>
        </a:p>
      </dsp:txBody>
      <dsp:txXfrm>
        <a:off x="2247169" y="2624678"/>
        <a:ext cx="1908984" cy="1003462"/>
      </dsp:txXfrm>
    </dsp:sp>
    <dsp:sp modelId="{9F2E8EC4-F16D-4DE6-9119-873009064B85}">
      <dsp:nvSpPr>
        <dsp:cNvPr id="0" name=""/>
        <dsp:cNvSpPr/>
      </dsp:nvSpPr>
      <dsp:spPr>
        <a:xfrm>
          <a:off x="5110645" y="1376191"/>
          <a:ext cx="668144" cy="6681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01C75F-7792-4FAB-8680-041C88366F4F}">
      <dsp:nvSpPr>
        <dsp:cNvPr id="0" name=""/>
        <dsp:cNvSpPr/>
      </dsp:nvSpPr>
      <dsp:spPr>
        <a:xfrm>
          <a:off x="4490225" y="2141169"/>
          <a:ext cx="1908984" cy="438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Central Server</a:t>
          </a:r>
          <a:endParaRPr lang="en-US" sz="1400" kern="1200"/>
        </a:p>
      </dsp:txBody>
      <dsp:txXfrm>
        <a:off x="4490225" y="2141169"/>
        <a:ext cx="1908984" cy="438469"/>
      </dsp:txXfrm>
    </dsp:sp>
    <dsp:sp modelId="{46D82777-56B8-4BF2-BD7A-FA0A1038A3E7}">
      <dsp:nvSpPr>
        <dsp:cNvPr id="0" name=""/>
        <dsp:cNvSpPr/>
      </dsp:nvSpPr>
      <dsp:spPr>
        <a:xfrm>
          <a:off x="4490225" y="2624678"/>
          <a:ext cx="1908984" cy="1003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Hosts a database with non-personal data about employee availability.</a:t>
          </a:r>
        </a:p>
      </dsp:txBody>
      <dsp:txXfrm>
        <a:off x="4490225" y="2624678"/>
        <a:ext cx="1908984" cy="1003462"/>
      </dsp:txXfrm>
    </dsp:sp>
    <dsp:sp modelId="{A22D388F-F7E3-4B56-8CBA-048B56044790}">
      <dsp:nvSpPr>
        <dsp:cNvPr id="0" name=""/>
        <dsp:cNvSpPr/>
      </dsp:nvSpPr>
      <dsp:spPr>
        <a:xfrm>
          <a:off x="7353702" y="1376191"/>
          <a:ext cx="668144" cy="6681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2BA087-2955-4916-B8D8-E199F42A597C}">
      <dsp:nvSpPr>
        <dsp:cNvPr id="0" name=""/>
        <dsp:cNvSpPr/>
      </dsp:nvSpPr>
      <dsp:spPr>
        <a:xfrm>
          <a:off x="6733282" y="2141169"/>
          <a:ext cx="1908984" cy="438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Chat System</a:t>
          </a:r>
          <a:endParaRPr lang="en-US" sz="1400" kern="1200"/>
        </a:p>
      </dsp:txBody>
      <dsp:txXfrm>
        <a:off x="6733282" y="2141169"/>
        <a:ext cx="1908984" cy="438469"/>
      </dsp:txXfrm>
    </dsp:sp>
    <dsp:sp modelId="{5668B3C2-2445-4213-B9DA-B7ABAEBF146B}">
      <dsp:nvSpPr>
        <dsp:cNvPr id="0" name=""/>
        <dsp:cNvSpPr/>
      </dsp:nvSpPr>
      <dsp:spPr>
        <a:xfrm>
          <a:off x="6733282" y="2624678"/>
          <a:ext cx="1908984" cy="1003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Facilitates secure communication between companies.</a:t>
          </a:r>
        </a:p>
      </dsp:txBody>
      <dsp:txXfrm>
        <a:off x="6733282" y="2624678"/>
        <a:ext cx="1908984" cy="1003462"/>
      </dsp:txXfrm>
    </dsp:sp>
    <dsp:sp modelId="{D6418E20-3F26-44C9-ABA8-F7FDE4219A8E}">
      <dsp:nvSpPr>
        <dsp:cNvPr id="0" name=""/>
        <dsp:cNvSpPr/>
      </dsp:nvSpPr>
      <dsp:spPr>
        <a:xfrm>
          <a:off x="9596759" y="1376191"/>
          <a:ext cx="668144" cy="6681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F10DF6-D3A4-4F12-9A72-7991F72C5F54}">
      <dsp:nvSpPr>
        <dsp:cNvPr id="0" name=""/>
        <dsp:cNvSpPr/>
      </dsp:nvSpPr>
      <dsp:spPr>
        <a:xfrm>
          <a:off x="8976339" y="2141169"/>
          <a:ext cx="1908984" cy="438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Contract Management System</a:t>
          </a:r>
          <a:endParaRPr lang="en-US" sz="1400" kern="1200"/>
        </a:p>
      </dsp:txBody>
      <dsp:txXfrm>
        <a:off x="8976339" y="2141169"/>
        <a:ext cx="1908984" cy="438469"/>
      </dsp:txXfrm>
    </dsp:sp>
    <dsp:sp modelId="{B0DD6417-0688-48AF-90EA-61ECFB823B60}">
      <dsp:nvSpPr>
        <dsp:cNvPr id="0" name=""/>
        <dsp:cNvSpPr/>
      </dsp:nvSpPr>
      <dsp:spPr>
        <a:xfrm>
          <a:off x="8976339" y="2624678"/>
          <a:ext cx="1908984" cy="1003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Integrated for generating, signing, and storing leasing contracts.</a:t>
          </a:r>
        </a:p>
      </dsp:txBody>
      <dsp:txXfrm>
        <a:off x="8976339" y="2624678"/>
        <a:ext cx="1908984" cy="10034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0A23E-F393-4F98-867E-613978D3155A}">
      <dsp:nvSpPr>
        <dsp:cNvPr id="0" name=""/>
        <dsp:cNvSpPr/>
      </dsp:nvSpPr>
      <dsp:spPr>
        <a:xfrm>
          <a:off x="3557" y="1196617"/>
          <a:ext cx="645257" cy="6452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8342B3-2419-4CCE-BCB9-E4A6CF159720}">
      <dsp:nvSpPr>
        <dsp:cNvPr id="0" name=""/>
        <dsp:cNvSpPr/>
      </dsp:nvSpPr>
      <dsp:spPr>
        <a:xfrm>
          <a:off x="3557" y="1926074"/>
          <a:ext cx="1843593" cy="397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Discovery of Talent by C2</a:t>
          </a:r>
          <a:endParaRPr lang="en-US" sz="1400" kern="1200"/>
        </a:p>
      </dsp:txBody>
      <dsp:txXfrm>
        <a:off x="3557" y="1926074"/>
        <a:ext cx="1843593" cy="397524"/>
      </dsp:txXfrm>
    </dsp:sp>
    <dsp:sp modelId="{6BB45414-5DF7-41F2-852A-58DCB10678B0}">
      <dsp:nvSpPr>
        <dsp:cNvPr id="0" name=""/>
        <dsp:cNvSpPr/>
      </dsp:nvSpPr>
      <dsp:spPr>
        <a:xfrm>
          <a:off x="3557" y="2362761"/>
          <a:ext cx="1843593" cy="791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Company 2 reviews available listings and selects potential candidates.</a:t>
          </a:r>
        </a:p>
      </dsp:txBody>
      <dsp:txXfrm>
        <a:off x="3557" y="2362761"/>
        <a:ext cx="1843593" cy="791958"/>
      </dsp:txXfrm>
    </dsp:sp>
    <dsp:sp modelId="{6FA1DDE4-7303-4B85-8F3C-F66844AB3288}">
      <dsp:nvSpPr>
        <dsp:cNvPr id="0" name=""/>
        <dsp:cNvSpPr/>
      </dsp:nvSpPr>
      <dsp:spPr>
        <a:xfrm>
          <a:off x="2169780" y="1196617"/>
          <a:ext cx="645257" cy="6452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376D21-0F30-433B-8057-785A396212BD}">
      <dsp:nvSpPr>
        <dsp:cNvPr id="0" name=""/>
        <dsp:cNvSpPr/>
      </dsp:nvSpPr>
      <dsp:spPr>
        <a:xfrm>
          <a:off x="2169780" y="1926074"/>
          <a:ext cx="1843593" cy="397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Interest Expression</a:t>
          </a:r>
          <a:endParaRPr lang="en-US" sz="1400" kern="1200"/>
        </a:p>
      </dsp:txBody>
      <dsp:txXfrm>
        <a:off x="2169780" y="1926074"/>
        <a:ext cx="1843593" cy="397524"/>
      </dsp:txXfrm>
    </dsp:sp>
    <dsp:sp modelId="{79A94E98-A584-4CEA-8E14-F5006F03FCBE}">
      <dsp:nvSpPr>
        <dsp:cNvPr id="0" name=""/>
        <dsp:cNvSpPr/>
      </dsp:nvSpPr>
      <dsp:spPr>
        <a:xfrm>
          <a:off x="2169780" y="2362761"/>
          <a:ext cx="1843593" cy="791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C2 expresses interest through the platform, initiating secure communication.</a:t>
          </a:r>
        </a:p>
      </dsp:txBody>
      <dsp:txXfrm>
        <a:off x="2169780" y="2362761"/>
        <a:ext cx="1843593" cy="791958"/>
      </dsp:txXfrm>
    </dsp:sp>
    <dsp:sp modelId="{11D58440-6E7E-401C-87A7-51F57B5F8D9D}">
      <dsp:nvSpPr>
        <dsp:cNvPr id="0" name=""/>
        <dsp:cNvSpPr/>
      </dsp:nvSpPr>
      <dsp:spPr>
        <a:xfrm>
          <a:off x="4336003" y="1196617"/>
          <a:ext cx="645257" cy="6452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8ABE7A-94DF-4862-B929-3E28F1EB5828}">
      <dsp:nvSpPr>
        <dsp:cNvPr id="0" name=""/>
        <dsp:cNvSpPr/>
      </dsp:nvSpPr>
      <dsp:spPr>
        <a:xfrm>
          <a:off x="4336003" y="1926074"/>
          <a:ext cx="1843593" cy="397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Negotiation and Agreement</a:t>
          </a:r>
          <a:endParaRPr lang="en-US" sz="1400" kern="1200"/>
        </a:p>
      </dsp:txBody>
      <dsp:txXfrm>
        <a:off x="4336003" y="1926074"/>
        <a:ext cx="1843593" cy="397524"/>
      </dsp:txXfrm>
    </dsp:sp>
    <dsp:sp modelId="{C2F2739E-9FD7-4E36-B162-FFA079D8A5FC}">
      <dsp:nvSpPr>
        <dsp:cNvPr id="0" name=""/>
        <dsp:cNvSpPr/>
      </dsp:nvSpPr>
      <dsp:spPr>
        <a:xfrm>
          <a:off x="4336003" y="2362761"/>
          <a:ext cx="1843593" cy="791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Secure chat opens for negotiation, contract terms are drafted, reviewed, and signed.</a:t>
          </a:r>
        </a:p>
      </dsp:txBody>
      <dsp:txXfrm>
        <a:off x="4336003" y="2362761"/>
        <a:ext cx="1843593" cy="791958"/>
      </dsp:txXfrm>
    </dsp:sp>
    <dsp:sp modelId="{585B0CF3-E5D7-46ED-BF64-664C743DBF56}">
      <dsp:nvSpPr>
        <dsp:cNvPr id="0" name=""/>
        <dsp:cNvSpPr/>
      </dsp:nvSpPr>
      <dsp:spPr>
        <a:xfrm>
          <a:off x="6502225" y="1196617"/>
          <a:ext cx="645257" cy="6452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12C44C-6FD7-4585-A5B6-F12174D115D2}">
      <dsp:nvSpPr>
        <dsp:cNvPr id="0" name=""/>
        <dsp:cNvSpPr/>
      </dsp:nvSpPr>
      <dsp:spPr>
        <a:xfrm>
          <a:off x="6502225" y="1926074"/>
          <a:ext cx="1843593" cy="397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Direct Employee Engagement</a:t>
          </a:r>
          <a:endParaRPr lang="en-US" sz="1400" kern="1200"/>
        </a:p>
      </dsp:txBody>
      <dsp:txXfrm>
        <a:off x="6502225" y="1926074"/>
        <a:ext cx="1843593" cy="397524"/>
      </dsp:txXfrm>
    </dsp:sp>
    <dsp:sp modelId="{FF182E98-AFFA-406D-BBDD-2B8F9A02C39A}">
      <dsp:nvSpPr>
        <dsp:cNvPr id="0" name=""/>
        <dsp:cNvSpPr/>
      </dsp:nvSpPr>
      <dsp:spPr>
        <a:xfrm>
          <a:off x="6502225" y="2362761"/>
          <a:ext cx="1843593" cy="791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C2 engages with the employee to finalize terms and start the assignment.</a:t>
          </a:r>
        </a:p>
      </dsp:txBody>
      <dsp:txXfrm>
        <a:off x="6502225" y="2362761"/>
        <a:ext cx="1843593" cy="791958"/>
      </dsp:txXfrm>
    </dsp:sp>
    <dsp:sp modelId="{1F1DE60F-A29B-4CA4-A538-4A44D87DE2E7}">
      <dsp:nvSpPr>
        <dsp:cNvPr id="0" name=""/>
        <dsp:cNvSpPr/>
      </dsp:nvSpPr>
      <dsp:spPr>
        <a:xfrm>
          <a:off x="8668448" y="1196617"/>
          <a:ext cx="645257" cy="64525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7BD9B8-942D-4F13-93BC-73907D5C8384}">
      <dsp:nvSpPr>
        <dsp:cNvPr id="0" name=""/>
        <dsp:cNvSpPr/>
      </dsp:nvSpPr>
      <dsp:spPr>
        <a:xfrm>
          <a:off x="8668448" y="1926074"/>
          <a:ext cx="1843593" cy="397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Documentation and Traceability</a:t>
          </a:r>
          <a:endParaRPr lang="en-US" sz="1400" kern="1200"/>
        </a:p>
      </dsp:txBody>
      <dsp:txXfrm>
        <a:off x="8668448" y="1926074"/>
        <a:ext cx="1843593" cy="397524"/>
      </dsp:txXfrm>
    </dsp:sp>
    <dsp:sp modelId="{07C28610-A462-4A75-8082-58E0165BAAA6}">
      <dsp:nvSpPr>
        <dsp:cNvPr id="0" name=""/>
        <dsp:cNvSpPr/>
      </dsp:nvSpPr>
      <dsp:spPr>
        <a:xfrm>
          <a:off x="8668448" y="2362761"/>
          <a:ext cx="1843593" cy="791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All terms, agreements, and communications are documented and stored securely.</a:t>
          </a:r>
        </a:p>
      </dsp:txBody>
      <dsp:txXfrm>
        <a:off x="8668448" y="2362761"/>
        <a:ext cx="1843593" cy="791958"/>
      </dsp:txXfrm>
    </dsp:sp>
  </dsp:spTree>
</dsp:drawing>
</file>

<file path=ppt/diagrams/layout1.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3407B-7DF1-8CB1-6191-F527453B4C95}"/>
              </a:ext>
            </a:extLst>
          </p:cNvPr>
          <p:cNvSpPr>
            <a:spLocks noGrp="1"/>
          </p:cNvSpPr>
          <p:nvPr>
            <p:ph type="ctrTitle"/>
          </p:nvPr>
        </p:nvSpPr>
        <p:spPr>
          <a:xfrm>
            <a:off x="1524000" y="945668"/>
            <a:ext cx="9144000" cy="929140"/>
          </a:xfrm>
        </p:spPr>
        <p:txBody>
          <a:bodyPr>
            <a:normAutofit/>
          </a:bodyPr>
          <a:lstStyle/>
          <a:p>
            <a:r>
              <a:rPr lang="en-US" sz="4400" b="1">
                <a:latin typeface="Calibri"/>
                <a:ea typeface="Calibri"/>
                <a:cs typeface="Calibri"/>
              </a:rPr>
              <a:t>BALANCED WORKFORCE</a:t>
            </a:r>
          </a:p>
        </p:txBody>
      </p:sp>
      <p:sp>
        <p:nvSpPr>
          <p:cNvPr id="3" name="Subtitle 2">
            <a:extLst>
              <a:ext uri="{FF2B5EF4-FFF2-40B4-BE49-F238E27FC236}">
                <a16:creationId xmlns:a16="http://schemas.microsoft.com/office/drawing/2014/main" id="{7D0CD9BC-B26E-A45B-36F9-86C97E8D5BE6}"/>
              </a:ext>
            </a:extLst>
          </p:cNvPr>
          <p:cNvSpPr>
            <a:spLocks noGrp="1"/>
          </p:cNvSpPr>
          <p:nvPr>
            <p:ph type="subTitle" idx="1"/>
          </p:nvPr>
        </p:nvSpPr>
        <p:spPr>
          <a:xfrm>
            <a:off x="2" y="3012855"/>
            <a:ext cx="12191997" cy="1567213"/>
          </a:xfrm>
        </p:spPr>
        <p:txBody>
          <a:bodyPr vert="horz" lIns="91440" tIns="45720" rIns="91440" bIns="45720" rtlCol="0" anchor="t">
            <a:normAutofit/>
          </a:bodyPr>
          <a:lstStyle/>
          <a:p>
            <a:r>
              <a:rPr lang="en-US" sz="2600" i="1">
                <a:ea typeface="+mn-lt"/>
                <a:cs typeface="+mn-lt"/>
              </a:rPr>
              <a:t>Final presentation in Design of Governance in Socio-Technical Information Systems</a:t>
            </a:r>
          </a:p>
          <a:p>
            <a:endParaRPr lang="en-US" sz="2600" i="1">
              <a:ea typeface="+mn-lt"/>
              <a:cs typeface="+mn-lt"/>
            </a:endParaRPr>
          </a:p>
          <a:p>
            <a:r>
              <a:rPr lang="en-US" sz="2000" i="1">
                <a:ea typeface="+mn-lt"/>
                <a:cs typeface="+mn-lt"/>
              </a:rPr>
              <a:t>University of Neuchatel, 27.05.2024</a:t>
            </a:r>
          </a:p>
        </p:txBody>
      </p:sp>
      <p:sp>
        <p:nvSpPr>
          <p:cNvPr id="5" name="TextBox 4">
            <a:extLst>
              <a:ext uri="{FF2B5EF4-FFF2-40B4-BE49-F238E27FC236}">
                <a16:creationId xmlns:a16="http://schemas.microsoft.com/office/drawing/2014/main" id="{8D4BE802-B058-705A-7A7B-FA441F81F033}"/>
              </a:ext>
            </a:extLst>
          </p:cNvPr>
          <p:cNvSpPr txBox="1"/>
          <p:nvPr/>
        </p:nvSpPr>
        <p:spPr>
          <a:xfrm>
            <a:off x="307836" y="5528814"/>
            <a:ext cx="1188243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a:ea typeface="Calibri"/>
              <a:cs typeface="Calibri"/>
            </a:endParaRPr>
          </a:p>
          <a:p>
            <a:r>
              <a:rPr lang="en-US" sz="2000">
                <a:ea typeface="Calibri"/>
                <a:cs typeface="Calibri"/>
              </a:rPr>
              <a:t>Melody </a:t>
            </a:r>
            <a:r>
              <a:rPr lang="en-US" sz="2000" err="1">
                <a:ea typeface="Calibri"/>
                <a:cs typeface="Calibri"/>
              </a:rPr>
              <a:t>Amaizu</a:t>
            </a:r>
            <a:br>
              <a:rPr lang="en-US" sz="2000">
                <a:ea typeface="Calibri"/>
                <a:cs typeface="Calibri"/>
              </a:rPr>
            </a:br>
            <a:r>
              <a:rPr lang="en-US" sz="2000">
                <a:ea typeface="Calibri"/>
                <a:cs typeface="Calibri"/>
              </a:rPr>
              <a:t>Martin </a:t>
            </a:r>
            <a:r>
              <a:rPr lang="en-US" sz="2000" err="1">
                <a:ea typeface="Calibri"/>
                <a:cs typeface="Calibri"/>
              </a:rPr>
              <a:t>Stojkovski</a:t>
            </a:r>
            <a:r>
              <a:rPr lang="en-US" sz="2000">
                <a:ea typeface="Calibri"/>
                <a:cs typeface="Calibri"/>
              </a:rPr>
              <a:t>                                                                                                        Professor: Alain Sandoz</a:t>
            </a:r>
          </a:p>
          <a:p>
            <a:r>
              <a:rPr lang="en-US" sz="2000">
                <a:ea typeface="Calibri"/>
                <a:cs typeface="Calibri"/>
              </a:rPr>
              <a:t>Ariton Verush                                                                                                              Assistant: Andreas A</a:t>
            </a:r>
            <a:r>
              <a:rPr lang="en-US" sz="2000">
                <a:ea typeface="+mn-lt"/>
                <a:cs typeface="+mn-lt"/>
              </a:rPr>
              <a:t>thanasopoulos</a:t>
            </a:r>
            <a:endParaRPr lang="en-US" sz="2000">
              <a:ea typeface="Calibri"/>
              <a:cs typeface="Calibri"/>
            </a:endParaRPr>
          </a:p>
        </p:txBody>
      </p:sp>
    </p:spTree>
    <p:extLst>
      <p:ext uri="{BB962C8B-B14F-4D97-AF65-F5344CB8AC3E}">
        <p14:creationId xmlns:p14="http://schemas.microsoft.com/office/powerpoint/2010/main" val="52081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62DE8A-BD20-E44B-2483-92566BE00F60}"/>
              </a:ext>
            </a:extLst>
          </p:cNvPr>
          <p:cNvSpPr>
            <a:spLocks noGrp="1"/>
          </p:cNvSpPr>
          <p:nvPr>
            <p:ph type="title"/>
          </p:nvPr>
        </p:nvSpPr>
        <p:spPr>
          <a:xfrm>
            <a:off x="838200" y="557188"/>
            <a:ext cx="10515600" cy="1133499"/>
          </a:xfrm>
        </p:spPr>
        <p:txBody>
          <a:bodyPr>
            <a:normAutofit/>
          </a:bodyPr>
          <a:lstStyle/>
          <a:p>
            <a:pPr algn="ctr"/>
            <a:r>
              <a:rPr lang="en-US" b="1">
                <a:latin typeface="Calibri"/>
                <a:ea typeface="Calibri"/>
                <a:cs typeface="Calibri"/>
              </a:rPr>
              <a:t>INTRODUCTION TO BALANCED WORKFORCE</a:t>
            </a:r>
            <a:endParaRPr lang="en-US">
              <a:latin typeface="Calibri"/>
              <a:ea typeface="Calibri"/>
              <a:cs typeface="Calibri"/>
            </a:endParaRPr>
          </a:p>
        </p:txBody>
      </p:sp>
      <p:graphicFrame>
        <p:nvGraphicFramePr>
          <p:cNvPr id="5" name="Content Placeholder 2">
            <a:extLst>
              <a:ext uri="{FF2B5EF4-FFF2-40B4-BE49-F238E27FC236}">
                <a16:creationId xmlns:a16="http://schemas.microsoft.com/office/drawing/2014/main" id="{27CE1FC2-D0B2-0032-62BB-62944611ECDC}"/>
              </a:ext>
            </a:extLst>
          </p:cNvPr>
          <p:cNvGraphicFramePr>
            <a:graphicFrameLocks noGrp="1"/>
          </p:cNvGraphicFramePr>
          <p:nvPr>
            <p:ph idx="1"/>
            <p:extLst>
              <p:ext uri="{D42A27DB-BD31-4B8C-83A1-F6EECF244321}">
                <p14:modId xmlns:p14="http://schemas.microsoft.com/office/powerpoint/2010/main" val="2915573649"/>
              </p:ext>
            </p:extLst>
          </p:nvPr>
        </p:nvGraphicFramePr>
        <p:xfrm>
          <a:off x="171451" y="1531144"/>
          <a:ext cx="11801474" cy="53288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3976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C4104F-33DE-005F-4058-C0C8935F5070}"/>
              </a:ext>
            </a:extLst>
          </p:cNvPr>
          <p:cNvSpPr>
            <a:spLocks noGrp="1"/>
          </p:cNvSpPr>
          <p:nvPr>
            <p:ph type="title"/>
          </p:nvPr>
        </p:nvSpPr>
        <p:spPr>
          <a:xfrm>
            <a:off x="686834" y="1153572"/>
            <a:ext cx="3200400" cy="4461163"/>
          </a:xfrm>
        </p:spPr>
        <p:txBody>
          <a:bodyPr>
            <a:normAutofit/>
          </a:bodyPr>
          <a:lstStyle/>
          <a:p>
            <a:r>
              <a:rPr lang="en-US" sz="3400" b="1">
                <a:solidFill>
                  <a:srgbClr val="FFFFFF"/>
                </a:solidFill>
                <a:latin typeface="Calibri"/>
                <a:ea typeface="Calibri"/>
                <a:cs typeface="Calibri"/>
              </a:rPr>
              <a:t>PROJECT REQUIREMENTS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Content Placeholder 2">
            <a:extLst>
              <a:ext uri="{FF2B5EF4-FFF2-40B4-BE49-F238E27FC236}">
                <a16:creationId xmlns:a16="http://schemas.microsoft.com/office/drawing/2014/main" id="{E1A20391-4567-3A4E-C7E8-1EF000F38993}"/>
              </a:ext>
            </a:extLst>
          </p:cNvPr>
          <p:cNvSpPr>
            <a:spLocks noGrp="1"/>
          </p:cNvSpPr>
          <p:nvPr>
            <p:ph idx="1"/>
          </p:nvPr>
        </p:nvSpPr>
        <p:spPr>
          <a:xfrm>
            <a:off x="4447308" y="329407"/>
            <a:ext cx="6906491" cy="5847556"/>
          </a:xfrm>
        </p:spPr>
        <p:txBody>
          <a:bodyPr vert="horz" lIns="91440" tIns="45720" rIns="91440" bIns="45720" rtlCol="0" anchor="ctr">
            <a:noAutofit/>
          </a:bodyPr>
          <a:lstStyle/>
          <a:p>
            <a:pPr marL="0" indent="0">
              <a:buNone/>
            </a:pPr>
            <a:r>
              <a:rPr lang="en-US" sz="2000" b="1">
                <a:ea typeface="+mn-lt"/>
                <a:cs typeface="+mn-lt"/>
              </a:rPr>
              <a:t>Technology Connector</a:t>
            </a:r>
            <a:endParaRPr lang="en-US" sz="2000">
              <a:ea typeface="Calibri" panose="020F0502020204030204"/>
              <a:cs typeface="Calibri" panose="020F0502020204030204"/>
            </a:endParaRPr>
          </a:p>
          <a:p>
            <a:pPr lvl="1"/>
            <a:r>
              <a:rPr lang="en-US" sz="2000">
                <a:ea typeface="+mn-lt"/>
                <a:cs typeface="+mn-lt"/>
              </a:rPr>
              <a:t>Digital marketplace tool for listing and requesting temporary team members.</a:t>
            </a:r>
            <a:endParaRPr lang="en-US" sz="2000">
              <a:ea typeface="Calibri"/>
              <a:cs typeface="Calibri"/>
            </a:endParaRPr>
          </a:p>
          <a:p>
            <a:pPr lvl="1"/>
            <a:r>
              <a:rPr lang="en-US" sz="2000">
                <a:ea typeface="+mn-lt"/>
                <a:cs typeface="+mn-lt"/>
              </a:rPr>
              <a:t>Requires Information and Communication Technologies(ICT) for platform development, security, and data privacy.</a:t>
            </a:r>
            <a:endParaRPr lang="en-US" sz="2000">
              <a:ea typeface="Calibri"/>
              <a:cs typeface="Calibri"/>
            </a:endParaRPr>
          </a:p>
          <a:p>
            <a:pPr marL="0" indent="0">
              <a:buNone/>
            </a:pPr>
            <a:r>
              <a:rPr lang="en-US" sz="2000" b="1">
                <a:ea typeface="+mn-lt"/>
                <a:cs typeface="+mn-lt"/>
              </a:rPr>
              <a:t>Governance Framework</a:t>
            </a:r>
            <a:endParaRPr lang="en-US" sz="2000">
              <a:ea typeface="Calibri"/>
              <a:cs typeface="Calibri"/>
            </a:endParaRPr>
          </a:p>
          <a:p>
            <a:pPr lvl="1"/>
            <a:r>
              <a:rPr lang="en-US" sz="2000">
                <a:ea typeface="+mn-lt"/>
                <a:cs typeface="+mn-lt"/>
              </a:rPr>
              <a:t>Policies are mandatory to be followed for leasing terms, financial arrangements, contracts signed according to the laws and responsibilities of each side involved.</a:t>
            </a:r>
            <a:endParaRPr lang="en-US" sz="2000">
              <a:ea typeface="Calibri"/>
              <a:cs typeface="Calibri"/>
            </a:endParaRPr>
          </a:p>
          <a:p>
            <a:pPr marL="0" indent="0">
              <a:buNone/>
            </a:pPr>
            <a:r>
              <a:rPr lang="en-US" sz="2000" b="1">
                <a:ea typeface="+mn-lt"/>
                <a:cs typeface="+mn-lt"/>
              </a:rPr>
              <a:t>Performance Mechanisms</a:t>
            </a:r>
            <a:endParaRPr lang="en-US" sz="2000">
              <a:ea typeface="Calibri"/>
              <a:cs typeface="Calibri"/>
            </a:endParaRPr>
          </a:p>
          <a:p>
            <a:pPr lvl="1"/>
            <a:r>
              <a:rPr lang="en-US" sz="2000">
                <a:ea typeface="+mn-lt"/>
                <a:cs typeface="+mn-lt"/>
              </a:rPr>
              <a:t>Systems for evaluating performance and facilitating knowledge transfer. Collective feedback of employees about their experience during lease time. </a:t>
            </a:r>
            <a:endParaRPr lang="en-US" sz="2000">
              <a:ea typeface="Calibri"/>
              <a:cs typeface="Calibri"/>
            </a:endParaRPr>
          </a:p>
          <a:p>
            <a:pPr marL="0" indent="0">
              <a:buNone/>
            </a:pPr>
            <a:r>
              <a:rPr lang="en-US" sz="2000" b="1">
                <a:ea typeface="+mn-lt"/>
                <a:cs typeface="+mn-lt"/>
              </a:rPr>
              <a:t>Cultural and Ethical Considerations</a:t>
            </a:r>
            <a:endParaRPr lang="en-US" sz="2000">
              <a:ea typeface="Calibri"/>
              <a:cs typeface="Calibri"/>
            </a:endParaRPr>
          </a:p>
          <a:p>
            <a:pPr lvl="1"/>
            <a:r>
              <a:rPr lang="en-US" sz="2000">
                <a:ea typeface="+mn-lt"/>
                <a:cs typeface="+mn-lt"/>
              </a:rPr>
              <a:t>Addressing corporate culture, achieving employee's loyalty, and shutting down discrimination while being loaned.</a:t>
            </a:r>
            <a:endParaRPr lang="en-US" sz="2000">
              <a:ea typeface="Calibri"/>
              <a:cs typeface="Calibri"/>
            </a:endParaRPr>
          </a:p>
          <a:p>
            <a:endParaRPr lang="en-US" sz="2000">
              <a:ea typeface="Calibri"/>
              <a:cs typeface="Calibri"/>
            </a:endParaRPr>
          </a:p>
        </p:txBody>
      </p:sp>
    </p:spTree>
    <p:extLst>
      <p:ext uri="{BB962C8B-B14F-4D97-AF65-F5344CB8AC3E}">
        <p14:creationId xmlns:p14="http://schemas.microsoft.com/office/powerpoint/2010/main" val="100302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Recruitment Management">
            <a:extLst>
              <a:ext uri="{FF2B5EF4-FFF2-40B4-BE49-F238E27FC236}">
                <a16:creationId xmlns:a16="http://schemas.microsoft.com/office/drawing/2014/main" id="{7568082D-ECB4-E40B-7FA8-1B8017464F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35" name="Freeform: Shape 34">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722BF0CE-60CD-3D95-736E-9BA44FAEBBAB}"/>
              </a:ext>
            </a:extLst>
          </p:cNvPr>
          <p:cNvSpPr>
            <a:spLocks noGrp="1"/>
          </p:cNvSpPr>
          <p:nvPr>
            <p:ph type="title"/>
          </p:nvPr>
        </p:nvSpPr>
        <p:spPr>
          <a:xfrm>
            <a:off x="5759354" y="457201"/>
            <a:ext cx="5337270" cy="1835911"/>
          </a:xfrm>
        </p:spPr>
        <p:txBody>
          <a:bodyPr anchor="b">
            <a:normAutofit/>
          </a:bodyPr>
          <a:lstStyle/>
          <a:p>
            <a:r>
              <a:rPr lang="en-US" sz="5400" b="1">
                <a:solidFill>
                  <a:srgbClr val="FFFFFF"/>
                </a:solidFill>
                <a:latin typeface="Calibri"/>
                <a:ea typeface="Calibri"/>
                <a:cs typeface="Calibri"/>
              </a:rPr>
              <a:t>STAKEHOLDERS INVOLVED</a:t>
            </a:r>
          </a:p>
        </p:txBody>
      </p:sp>
      <p:sp>
        <p:nvSpPr>
          <p:cNvPr id="37" name="sketch line">
            <a:extLst>
              <a:ext uri="{FF2B5EF4-FFF2-40B4-BE49-F238E27FC236}">
                <a16:creationId xmlns:a16="http://schemas.microsoft.com/office/drawing/2014/main" id="{49B530FE-A87D-41A0-A920-ADC6539EA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9353" y="2560829"/>
            <a:ext cx="5029200" cy="18288"/>
          </a:xfrm>
          <a:custGeom>
            <a:avLst/>
            <a:gdLst>
              <a:gd name="connsiteX0" fmla="*/ 0 w 5029200"/>
              <a:gd name="connsiteY0" fmla="*/ 0 h 18288"/>
              <a:gd name="connsiteX1" fmla="*/ 528066 w 5029200"/>
              <a:gd name="connsiteY1" fmla="*/ 0 h 18288"/>
              <a:gd name="connsiteX2" fmla="*/ 1207008 w 5029200"/>
              <a:gd name="connsiteY2" fmla="*/ 0 h 18288"/>
              <a:gd name="connsiteX3" fmla="*/ 1785366 w 5029200"/>
              <a:gd name="connsiteY3" fmla="*/ 0 h 18288"/>
              <a:gd name="connsiteX4" fmla="*/ 2313432 w 5029200"/>
              <a:gd name="connsiteY4" fmla="*/ 0 h 18288"/>
              <a:gd name="connsiteX5" fmla="*/ 2992374 w 5029200"/>
              <a:gd name="connsiteY5" fmla="*/ 0 h 18288"/>
              <a:gd name="connsiteX6" fmla="*/ 3621024 w 5029200"/>
              <a:gd name="connsiteY6" fmla="*/ 0 h 18288"/>
              <a:gd name="connsiteX7" fmla="*/ 4249674 w 5029200"/>
              <a:gd name="connsiteY7" fmla="*/ 0 h 18288"/>
              <a:gd name="connsiteX8" fmla="*/ 5029200 w 5029200"/>
              <a:gd name="connsiteY8" fmla="*/ 0 h 18288"/>
              <a:gd name="connsiteX9" fmla="*/ 5029200 w 5029200"/>
              <a:gd name="connsiteY9" fmla="*/ 18288 h 18288"/>
              <a:gd name="connsiteX10" fmla="*/ 4501134 w 5029200"/>
              <a:gd name="connsiteY10" fmla="*/ 18288 h 18288"/>
              <a:gd name="connsiteX11" fmla="*/ 4023360 w 5029200"/>
              <a:gd name="connsiteY11" fmla="*/ 18288 h 18288"/>
              <a:gd name="connsiteX12" fmla="*/ 3344418 w 5029200"/>
              <a:gd name="connsiteY12" fmla="*/ 18288 h 18288"/>
              <a:gd name="connsiteX13" fmla="*/ 2816352 w 5029200"/>
              <a:gd name="connsiteY13" fmla="*/ 18288 h 18288"/>
              <a:gd name="connsiteX14" fmla="*/ 2137410 w 5029200"/>
              <a:gd name="connsiteY14" fmla="*/ 18288 h 18288"/>
              <a:gd name="connsiteX15" fmla="*/ 1408176 w 5029200"/>
              <a:gd name="connsiteY15" fmla="*/ 18288 h 18288"/>
              <a:gd name="connsiteX16" fmla="*/ 829818 w 5029200"/>
              <a:gd name="connsiteY16" fmla="*/ 18288 h 18288"/>
              <a:gd name="connsiteX17" fmla="*/ 0 w 5029200"/>
              <a:gd name="connsiteY17" fmla="*/ 18288 h 18288"/>
              <a:gd name="connsiteX18" fmla="*/ 0 w 5029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9200" h="18288" fill="none" extrusionOk="0">
                <a:moveTo>
                  <a:pt x="0" y="0"/>
                </a:moveTo>
                <a:cubicBezTo>
                  <a:pt x="142937" y="1696"/>
                  <a:pt x="371859" y="12840"/>
                  <a:pt x="528066" y="0"/>
                </a:cubicBezTo>
                <a:cubicBezTo>
                  <a:pt x="684273" y="-12840"/>
                  <a:pt x="928949" y="-5725"/>
                  <a:pt x="1207008" y="0"/>
                </a:cubicBezTo>
                <a:cubicBezTo>
                  <a:pt x="1485067" y="5725"/>
                  <a:pt x="1562886" y="-21331"/>
                  <a:pt x="1785366" y="0"/>
                </a:cubicBezTo>
                <a:cubicBezTo>
                  <a:pt x="2007846" y="21331"/>
                  <a:pt x="2056226" y="25221"/>
                  <a:pt x="2313432" y="0"/>
                </a:cubicBezTo>
                <a:cubicBezTo>
                  <a:pt x="2570638" y="-25221"/>
                  <a:pt x="2732455" y="16294"/>
                  <a:pt x="2992374" y="0"/>
                </a:cubicBezTo>
                <a:cubicBezTo>
                  <a:pt x="3252293" y="-16294"/>
                  <a:pt x="3319267" y="-29774"/>
                  <a:pt x="3621024" y="0"/>
                </a:cubicBezTo>
                <a:cubicBezTo>
                  <a:pt x="3922781" y="29774"/>
                  <a:pt x="3998107" y="-1004"/>
                  <a:pt x="4249674" y="0"/>
                </a:cubicBezTo>
                <a:cubicBezTo>
                  <a:pt x="4501241" y="1004"/>
                  <a:pt x="4792523" y="-4510"/>
                  <a:pt x="5029200" y="0"/>
                </a:cubicBezTo>
                <a:cubicBezTo>
                  <a:pt x="5029730" y="6954"/>
                  <a:pt x="5029934" y="12839"/>
                  <a:pt x="5029200" y="18288"/>
                </a:cubicBezTo>
                <a:cubicBezTo>
                  <a:pt x="4805432" y="23154"/>
                  <a:pt x="4715801" y="17034"/>
                  <a:pt x="4501134" y="18288"/>
                </a:cubicBezTo>
                <a:cubicBezTo>
                  <a:pt x="4286467" y="19542"/>
                  <a:pt x="4193719" y="41701"/>
                  <a:pt x="4023360" y="18288"/>
                </a:cubicBezTo>
                <a:cubicBezTo>
                  <a:pt x="3853001" y="-5125"/>
                  <a:pt x="3676466" y="16909"/>
                  <a:pt x="3344418" y="18288"/>
                </a:cubicBezTo>
                <a:cubicBezTo>
                  <a:pt x="3012370" y="19667"/>
                  <a:pt x="2945824" y="14410"/>
                  <a:pt x="2816352" y="18288"/>
                </a:cubicBezTo>
                <a:cubicBezTo>
                  <a:pt x="2686880" y="22166"/>
                  <a:pt x="2438351" y="13507"/>
                  <a:pt x="2137410" y="18288"/>
                </a:cubicBezTo>
                <a:cubicBezTo>
                  <a:pt x="1836469" y="23069"/>
                  <a:pt x="1581391" y="46111"/>
                  <a:pt x="1408176" y="18288"/>
                </a:cubicBezTo>
                <a:cubicBezTo>
                  <a:pt x="1234961" y="-9535"/>
                  <a:pt x="1040489" y="-7495"/>
                  <a:pt x="829818" y="18288"/>
                </a:cubicBezTo>
                <a:cubicBezTo>
                  <a:pt x="619147" y="44071"/>
                  <a:pt x="238626" y="37568"/>
                  <a:pt x="0" y="18288"/>
                </a:cubicBezTo>
                <a:cubicBezTo>
                  <a:pt x="-570" y="9279"/>
                  <a:pt x="132" y="5100"/>
                  <a:pt x="0" y="0"/>
                </a:cubicBezTo>
                <a:close/>
              </a:path>
              <a:path w="5029200" h="18288" stroke="0" extrusionOk="0">
                <a:moveTo>
                  <a:pt x="0" y="0"/>
                </a:moveTo>
                <a:cubicBezTo>
                  <a:pt x="165412" y="-21137"/>
                  <a:pt x="322344" y="-21985"/>
                  <a:pt x="578358" y="0"/>
                </a:cubicBezTo>
                <a:cubicBezTo>
                  <a:pt x="834372" y="21985"/>
                  <a:pt x="907099" y="-19195"/>
                  <a:pt x="1056132" y="0"/>
                </a:cubicBezTo>
                <a:cubicBezTo>
                  <a:pt x="1205165" y="19195"/>
                  <a:pt x="1612834" y="-24928"/>
                  <a:pt x="1785366" y="0"/>
                </a:cubicBezTo>
                <a:cubicBezTo>
                  <a:pt x="1957898" y="24928"/>
                  <a:pt x="2149044" y="19108"/>
                  <a:pt x="2363724" y="0"/>
                </a:cubicBezTo>
                <a:cubicBezTo>
                  <a:pt x="2578404" y="-19108"/>
                  <a:pt x="2759981" y="-21788"/>
                  <a:pt x="2942082" y="0"/>
                </a:cubicBezTo>
                <a:cubicBezTo>
                  <a:pt x="3124183" y="21788"/>
                  <a:pt x="3482217" y="8836"/>
                  <a:pt x="3671316" y="0"/>
                </a:cubicBezTo>
                <a:cubicBezTo>
                  <a:pt x="3860415" y="-8836"/>
                  <a:pt x="4058665" y="-25048"/>
                  <a:pt x="4199382" y="0"/>
                </a:cubicBezTo>
                <a:cubicBezTo>
                  <a:pt x="4340099" y="25048"/>
                  <a:pt x="4735096" y="-22088"/>
                  <a:pt x="5029200" y="0"/>
                </a:cubicBezTo>
                <a:cubicBezTo>
                  <a:pt x="5028517" y="5414"/>
                  <a:pt x="5028480" y="12510"/>
                  <a:pt x="5029200" y="18288"/>
                </a:cubicBezTo>
                <a:cubicBezTo>
                  <a:pt x="4891577" y="31493"/>
                  <a:pt x="4684146" y="-2509"/>
                  <a:pt x="4501134" y="18288"/>
                </a:cubicBezTo>
                <a:cubicBezTo>
                  <a:pt x="4318122" y="39085"/>
                  <a:pt x="4030703" y="3672"/>
                  <a:pt x="3872484" y="18288"/>
                </a:cubicBezTo>
                <a:cubicBezTo>
                  <a:pt x="3714265" y="32905"/>
                  <a:pt x="3546134" y="7501"/>
                  <a:pt x="3294126" y="18288"/>
                </a:cubicBezTo>
                <a:cubicBezTo>
                  <a:pt x="3042118" y="29075"/>
                  <a:pt x="2912116" y="11153"/>
                  <a:pt x="2564892" y="18288"/>
                </a:cubicBezTo>
                <a:cubicBezTo>
                  <a:pt x="2217668" y="25423"/>
                  <a:pt x="2095118" y="11659"/>
                  <a:pt x="1835658" y="18288"/>
                </a:cubicBezTo>
                <a:cubicBezTo>
                  <a:pt x="1576198" y="24917"/>
                  <a:pt x="1500897" y="19889"/>
                  <a:pt x="1307592" y="18288"/>
                </a:cubicBezTo>
                <a:cubicBezTo>
                  <a:pt x="1114287" y="16687"/>
                  <a:pt x="961527" y="47453"/>
                  <a:pt x="678942" y="18288"/>
                </a:cubicBezTo>
                <a:cubicBezTo>
                  <a:pt x="396357" y="-10877"/>
                  <a:pt x="271066" y="23005"/>
                  <a:pt x="0" y="18288"/>
                </a:cubicBezTo>
                <a:cubicBezTo>
                  <a:pt x="-306" y="11061"/>
                  <a:pt x="-655" y="7751"/>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ontent Placeholder 2">
            <a:extLst>
              <a:ext uri="{FF2B5EF4-FFF2-40B4-BE49-F238E27FC236}">
                <a16:creationId xmlns:a16="http://schemas.microsoft.com/office/drawing/2014/main" id="{3178EE8A-EA0D-5F4A-C3E4-55DC9752B759}"/>
              </a:ext>
            </a:extLst>
          </p:cNvPr>
          <p:cNvSpPr>
            <a:spLocks noGrp="1"/>
          </p:cNvSpPr>
          <p:nvPr>
            <p:ph idx="1"/>
          </p:nvPr>
        </p:nvSpPr>
        <p:spPr>
          <a:xfrm>
            <a:off x="5759354" y="2798064"/>
            <a:ext cx="6425501" cy="4048642"/>
          </a:xfrm>
        </p:spPr>
        <p:txBody>
          <a:bodyPr vert="horz" lIns="91440" tIns="45720" rIns="91440" bIns="45720" rtlCol="0" anchor="t">
            <a:normAutofit/>
          </a:bodyPr>
          <a:lstStyle/>
          <a:p>
            <a:pPr marL="0" indent="0">
              <a:buNone/>
            </a:pPr>
            <a:r>
              <a:rPr lang="en-US" sz="1800" b="1">
                <a:solidFill>
                  <a:srgbClr val="FFFFFF"/>
                </a:solidFill>
                <a:ea typeface="+mn-lt"/>
                <a:cs typeface="+mn-lt"/>
              </a:rPr>
              <a:t>Companies (Lessor)</a:t>
            </a:r>
            <a:endParaRPr lang="en-US" sz="1800">
              <a:solidFill>
                <a:srgbClr val="FFFFFF"/>
              </a:solidFill>
              <a:ea typeface="Calibri" panose="020F0502020204030204"/>
              <a:cs typeface="Calibri" panose="020F0502020204030204"/>
            </a:endParaRPr>
          </a:p>
          <a:p>
            <a:pPr lvl="1"/>
            <a:r>
              <a:rPr lang="en-US" sz="1800">
                <a:solidFill>
                  <a:srgbClr val="FFFFFF"/>
                </a:solidFill>
                <a:ea typeface="+mn-lt"/>
                <a:cs typeface="+mn-lt"/>
              </a:rPr>
              <a:t>Lease out underutilized employees to reduce costs and provide growth opportunities.</a:t>
            </a:r>
            <a:endParaRPr lang="en-US" sz="1800">
              <a:solidFill>
                <a:srgbClr val="FFFFFF"/>
              </a:solidFill>
              <a:ea typeface="Calibri"/>
              <a:cs typeface="Calibri"/>
            </a:endParaRPr>
          </a:p>
          <a:p>
            <a:pPr marL="0" indent="0">
              <a:buNone/>
            </a:pPr>
            <a:r>
              <a:rPr lang="en-US" sz="1800" b="1">
                <a:solidFill>
                  <a:srgbClr val="FFFFFF"/>
                </a:solidFill>
                <a:ea typeface="+mn-lt"/>
                <a:cs typeface="+mn-lt"/>
              </a:rPr>
              <a:t>Companies (Lessee)</a:t>
            </a:r>
            <a:endParaRPr lang="en-US" sz="1800">
              <a:solidFill>
                <a:srgbClr val="FFFFFF"/>
              </a:solidFill>
              <a:ea typeface="Calibri"/>
              <a:cs typeface="Calibri"/>
            </a:endParaRPr>
          </a:p>
          <a:p>
            <a:pPr lvl="1"/>
            <a:r>
              <a:rPr lang="en-US" sz="1800">
                <a:solidFill>
                  <a:srgbClr val="FFFFFF"/>
                </a:solidFill>
                <a:ea typeface="+mn-lt"/>
                <a:cs typeface="+mn-lt"/>
              </a:rPr>
              <a:t>Temporary need for additional workforce to fill skill gaps or increase production capacity.</a:t>
            </a:r>
            <a:endParaRPr lang="en-US" sz="1800">
              <a:solidFill>
                <a:srgbClr val="FFFFFF"/>
              </a:solidFill>
              <a:ea typeface="Calibri"/>
              <a:cs typeface="Calibri"/>
            </a:endParaRPr>
          </a:p>
          <a:p>
            <a:pPr marL="0" indent="0">
              <a:buNone/>
            </a:pPr>
            <a:r>
              <a:rPr lang="en-US" sz="1800" b="1">
                <a:solidFill>
                  <a:srgbClr val="FFFFFF"/>
                </a:solidFill>
                <a:ea typeface="+mn-lt"/>
                <a:cs typeface="+mn-lt"/>
              </a:rPr>
              <a:t>Employees (Resources)</a:t>
            </a:r>
            <a:endParaRPr lang="en-US" sz="1800">
              <a:solidFill>
                <a:srgbClr val="FFFFFF"/>
              </a:solidFill>
              <a:ea typeface="Calibri"/>
              <a:cs typeface="Calibri"/>
            </a:endParaRPr>
          </a:p>
          <a:p>
            <a:pPr lvl="1"/>
            <a:r>
              <a:rPr lang="en-US" sz="1800">
                <a:solidFill>
                  <a:srgbClr val="FFFFFF"/>
                </a:solidFill>
                <a:ea typeface="+mn-lt"/>
                <a:cs typeface="+mn-lt"/>
              </a:rPr>
              <a:t>Interests include compensation, job security, and professional development.</a:t>
            </a:r>
            <a:endParaRPr lang="en-US" sz="1800">
              <a:solidFill>
                <a:srgbClr val="FFFFFF"/>
              </a:solidFill>
              <a:ea typeface="Calibri"/>
              <a:cs typeface="Calibri"/>
            </a:endParaRPr>
          </a:p>
          <a:p>
            <a:pPr marL="0" indent="0">
              <a:buNone/>
            </a:pPr>
            <a:r>
              <a:rPr lang="en-US" sz="1800" b="1">
                <a:solidFill>
                  <a:srgbClr val="FFFFFF"/>
                </a:solidFill>
                <a:ea typeface="+mn-lt"/>
                <a:cs typeface="+mn-lt"/>
              </a:rPr>
              <a:t>IT Departments/Technology Providers</a:t>
            </a:r>
            <a:endParaRPr lang="en-US" sz="1800">
              <a:solidFill>
                <a:srgbClr val="FFFFFF"/>
              </a:solidFill>
              <a:ea typeface="Calibri"/>
              <a:cs typeface="Calibri"/>
            </a:endParaRPr>
          </a:p>
          <a:p>
            <a:pPr lvl="1"/>
            <a:r>
              <a:rPr lang="en-US" sz="1800">
                <a:solidFill>
                  <a:srgbClr val="FFFFFF"/>
                </a:solidFill>
                <a:ea typeface="+mn-lt"/>
                <a:cs typeface="+mn-lt"/>
              </a:rPr>
              <a:t>Responsible for developing and maintaining the digital connector tool.</a:t>
            </a:r>
            <a:endParaRPr lang="en-US" sz="1800">
              <a:solidFill>
                <a:srgbClr val="FFFFFF"/>
              </a:solidFill>
              <a:ea typeface="Calibri"/>
              <a:cs typeface="Calibri"/>
            </a:endParaRPr>
          </a:p>
          <a:p>
            <a:endParaRPr lang="en-US" sz="1800">
              <a:solidFill>
                <a:srgbClr val="FFFFFF"/>
              </a:solidFill>
              <a:ea typeface="Calibri"/>
              <a:cs typeface="Calibri"/>
            </a:endParaRPr>
          </a:p>
        </p:txBody>
      </p:sp>
    </p:spTree>
    <p:extLst>
      <p:ext uri="{BB962C8B-B14F-4D97-AF65-F5344CB8AC3E}">
        <p14:creationId xmlns:p14="http://schemas.microsoft.com/office/powerpoint/2010/main" val="3875420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6E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9D7241-98B5-8909-ACA8-B247B2F5F912}"/>
              </a:ext>
            </a:extLst>
          </p:cNvPr>
          <p:cNvSpPr>
            <a:spLocks noGrp="1"/>
          </p:cNvSpPr>
          <p:nvPr>
            <p:ph type="title"/>
          </p:nvPr>
        </p:nvSpPr>
        <p:spPr>
          <a:xfrm>
            <a:off x="838200" y="459863"/>
            <a:ext cx="10515600" cy="1004594"/>
          </a:xfrm>
        </p:spPr>
        <p:txBody>
          <a:bodyPr>
            <a:normAutofit/>
          </a:bodyPr>
          <a:lstStyle/>
          <a:p>
            <a:pPr algn="ctr"/>
            <a:r>
              <a:rPr lang="en-US" b="1">
                <a:latin typeface="Calibri"/>
                <a:ea typeface="Calibri"/>
                <a:cs typeface="Calibri"/>
              </a:rPr>
              <a:t>OPERATIONAL PROCESS</a:t>
            </a:r>
            <a:endParaRPr lang="en-US">
              <a:latin typeface="Calibri"/>
              <a:ea typeface="Calibri"/>
              <a:cs typeface="Calibri"/>
            </a:endParaRPr>
          </a:p>
        </p:txBody>
      </p:sp>
      <p:sp>
        <p:nvSpPr>
          <p:cNvPr id="23" name="Rectangle: Rounded Corners 22">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Content Placeholder 2">
            <a:extLst>
              <a:ext uri="{FF2B5EF4-FFF2-40B4-BE49-F238E27FC236}">
                <a16:creationId xmlns:a16="http://schemas.microsoft.com/office/drawing/2014/main" id="{18F00CBF-9B97-1391-0300-A042132EBFEA}"/>
              </a:ext>
            </a:extLst>
          </p:cNvPr>
          <p:cNvGraphicFramePr>
            <a:graphicFrameLocks noGrp="1"/>
          </p:cNvGraphicFramePr>
          <p:nvPr>
            <p:ph idx="1"/>
            <p:extLst>
              <p:ext uri="{D42A27DB-BD31-4B8C-83A1-F6EECF244321}">
                <p14:modId xmlns:p14="http://schemas.microsoft.com/office/powerpoint/2010/main" val="966371506"/>
              </p:ext>
            </p:extLst>
          </p:nvPr>
        </p:nvGraphicFramePr>
        <p:xfrm>
          <a:off x="719138" y="1556329"/>
          <a:ext cx="10889436" cy="5004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725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91AD1C-0429-2DCC-4E85-AC4CA32D50DB}"/>
              </a:ext>
            </a:extLst>
          </p:cNvPr>
          <p:cNvSpPr>
            <a:spLocks noGrp="1"/>
          </p:cNvSpPr>
          <p:nvPr>
            <p:ph type="title"/>
          </p:nvPr>
        </p:nvSpPr>
        <p:spPr>
          <a:xfrm>
            <a:off x="4654296" y="329184"/>
            <a:ext cx="6894576" cy="1783080"/>
          </a:xfrm>
        </p:spPr>
        <p:txBody>
          <a:bodyPr anchor="b">
            <a:normAutofit/>
          </a:bodyPr>
          <a:lstStyle/>
          <a:p>
            <a:r>
              <a:rPr lang="en-US" sz="5400" b="1">
                <a:latin typeface="Calibri"/>
                <a:ea typeface="Calibri"/>
                <a:cs typeface="Calibri"/>
              </a:rPr>
              <a:t>INFRASTRUCTURE SETUP</a:t>
            </a:r>
            <a:endParaRPr lang="en-US" sz="5400">
              <a:latin typeface="Calibri"/>
              <a:ea typeface="Calibri"/>
              <a:cs typeface="Calibri"/>
            </a:endParaRPr>
          </a:p>
        </p:txBody>
      </p:sp>
      <p:pic>
        <p:nvPicPr>
          <p:cNvPr id="16" name="Picture 15">
            <a:extLst>
              <a:ext uri="{FF2B5EF4-FFF2-40B4-BE49-F238E27FC236}">
                <a16:creationId xmlns:a16="http://schemas.microsoft.com/office/drawing/2014/main" id="{D4FD9517-1929-DD06-CF00-63A0223AE753}"/>
              </a:ext>
            </a:extLst>
          </p:cNvPr>
          <p:cNvPicPr>
            <a:picLocks noChangeAspect="1"/>
          </p:cNvPicPr>
          <p:nvPr/>
        </p:nvPicPr>
        <p:blipFill rotWithShape="1">
          <a:blip r:embed="rId2"/>
          <a:srcRect l="9239" r="59599" b="6250"/>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2">
            <a:extLst>
              <a:ext uri="{FF2B5EF4-FFF2-40B4-BE49-F238E27FC236}">
                <a16:creationId xmlns:a16="http://schemas.microsoft.com/office/drawing/2014/main" id="{9D06E6E3-4CB1-6786-FDF3-A77C4FB34A3D}"/>
              </a:ext>
            </a:extLst>
          </p:cNvPr>
          <p:cNvSpPr>
            <a:spLocks noGrp="1"/>
          </p:cNvSpPr>
          <p:nvPr>
            <p:ph idx="1"/>
          </p:nvPr>
        </p:nvSpPr>
        <p:spPr>
          <a:xfrm>
            <a:off x="4654296" y="2706624"/>
            <a:ext cx="6894576" cy="3483864"/>
          </a:xfrm>
        </p:spPr>
        <p:txBody>
          <a:bodyPr vert="horz" lIns="91440" tIns="45720" rIns="91440" bIns="45720" rtlCol="0" anchor="t">
            <a:normAutofit/>
          </a:bodyPr>
          <a:lstStyle/>
          <a:p>
            <a:pPr marL="0" indent="0">
              <a:buNone/>
            </a:pPr>
            <a:r>
              <a:rPr lang="en-US" sz="2200" b="1">
                <a:ea typeface="+mn-lt"/>
                <a:cs typeface="+mn-lt"/>
              </a:rPr>
              <a:t>Server-based Companies</a:t>
            </a:r>
            <a:endParaRPr lang="en-US" sz="2200">
              <a:ea typeface="Calibri" panose="020F0502020204030204"/>
              <a:cs typeface="Calibri" panose="020F0502020204030204"/>
            </a:endParaRPr>
          </a:p>
          <a:p>
            <a:pPr lvl="1"/>
            <a:r>
              <a:rPr lang="en-US" sz="2200">
                <a:ea typeface="+mn-lt"/>
                <a:cs typeface="+mn-lt"/>
              </a:rPr>
              <a:t>Install Docker image on server infrastructure with secure access configurations.</a:t>
            </a:r>
            <a:endParaRPr lang="en-US" sz="2200">
              <a:ea typeface="Calibri"/>
              <a:cs typeface="Calibri"/>
            </a:endParaRPr>
          </a:p>
          <a:p>
            <a:pPr marL="0" indent="0">
              <a:buNone/>
            </a:pPr>
            <a:r>
              <a:rPr lang="en-US" sz="2200" b="1">
                <a:ea typeface="+mn-lt"/>
                <a:cs typeface="+mn-lt"/>
              </a:rPr>
              <a:t>Laptop/Desktop-based Companies</a:t>
            </a:r>
            <a:endParaRPr lang="en-US" sz="2200">
              <a:ea typeface="Calibri"/>
              <a:cs typeface="Calibri"/>
            </a:endParaRPr>
          </a:p>
          <a:p>
            <a:pPr lvl="1"/>
            <a:r>
              <a:rPr lang="en-US" sz="2200">
                <a:ea typeface="+mn-lt"/>
                <a:cs typeface="+mn-lt"/>
              </a:rPr>
              <a:t>Docker image can be installed on individual devices with SSH tunneling and DDNS for accessibility.</a:t>
            </a:r>
            <a:endParaRPr lang="en-US" sz="2200">
              <a:ea typeface="Calibri"/>
              <a:cs typeface="Calibri"/>
            </a:endParaRPr>
          </a:p>
          <a:p>
            <a:pPr marL="0" indent="0">
              <a:buNone/>
            </a:pPr>
            <a:r>
              <a:rPr lang="en-US" sz="2200" b="1">
                <a:ea typeface="+mn-lt"/>
                <a:cs typeface="+mn-lt"/>
              </a:rPr>
              <a:t>Security Measures</a:t>
            </a:r>
            <a:endParaRPr lang="en-US" sz="2200">
              <a:ea typeface="Calibri"/>
              <a:cs typeface="Calibri"/>
            </a:endParaRPr>
          </a:p>
          <a:p>
            <a:pPr lvl="1"/>
            <a:r>
              <a:rPr lang="en-US" sz="2200">
                <a:ea typeface="+mn-lt"/>
                <a:cs typeface="+mn-lt"/>
              </a:rPr>
              <a:t>Employ robust configurations including SSL/TLS and secured authentication methods.</a:t>
            </a:r>
            <a:endParaRPr lang="en-US" sz="2200">
              <a:ea typeface="Calibri"/>
              <a:cs typeface="Calibri"/>
            </a:endParaRPr>
          </a:p>
        </p:txBody>
      </p:sp>
    </p:spTree>
    <p:extLst>
      <p:ext uri="{BB962C8B-B14F-4D97-AF65-F5344CB8AC3E}">
        <p14:creationId xmlns:p14="http://schemas.microsoft.com/office/powerpoint/2010/main" val="3652881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002059-33E1-70D3-E35B-D34518DCC91C}"/>
              </a:ext>
            </a:extLst>
          </p:cNvPr>
          <p:cNvSpPr>
            <a:spLocks noGrp="1"/>
          </p:cNvSpPr>
          <p:nvPr>
            <p:ph type="title"/>
          </p:nvPr>
        </p:nvSpPr>
        <p:spPr>
          <a:xfrm>
            <a:off x="113073" y="175142"/>
            <a:ext cx="5583957" cy="996385"/>
          </a:xfrm>
        </p:spPr>
        <p:txBody>
          <a:bodyPr anchor="ctr">
            <a:noAutofit/>
          </a:bodyPr>
          <a:lstStyle/>
          <a:p>
            <a:r>
              <a:rPr lang="en-US" sz="3300" b="1">
                <a:latin typeface="Calibri"/>
                <a:ea typeface="Calibri"/>
                <a:cs typeface="Calibri"/>
              </a:rPr>
              <a:t>EMPLOYEE'S USER PROFILE, WAY OF ACCESS AND RIGHTS</a:t>
            </a:r>
            <a:endParaRPr lang="en-US" sz="3300">
              <a:latin typeface="Calibri"/>
              <a:ea typeface="Calibri"/>
              <a:cs typeface="Calibri"/>
            </a:endParaRPr>
          </a:p>
        </p:txBody>
      </p:sp>
      <p:sp>
        <p:nvSpPr>
          <p:cNvPr id="3" name="Content Placeholder 2">
            <a:extLst>
              <a:ext uri="{FF2B5EF4-FFF2-40B4-BE49-F238E27FC236}">
                <a16:creationId xmlns:a16="http://schemas.microsoft.com/office/drawing/2014/main" id="{3342A7AF-D691-4835-C20E-68BB4FFF24CA}"/>
              </a:ext>
            </a:extLst>
          </p:cNvPr>
          <p:cNvSpPr>
            <a:spLocks noGrp="1"/>
          </p:cNvSpPr>
          <p:nvPr>
            <p:ph idx="1"/>
          </p:nvPr>
        </p:nvSpPr>
        <p:spPr>
          <a:xfrm>
            <a:off x="-197" y="1353709"/>
            <a:ext cx="6099466" cy="5502702"/>
          </a:xfrm>
        </p:spPr>
        <p:txBody>
          <a:bodyPr vert="horz" lIns="91440" tIns="45720" rIns="91440" bIns="45720" rtlCol="0" anchor="ctr">
            <a:noAutofit/>
          </a:bodyPr>
          <a:lstStyle/>
          <a:p>
            <a:pPr>
              <a:buNone/>
            </a:pPr>
            <a:r>
              <a:rPr lang="en-US" sz="1800" b="1" dirty="0">
                <a:solidFill>
                  <a:srgbClr val="0D0D0D"/>
                </a:solidFill>
                <a:ea typeface="+mn-lt"/>
                <a:cs typeface="+mn-lt"/>
              </a:rPr>
              <a:t>User Profile Management</a:t>
            </a:r>
            <a:endParaRPr lang="en-US" sz="1800">
              <a:ea typeface="Calibri"/>
              <a:cs typeface="Calibri"/>
            </a:endParaRPr>
          </a:p>
          <a:p>
            <a:pPr>
              <a:buFont typeface="Arial"/>
              <a:buChar char="•"/>
            </a:pPr>
            <a:r>
              <a:rPr lang="en-US" sz="1800" dirty="0">
                <a:solidFill>
                  <a:srgbClr val="0D0D0D"/>
                </a:solidFill>
                <a:ea typeface="+mn-lt"/>
                <a:cs typeface="+mn-lt"/>
              </a:rPr>
              <a:t>Information Sharing: Employees can control which personal information is shared with potential lessee companies. They can choose to anonymize certain details while making essential qualifications and experience visible.</a:t>
            </a:r>
            <a:endParaRPr lang="en-US" sz="1800">
              <a:ea typeface="Calibri"/>
              <a:cs typeface="Calibri"/>
            </a:endParaRPr>
          </a:p>
          <a:p>
            <a:pPr>
              <a:buFont typeface="Arial"/>
              <a:buChar char="•"/>
            </a:pPr>
            <a:r>
              <a:rPr lang="en-US" sz="1800" dirty="0">
                <a:solidFill>
                  <a:srgbClr val="0D0D0D"/>
                </a:solidFill>
                <a:ea typeface="+mn-lt"/>
                <a:cs typeface="+mn-lt"/>
              </a:rPr>
              <a:t>Profile Updates: Employees can update their profiles regularly to reflect their latest skills, projects, and certifications. Changes are synced with the employer’s internal HR system and the platform’s central database.</a:t>
            </a:r>
            <a:endParaRPr lang="en-US" sz="1800">
              <a:solidFill>
                <a:srgbClr val="0D0D0D"/>
              </a:solidFill>
              <a:ea typeface="Calibri"/>
              <a:cs typeface="Calibri"/>
            </a:endParaRPr>
          </a:p>
          <a:p>
            <a:pPr>
              <a:buNone/>
            </a:pPr>
            <a:r>
              <a:rPr lang="en-US" sz="1800" b="1" dirty="0">
                <a:solidFill>
                  <a:srgbClr val="0D0D0D"/>
                </a:solidFill>
                <a:ea typeface="+mn-lt"/>
                <a:cs typeface="+mn-lt"/>
              </a:rPr>
              <a:t>Access and Authentication</a:t>
            </a:r>
            <a:endParaRPr lang="en-US" sz="1800" dirty="0">
              <a:solidFill>
                <a:srgbClr val="0D0D0D"/>
              </a:solidFill>
              <a:ea typeface="+mn-lt"/>
              <a:cs typeface="+mn-lt"/>
            </a:endParaRPr>
          </a:p>
          <a:p>
            <a:pPr>
              <a:buFont typeface="Arial"/>
            </a:pPr>
            <a:r>
              <a:rPr lang="en-US" sz="1800" dirty="0">
                <a:solidFill>
                  <a:srgbClr val="0D0D0D"/>
                </a:solidFill>
                <a:ea typeface="+mn-lt"/>
                <a:cs typeface="+mn-lt"/>
              </a:rPr>
              <a:t>Login Credentials: Employees receive secure login credentials from their employer to access the platform. These credentials ensure that only authorized users can access and update their profiles.</a:t>
            </a:r>
            <a:endParaRPr lang="en-US" sz="1800">
              <a:ea typeface="Calibri"/>
              <a:cs typeface="Calibri"/>
            </a:endParaRPr>
          </a:p>
          <a:p>
            <a:pPr>
              <a:buFont typeface="Arial"/>
            </a:pPr>
            <a:r>
              <a:rPr lang="en-US" sz="1800" dirty="0">
                <a:solidFill>
                  <a:srgbClr val="0D0D0D"/>
                </a:solidFill>
                <a:ea typeface="+mn-lt"/>
                <a:cs typeface="+mn-lt"/>
              </a:rPr>
              <a:t>Web Platform Access: Employees log in via a secure web interface, which provides access to their profiles, leasing opportunities, and other platform features.</a:t>
            </a:r>
            <a:endParaRPr lang="en-US" sz="1800">
              <a:ea typeface="Calibri"/>
              <a:cs typeface="Calibri"/>
            </a:endParaRPr>
          </a:p>
          <a:p>
            <a:pPr marL="0" indent="0">
              <a:buNone/>
            </a:pPr>
            <a:endParaRPr lang="en-US" sz="1800" b="1" dirty="0">
              <a:solidFill>
                <a:srgbClr val="000000"/>
              </a:solidFill>
              <a:ea typeface="Calibri"/>
              <a:cs typeface="Calibri"/>
            </a:endParaRPr>
          </a:p>
        </p:txBody>
      </p:sp>
      <p:pic>
        <p:nvPicPr>
          <p:cNvPr id="5" name="Picture 4" descr="Mobile device with apps">
            <a:extLst>
              <a:ext uri="{FF2B5EF4-FFF2-40B4-BE49-F238E27FC236}">
                <a16:creationId xmlns:a16="http://schemas.microsoft.com/office/drawing/2014/main" id="{ECB3DCD4-E6DD-8752-C7DD-A00881F5BBC4}"/>
              </a:ext>
            </a:extLst>
          </p:cNvPr>
          <p:cNvPicPr>
            <a:picLocks noChangeAspect="1"/>
          </p:cNvPicPr>
          <p:nvPr/>
        </p:nvPicPr>
        <p:blipFill rotWithShape="1">
          <a:blip r:embed="rId2"/>
          <a:srcRect l="44775" r="5168" b="-2"/>
          <a:stretch/>
        </p:blipFill>
        <p:spPr>
          <a:xfrm>
            <a:off x="6096000" y="1"/>
            <a:ext cx="6102825" cy="6858000"/>
          </a:xfrm>
          <a:prstGeom prst="rect">
            <a:avLst/>
          </a:prstGeom>
        </p:spPr>
      </p:pic>
    </p:spTree>
    <p:extLst>
      <p:ext uri="{BB962C8B-B14F-4D97-AF65-F5344CB8AC3E}">
        <p14:creationId xmlns:p14="http://schemas.microsoft.com/office/powerpoint/2010/main" val="219295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36F631-3AA4-3645-5241-D42936174CA6}"/>
              </a:ext>
            </a:extLst>
          </p:cNvPr>
          <p:cNvSpPr>
            <a:spLocks noGrp="1"/>
          </p:cNvSpPr>
          <p:nvPr>
            <p:ph type="title"/>
          </p:nvPr>
        </p:nvSpPr>
        <p:spPr>
          <a:xfrm>
            <a:off x="630936" y="639520"/>
            <a:ext cx="3429000" cy="1719072"/>
          </a:xfrm>
        </p:spPr>
        <p:txBody>
          <a:bodyPr anchor="b">
            <a:normAutofit/>
          </a:bodyPr>
          <a:lstStyle/>
          <a:p>
            <a:r>
              <a:rPr lang="en-US" sz="3800" b="1">
                <a:latin typeface="Calibri"/>
                <a:ea typeface="Calibri"/>
                <a:cs typeface="Calibri"/>
              </a:rPr>
              <a:t>EMPLOYEE VERIFICATION AND LISTING</a:t>
            </a:r>
            <a:endParaRPr lang="en-US" sz="3800">
              <a:latin typeface="Calibri"/>
              <a:ea typeface="Calibri"/>
              <a:cs typeface="Calibri"/>
            </a:endParaRPr>
          </a:p>
        </p:txBody>
      </p:sp>
      <p:sp>
        <p:nvSpPr>
          <p:cNvPr id="12"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011F4E7-5BA5-0FA0-C2AB-E5615A9DA2B8}"/>
              </a:ext>
            </a:extLst>
          </p:cNvPr>
          <p:cNvSpPr>
            <a:spLocks noGrp="1"/>
          </p:cNvSpPr>
          <p:nvPr>
            <p:ph idx="1"/>
          </p:nvPr>
        </p:nvSpPr>
        <p:spPr>
          <a:xfrm>
            <a:off x="416624" y="2807208"/>
            <a:ext cx="4905373" cy="3863149"/>
          </a:xfrm>
        </p:spPr>
        <p:txBody>
          <a:bodyPr vert="horz" lIns="91440" tIns="45720" rIns="91440" bIns="45720" rtlCol="0" anchor="t">
            <a:noAutofit/>
          </a:bodyPr>
          <a:lstStyle/>
          <a:p>
            <a:pPr marL="0" indent="0">
              <a:buNone/>
            </a:pPr>
            <a:r>
              <a:rPr lang="en-US" sz="2000" b="1">
                <a:ea typeface="+mn-lt"/>
                <a:cs typeface="+mn-lt"/>
              </a:rPr>
              <a:t>Employee Initiation</a:t>
            </a:r>
            <a:endParaRPr lang="en-US" sz="2000">
              <a:ea typeface="Calibri"/>
              <a:cs typeface="Calibri"/>
            </a:endParaRPr>
          </a:p>
          <a:p>
            <a:pPr marL="971550" lvl="1" indent="-285750">
              <a:buFont typeface="Arial"/>
              <a:buChar char="•"/>
            </a:pPr>
            <a:r>
              <a:rPr lang="en-US" sz="2000">
                <a:ea typeface="+mn-lt"/>
                <a:cs typeface="+mn-lt"/>
              </a:rPr>
              <a:t>Employees express interest in being leased out or respond to internal postings.</a:t>
            </a:r>
            <a:endParaRPr lang="en-US" sz="2000">
              <a:ea typeface="Calibri"/>
              <a:cs typeface="Calibri"/>
            </a:endParaRPr>
          </a:p>
          <a:p>
            <a:pPr marL="0" indent="0">
              <a:buNone/>
            </a:pPr>
            <a:r>
              <a:rPr lang="en-US" sz="2000" b="1">
                <a:ea typeface="+mn-lt"/>
                <a:cs typeface="+mn-lt"/>
              </a:rPr>
              <a:t>Employer Verification</a:t>
            </a:r>
            <a:endParaRPr lang="en-US" sz="2000">
              <a:ea typeface="Calibri"/>
              <a:cs typeface="Calibri"/>
            </a:endParaRPr>
          </a:p>
          <a:p>
            <a:pPr marL="971550" lvl="1" indent="-285750">
              <a:buFont typeface="Arial"/>
              <a:buChar char="•"/>
            </a:pPr>
            <a:r>
              <a:rPr lang="en-US" sz="2000">
                <a:ea typeface="+mn-lt"/>
                <a:cs typeface="+mn-lt"/>
              </a:rPr>
              <a:t>Employer verifies employee eligibility and willingness to participate.</a:t>
            </a:r>
            <a:endParaRPr lang="en-US" sz="2000">
              <a:ea typeface="Calibri"/>
              <a:cs typeface="Calibri"/>
            </a:endParaRPr>
          </a:p>
          <a:p>
            <a:pPr marL="0" indent="0">
              <a:buNone/>
            </a:pPr>
            <a:r>
              <a:rPr lang="en-US" sz="2000" b="1">
                <a:ea typeface="+mn-lt"/>
                <a:cs typeface="+mn-lt"/>
              </a:rPr>
              <a:t>Profile Listing</a:t>
            </a:r>
            <a:endParaRPr lang="en-US" sz="2000">
              <a:ea typeface="Calibri"/>
              <a:cs typeface="Calibri"/>
            </a:endParaRPr>
          </a:p>
          <a:p>
            <a:pPr marL="971550" lvl="1" indent="-285750">
              <a:buFont typeface="Arial"/>
              <a:buChar char="•"/>
            </a:pPr>
            <a:r>
              <a:rPr lang="en-US" sz="2000">
                <a:ea typeface="+mn-lt"/>
                <a:cs typeface="+mn-lt"/>
              </a:rPr>
              <a:t>Verified profiles are listed internally and then synchronized with a central database.</a:t>
            </a:r>
            <a:endParaRPr lang="en-US" sz="2000">
              <a:ea typeface="Calibri"/>
              <a:cs typeface="Calibri"/>
            </a:endParaRPr>
          </a:p>
        </p:txBody>
      </p:sp>
      <p:pic>
        <p:nvPicPr>
          <p:cNvPr id="7" name="Graphic 6" descr="Office Worker">
            <a:extLst>
              <a:ext uri="{FF2B5EF4-FFF2-40B4-BE49-F238E27FC236}">
                <a16:creationId xmlns:a16="http://schemas.microsoft.com/office/drawing/2014/main" id="{3BEABE55-740E-3CB3-E83B-B5B22FDB08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17236" y="640080"/>
            <a:ext cx="5577840" cy="5577840"/>
          </a:xfrm>
          <a:prstGeom prst="rect">
            <a:avLst/>
          </a:prstGeom>
        </p:spPr>
      </p:pic>
    </p:spTree>
    <p:extLst>
      <p:ext uri="{BB962C8B-B14F-4D97-AF65-F5344CB8AC3E}">
        <p14:creationId xmlns:p14="http://schemas.microsoft.com/office/powerpoint/2010/main" val="1779217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blocks and networks technology background">
            <a:extLst>
              <a:ext uri="{FF2B5EF4-FFF2-40B4-BE49-F238E27FC236}">
                <a16:creationId xmlns:a16="http://schemas.microsoft.com/office/drawing/2014/main" id="{1724F710-A6D7-6447-389C-4F6D0DFEFF55}"/>
              </a:ext>
            </a:extLst>
          </p:cNvPr>
          <p:cNvPicPr>
            <a:picLocks noChangeAspect="1"/>
          </p:cNvPicPr>
          <p:nvPr/>
        </p:nvPicPr>
        <p:blipFill rotWithShape="1">
          <a:blip r:embed="rId2"/>
          <a:srcRect l="8932" r="41125" b="-438"/>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E8D34F-7D1B-616D-6D79-777E45A938BA}"/>
              </a:ext>
            </a:extLst>
          </p:cNvPr>
          <p:cNvSpPr>
            <a:spLocks noGrp="1"/>
          </p:cNvSpPr>
          <p:nvPr>
            <p:ph type="title"/>
          </p:nvPr>
        </p:nvSpPr>
        <p:spPr>
          <a:xfrm>
            <a:off x="761801" y="328512"/>
            <a:ext cx="4778387" cy="1628970"/>
          </a:xfrm>
        </p:spPr>
        <p:txBody>
          <a:bodyPr anchor="ctr">
            <a:normAutofit/>
          </a:bodyPr>
          <a:lstStyle/>
          <a:p>
            <a:r>
              <a:rPr lang="en-US" sz="3700" b="1">
                <a:latin typeface="Calibri"/>
                <a:cs typeface="Calibri"/>
              </a:rPr>
              <a:t>INTEGRATION AND PLATFORM DEVELOPMENT</a:t>
            </a:r>
            <a:endParaRPr lang="en-US" sz="3700">
              <a:latin typeface="Calibri"/>
              <a:cs typeface="Calibri"/>
            </a:endParaRPr>
          </a:p>
        </p:txBody>
      </p:sp>
      <p:sp>
        <p:nvSpPr>
          <p:cNvPr id="3" name="Content Placeholder 2">
            <a:extLst>
              <a:ext uri="{FF2B5EF4-FFF2-40B4-BE49-F238E27FC236}">
                <a16:creationId xmlns:a16="http://schemas.microsoft.com/office/drawing/2014/main" id="{CDBDE840-50BF-1033-FDA2-6F87DEBF2DCC}"/>
              </a:ext>
            </a:extLst>
          </p:cNvPr>
          <p:cNvSpPr>
            <a:spLocks noGrp="1"/>
          </p:cNvSpPr>
          <p:nvPr>
            <p:ph idx="1"/>
          </p:nvPr>
        </p:nvSpPr>
        <p:spPr>
          <a:xfrm>
            <a:off x="-198" y="2289617"/>
            <a:ext cx="6100411" cy="4564761"/>
          </a:xfrm>
        </p:spPr>
        <p:txBody>
          <a:bodyPr vert="horz" lIns="91440" tIns="45720" rIns="91440" bIns="45720" rtlCol="0" anchor="ctr">
            <a:normAutofit/>
          </a:bodyPr>
          <a:lstStyle/>
          <a:p>
            <a:pPr marL="0" indent="0">
              <a:buNone/>
            </a:pPr>
            <a:r>
              <a:rPr lang="en-US" sz="2000" b="1">
                <a:ea typeface="+mn-lt"/>
                <a:cs typeface="+mn-lt"/>
              </a:rPr>
              <a:t>Integration Capabilities</a:t>
            </a:r>
            <a:endParaRPr lang="en-US" sz="2000">
              <a:ea typeface="Calibri"/>
              <a:cs typeface="Calibri" panose="020F0502020204030204"/>
            </a:endParaRPr>
          </a:p>
          <a:p>
            <a:pPr lvl="1"/>
            <a:r>
              <a:rPr lang="en-US" sz="2000">
                <a:ea typeface="+mn-lt"/>
                <a:cs typeface="+mn-lt"/>
              </a:rPr>
              <a:t>Compatibility with existing HR and ERP systems.</a:t>
            </a:r>
            <a:endParaRPr lang="en-US" sz="2000">
              <a:ea typeface="Calibri"/>
              <a:cs typeface="Calibri"/>
            </a:endParaRPr>
          </a:p>
          <a:p>
            <a:pPr lvl="1"/>
            <a:r>
              <a:rPr lang="en-US" sz="2000">
                <a:ea typeface="+mn-lt"/>
                <a:cs typeface="+mn-lt"/>
              </a:rPr>
              <a:t>Pre-built connectors for popular systems (SAP, Oracle, Microsoft Dynamics).</a:t>
            </a:r>
            <a:endParaRPr lang="en-US" sz="2000">
              <a:ea typeface="Calibri"/>
              <a:cs typeface="Calibri"/>
            </a:endParaRPr>
          </a:p>
          <a:p>
            <a:pPr lvl="1"/>
            <a:r>
              <a:rPr lang="en-US" sz="2000">
                <a:ea typeface="+mn-lt"/>
                <a:cs typeface="+mn-lt"/>
              </a:rPr>
              <a:t>Custom integration support and development kit.</a:t>
            </a:r>
            <a:endParaRPr lang="en-US" sz="2000">
              <a:ea typeface="Calibri"/>
              <a:cs typeface="Calibri"/>
            </a:endParaRPr>
          </a:p>
          <a:p>
            <a:pPr marL="0" indent="0">
              <a:buNone/>
            </a:pPr>
            <a:r>
              <a:rPr lang="en-US" sz="2000" b="1">
                <a:ea typeface="+mn-lt"/>
                <a:cs typeface="+mn-lt"/>
              </a:rPr>
              <a:t>Third-Party Developer Usage</a:t>
            </a:r>
            <a:endParaRPr lang="en-US" sz="2000">
              <a:ea typeface="Calibri"/>
              <a:cs typeface="Calibri"/>
            </a:endParaRPr>
          </a:p>
          <a:p>
            <a:pPr lvl="1"/>
            <a:r>
              <a:rPr lang="en-US" sz="2000">
                <a:ea typeface="+mn-lt"/>
                <a:cs typeface="+mn-lt"/>
              </a:rPr>
              <a:t>Open Developer Platform: Tiered API access, developer portal, and support.</a:t>
            </a:r>
            <a:endParaRPr lang="en-US" sz="2000">
              <a:ea typeface="Calibri"/>
              <a:cs typeface="Calibri"/>
            </a:endParaRPr>
          </a:p>
          <a:p>
            <a:pPr lvl="1"/>
            <a:r>
              <a:rPr lang="en-US" sz="2000">
                <a:ea typeface="+mn-lt"/>
                <a:cs typeface="+mn-lt"/>
              </a:rPr>
              <a:t>Plugin and Extension Development: Encouraging enhancements and niche integrations.</a:t>
            </a:r>
            <a:endParaRPr lang="en-US" sz="2000">
              <a:ea typeface="Calibri"/>
              <a:cs typeface="Calibri"/>
            </a:endParaRPr>
          </a:p>
          <a:p>
            <a:pPr lvl="1"/>
            <a:r>
              <a:rPr lang="en-US" sz="2000">
                <a:ea typeface="+mn-lt"/>
                <a:cs typeface="+mn-lt"/>
              </a:rPr>
              <a:t>Innovation and Feedback Loop: Regular updates based on community feedback.</a:t>
            </a:r>
            <a:endParaRPr lang="en-US" sz="2000">
              <a:ea typeface="Calibri"/>
              <a:cs typeface="Calibri"/>
            </a:endParaRPr>
          </a:p>
        </p:txBody>
      </p:sp>
    </p:spTree>
    <p:extLst>
      <p:ext uri="{BB962C8B-B14F-4D97-AF65-F5344CB8AC3E}">
        <p14:creationId xmlns:p14="http://schemas.microsoft.com/office/powerpoint/2010/main" val="1528176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6E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D3DEB5-20BE-649D-BC43-779BE5A6A3E8}"/>
              </a:ext>
            </a:extLst>
          </p:cNvPr>
          <p:cNvSpPr>
            <a:spLocks noGrp="1"/>
          </p:cNvSpPr>
          <p:nvPr>
            <p:ph type="title"/>
          </p:nvPr>
        </p:nvSpPr>
        <p:spPr>
          <a:xfrm>
            <a:off x="838200" y="459863"/>
            <a:ext cx="10515600" cy="1004594"/>
          </a:xfrm>
        </p:spPr>
        <p:txBody>
          <a:bodyPr>
            <a:normAutofit/>
          </a:bodyPr>
          <a:lstStyle/>
          <a:p>
            <a:pPr algn="ctr"/>
            <a:r>
              <a:rPr lang="en-US" b="1">
                <a:latin typeface="Calibri"/>
                <a:ea typeface="Calibri"/>
                <a:cs typeface="Calibri"/>
              </a:rPr>
              <a:t>TALENT MATCHING AND AGREEMENT</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B6F4884-9E00-1C76-B4C2-EBB6C788B595}"/>
              </a:ext>
            </a:extLst>
          </p:cNvPr>
          <p:cNvGraphicFramePr>
            <a:graphicFrameLocks noGrp="1"/>
          </p:cNvGraphicFramePr>
          <p:nvPr>
            <p:ph idx="1"/>
            <p:extLst>
              <p:ext uri="{D42A27DB-BD31-4B8C-83A1-F6EECF244321}">
                <p14:modId xmlns:p14="http://schemas.microsoft.com/office/powerpoint/2010/main" val="712128428"/>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7030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Person holding a puzzle piece">
            <a:extLst>
              <a:ext uri="{FF2B5EF4-FFF2-40B4-BE49-F238E27FC236}">
                <a16:creationId xmlns:a16="http://schemas.microsoft.com/office/drawing/2014/main" id="{ABF8CD00-FD5B-EC5E-51B1-65402780B585}"/>
              </a:ext>
            </a:extLst>
          </p:cNvPr>
          <p:cNvPicPr>
            <a:picLocks noChangeAspect="1"/>
          </p:cNvPicPr>
          <p:nvPr/>
        </p:nvPicPr>
        <p:blipFill rotWithShape="1">
          <a:blip r:embed="rId2"/>
          <a:srcRect l="20088" r="19873" b="8"/>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5C5E08-D618-7198-EEF3-5374BE468C00}"/>
              </a:ext>
            </a:extLst>
          </p:cNvPr>
          <p:cNvSpPr>
            <a:spLocks noGrp="1"/>
          </p:cNvSpPr>
          <p:nvPr>
            <p:ph type="title"/>
          </p:nvPr>
        </p:nvSpPr>
        <p:spPr>
          <a:xfrm>
            <a:off x="761801" y="328512"/>
            <a:ext cx="4778387" cy="1628970"/>
          </a:xfrm>
        </p:spPr>
        <p:txBody>
          <a:bodyPr anchor="ctr">
            <a:normAutofit/>
          </a:bodyPr>
          <a:lstStyle/>
          <a:p>
            <a:r>
              <a:rPr lang="en-US" sz="4000" b="1">
                <a:latin typeface="Calibri"/>
                <a:cs typeface="Calibri"/>
              </a:rPr>
              <a:t>BUSINESS MODEL OVERVIEW</a:t>
            </a:r>
            <a:endParaRPr lang="en-US" sz="4000">
              <a:latin typeface="Calibri"/>
              <a:cs typeface="Calibri"/>
            </a:endParaRPr>
          </a:p>
        </p:txBody>
      </p:sp>
      <p:sp>
        <p:nvSpPr>
          <p:cNvPr id="8" name="Content Placeholder 2">
            <a:extLst>
              <a:ext uri="{FF2B5EF4-FFF2-40B4-BE49-F238E27FC236}">
                <a16:creationId xmlns:a16="http://schemas.microsoft.com/office/drawing/2014/main" id="{22E9069B-C90D-8B67-129D-078C6E4D8C5D}"/>
              </a:ext>
            </a:extLst>
          </p:cNvPr>
          <p:cNvSpPr>
            <a:spLocks noGrp="1"/>
          </p:cNvSpPr>
          <p:nvPr>
            <p:ph idx="1"/>
          </p:nvPr>
        </p:nvSpPr>
        <p:spPr>
          <a:xfrm>
            <a:off x="761801" y="2462740"/>
            <a:ext cx="4948080" cy="4290595"/>
          </a:xfrm>
        </p:spPr>
        <p:txBody>
          <a:bodyPr vert="horz" lIns="91440" tIns="45720" rIns="91440" bIns="45720" rtlCol="0" anchor="ctr">
            <a:normAutofit/>
          </a:bodyPr>
          <a:lstStyle/>
          <a:p>
            <a:pPr marL="0" indent="0">
              <a:buNone/>
            </a:pPr>
            <a:r>
              <a:rPr lang="en-US" sz="2000" b="1">
                <a:ea typeface="+mn-lt"/>
                <a:cs typeface="+mn-lt"/>
              </a:rPr>
              <a:t>Objective</a:t>
            </a:r>
            <a:endParaRPr lang="en-US" sz="2000">
              <a:ea typeface="+mn-lt"/>
              <a:cs typeface="+mn-lt"/>
            </a:endParaRPr>
          </a:p>
          <a:p>
            <a:pPr lvl="1"/>
            <a:r>
              <a:rPr lang="en-US" sz="2000">
                <a:ea typeface="+mn-lt"/>
                <a:cs typeface="+mn-lt"/>
              </a:rPr>
              <a:t>Maximize revenue while providing scalable, secure, and efficient solutions</a:t>
            </a:r>
            <a:endParaRPr lang="en-US" sz="2000">
              <a:cs typeface="Calibri" panose="020F0502020204030204"/>
            </a:endParaRPr>
          </a:p>
          <a:p>
            <a:pPr marL="0" indent="0">
              <a:buNone/>
            </a:pPr>
            <a:r>
              <a:rPr lang="en-US" sz="2000" b="1">
                <a:ea typeface="+mn-lt"/>
                <a:cs typeface="+mn-lt"/>
              </a:rPr>
              <a:t>Revenue Components</a:t>
            </a:r>
            <a:endParaRPr lang="en-US" sz="2000">
              <a:cs typeface="Calibri"/>
            </a:endParaRPr>
          </a:p>
          <a:p>
            <a:pPr lvl="1"/>
            <a:r>
              <a:rPr lang="en-US" sz="2000">
                <a:ea typeface="+mn-lt"/>
                <a:cs typeface="+mn-lt"/>
              </a:rPr>
              <a:t>Licensing Fees</a:t>
            </a:r>
            <a:endParaRPr lang="en-US" sz="2000"/>
          </a:p>
          <a:p>
            <a:pPr lvl="1"/>
            <a:r>
              <a:rPr lang="en-US" sz="2000">
                <a:ea typeface="+mn-lt"/>
                <a:cs typeface="+mn-lt"/>
              </a:rPr>
              <a:t>Subscription Services</a:t>
            </a:r>
            <a:endParaRPr lang="en-US" sz="2000"/>
          </a:p>
          <a:p>
            <a:pPr lvl="1"/>
            <a:r>
              <a:rPr lang="en-US" sz="2000">
                <a:ea typeface="+mn-lt"/>
                <a:cs typeface="+mn-lt"/>
              </a:rPr>
              <a:t>Installation Services</a:t>
            </a:r>
            <a:endParaRPr lang="en-US" sz="2000"/>
          </a:p>
          <a:p>
            <a:pPr lvl="1"/>
            <a:r>
              <a:rPr lang="en-US" sz="2000">
                <a:ea typeface="+mn-lt"/>
                <a:cs typeface="+mn-lt"/>
              </a:rPr>
              <a:t>Community Contributions</a:t>
            </a:r>
            <a:endParaRPr lang="en-US" sz="2000"/>
          </a:p>
          <a:p>
            <a:pPr marL="0" indent="0">
              <a:buNone/>
            </a:pPr>
            <a:r>
              <a:rPr lang="en-US" sz="2000" b="1">
                <a:ea typeface="+mn-lt"/>
                <a:cs typeface="+mn-lt"/>
              </a:rPr>
              <a:t>Target Audience</a:t>
            </a:r>
            <a:endParaRPr lang="en-US" sz="2000">
              <a:ea typeface="+mn-lt"/>
              <a:cs typeface="+mn-lt"/>
            </a:endParaRPr>
          </a:p>
          <a:p>
            <a:pPr lvl="1"/>
            <a:r>
              <a:rPr lang="en-US" sz="2000">
                <a:ea typeface="+mn-lt"/>
                <a:cs typeface="+mn-lt"/>
              </a:rPr>
              <a:t>Small businesses to large corporations</a:t>
            </a:r>
            <a:endParaRPr lang="en-US" sz="2000">
              <a:cs typeface="Calibri"/>
            </a:endParaRPr>
          </a:p>
        </p:txBody>
      </p:sp>
    </p:spTree>
    <p:extLst>
      <p:ext uri="{BB962C8B-B14F-4D97-AF65-F5344CB8AC3E}">
        <p14:creationId xmlns:p14="http://schemas.microsoft.com/office/powerpoint/2010/main" val="1609921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DF1B20-BDE0-BA89-A507-69A3942A3DC7}"/>
              </a:ext>
            </a:extLst>
          </p:cNvPr>
          <p:cNvSpPr>
            <a:spLocks noGrp="1"/>
          </p:cNvSpPr>
          <p:nvPr>
            <p:ph type="title"/>
          </p:nvPr>
        </p:nvSpPr>
        <p:spPr>
          <a:xfrm>
            <a:off x="1389278" y="1233241"/>
            <a:ext cx="3240506" cy="4064628"/>
          </a:xfrm>
        </p:spPr>
        <p:txBody>
          <a:bodyPr>
            <a:normAutofit/>
          </a:bodyPr>
          <a:lstStyle/>
          <a:p>
            <a:r>
              <a:rPr lang="en-US" sz="3700" b="1">
                <a:solidFill>
                  <a:srgbClr val="FFFFFF"/>
                </a:solidFill>
                <a:latin typeface="Calibri"/>
                <a:cs typeface="Calibri"/>
              </a:rPr>
              <a:t>LICENSING FEES AND SUBSCRIPTION SERVICES</a:t>
            </a:r>
            <a:endParaRPr lang="en-US" sz="3700">
              <a:solidFill>
                <a:srgbClr val="FFFFFF"/>
              </a:solidFill>
              <a:latin typeface="Calibri"/>
              <a:cs typeface="Calibri"/>
            </a:endParaRP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A994C93-C5A3-7119-EAE1-43182CDC5A31}"/>
              </a:ext>
            </a:extLst>
          </p:cNvPr>
          <p:cNvSpPr>
            <a:spLocks noGrp="1"/>
          </p:cNvSpPr>
          <p:nvPr>
            <p:ph idx="1"/>
          </p:nvPr>
        </p:nvSpPr>
        <p:spPr>
          <a:xfrm>
            <a:off x="6096000" y="584364"/>
            <a:ext cx="5865017" cy="6269830"/>
          </a:xfrm>
        </p:spPr>
        <p:txBody>
          <a:bodyPr vert="horz" lIns="91440" tIns="45720" rIns="91440" bIns="45720" rtlCol="0" anchor="t">
            <a:noAutofit/>
          </a:bodyPr>
          <a:lstStyle/>
          <a:p>
            <a:pPr marL="0" indent="0">
              <a:buNone/>
            </a:pPr>
            <a:r>
              <a:rPr lang="en-US" sz="2000" b="1">
                <a:ea typeface="+mn-lt"/>
                <a:cs typeface="+mn-lt"/>
              </a:rPr>
              <a:t>LICENSING FEES</a:t>
            </a:r>
          </a:p>
          <a:p>
            <a:pPr marL="0" indent="0">
              <a:buNone/>
            </a:pPr>
            <a:r>
              <a:rPr lang="en-US" sz="2000" b="1">
                <a:ea typeface="+mn-lt"/>
                <a:cs typeface="+mn-lt"/>
              </a:rPr>
              <a:t>-Initial Licensing Fee:</a:t>
            </a:r>
            <a:endParaRPr lang="en-US" sz="2000" b="1">
              <a:ea typeface="Calibri"/>
              <a:cs typeface="Calibri" panose="020F0502020204030204"/>
            </a:endParaRPr>
          </a:p>
          <a:p>
            <a:pPr lvl="1"/>
            <a:r>
              <a:rPr lang="en-US" sz="2000">
                <a:ea typeface="+mn-lt"/>
                <a:cs typeface="+mn-lt"/>
              </a:rPr>
              <a:t>One-time fee for installing and running the Docker container.</a:t>
            </a:r>
            <a:endParaRPr lang="en-US" sz="2000">
              <a:ea typeface="Calibri"/>
              <a:cs typeface="Calibri"/>
            </a:endParaRPr>
          </a:p>
          <a:p>
            <a:pPr marL="0" indent="0">
              <a:buNone/>
            </a:pPr>
            <a:r>
              <a:rPr lang="en-US" sz="2000" b="1">
                <a:ea typeface="+mn-lt"/>
                <a:cs typeface="+mn-lt"/>
              </a:rPr>
              <a:t>-Renewal Fees:</a:t>
            </a:r>
            <a:endParaRPr lang="en-US" sz="2000">
              <a:ea typeface="Calibri"/>
              <a:cs typeface="Calibri"/>
            </a:endParaRPr>
          </a:p>
          <a:p>
            <a:pPr lvl="1"/>
            <a:r>
              <a:rPr lang="en-US" sz="2000">
                <a:ea typeface="+mn-lt"/>
                <a:cs typeface="+mn-lt"/>
              </a:rPr>
              <a:t>Annual fee for updates and support, ensuring continuous platform improvements and security updates.</a:t>
            </a:r>
            <a:endParaRPr lang="en-US" sz="2000">
              <a:ea typeface="Calibri"/>
              <a:cs typeface="Calibri"/>
            </a:endParaRPr>
          </a:p>
          <a:p>
            <a:pPr>
              <a:buNone/>
            </a:pPr>
            <a:r>
              <a:rPr lang="en-US" sz="2000" b="1">
                <a:ea typeface="+mn-lt"/>
                <a:cs typeface="+mn-lt"/>
              </a:rPr>
              <a:t>SUBSCRIPTION SERVICES</a:t>
            </a:r>
            <a:endParaRPr lang="en-US" sz="2000">
              <a:ea typeface="Calibri"/>
              <a:cs typeface="Calibri"/>
            </a:endParaRPr>
          </a:p>
          <a:p>
            <a:pPr marL="0" indent="0">
              <a:buNone/>
            </a:pPr>
            <a:r>
              <a:rPr lang="en-US" sz="2000" b="1">
                <a:ea typeface="+mn-lt"/>
                <a:cs typeface="+mn-lt"/>
              </a:rPr>
              <a:t>-Standard Subscription:</a:t>
            </a:r>
          </a:p>
          <a:p>
            <a:pPr lvl="1"/>
            <a:r>
              <a:rPr lang="en-US" sz="2000">
                <a:ea typeface="+mn-lt"/>
                <a:cs typeface="+mn-lt"/>
              </a:rPr>
              <a:t>Access to basic functionalities, regular updates, and standard customer support.</a:t>
            </a:r>
          </a:p>
          <a:p>
            <a:pPr marL="0" indent="0">
              <a:buNone/>
            </a:pPr>
            <a:r>
              <a:rPr lang="en-US" sz="2000" b="1">
                <a:ea typeface="+mn-lt"/>
                <a:cs typeface="+mn-lt"/>
              </a:rPr>
              <a:t>-Premium Subscription:</a:t>
            </a:r>
            <a:endParaRPr lang="en-US" sz="2000">
              <a:ea typeface="+mn-lt"/>
              <a:cs typeface="+mn-lt"/>
            </a:endParaRPr>
          </a:p>
          <a:p>
            <a:pPr lvl="1"/>
            <a:r>
              <a:rPr lang="en-US" sz="2000">
                <a:ea typeface="+mn-lt"/>
                <a:cs typeface="+mn-lt"/>
              </a:rPr>
              <a:t>Advanced features, enhanced analytics, priority support, early access to new features.</a:t>
            </a:r>
          </a:p>
          <a:p>
            <a:pPr marL="0" indent="0">
              <a:buNone/>
            </a:pPr>
            <a:r>
              <a:rPr lang="en-US" sz="2000" b="1">
                <a:ea typeface="+mn-lt"/>
                <a:cs typeface="+mn-lt"/>
              </a:rPr>
              <a:t>-Scalability:</a:t>
            </a:r>
            <a:endParaRPr lang="en-US" sz="2000">
              <a:ea typeface="+mn-lt"/>
              <a:cs typeface="+mn-lt"/>
            </a:endParaRPr>
          </a:p>
          <a:p>
            <a:pPr lvl="1"/>
            <a:r>
              <a:rPr lang="en-US" sz="2000">
                <a:ea typeface="+mn-lt"/>
                <a:cs typeface="+mn-lt"/>
              </a:rPr>
              <a:t>Plans tailored to different company sizes and needs.</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97559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BEDE1-14EB-F2BC-1060-AC0BFE2A279F}"/>
              </a:ext>
            </a:extLst>
          </p:cNvPr>
          <p:cNvSpPr>
            <a:spLocks noGrp="1"/>
          </p:cNvSpPr>
          <p:nvPr>
            <p:ph type="title"/>
          </p:nvPr>
        </p:nvSpPr>
        <p:spPr/>
        <p:txBody>
          <a:bodyPr>
            <a:normAutofit/>
          </a:bodyPr>
          <a:lstStyle/>
          <a:p>
            <a:r>
              <a:rPr lang="en-US" sz="3600" b="1">
                <a:latin typeface="Calibri"/>
                <a:cs typeface="Calibri"/>
              </a:rPr>
              <a:t>ADDITIONAL REVENUE STREAMS</a:t>
            </a:r>
            <a:endParaRPr lang="en-US" sz="3600">
              <a:latin typeface="Calibri"/>
              <a:cs typeface="Calibri"/>
            </a:endParaRPr>
          </a:p>
        </p:txBody>
      </p:sp>
      <p:sp>
        <p:nvSpPr>
          <p:cNvPr id="3" name="Content Placeholder 2">
            <a:extLst>
              <a:ext uri="{FF2B5EF4-FFF2-40B4-BE49-F238E27FC236}">
                <a16:creationId xmlns:a16="http://schemas.microsoft.com/office/drawing/2014/main" id="{0C4BF1F1-9D59-D1D1-F640-5CA69BF653B0}"/>
              </a:ext>
            </a:extLst>
          </p:cNvPr>
          <p:cNvSpPr>
            <a:spLocks noGrp="1"/>
          </p:cNvSpPr>
          <p:nvPr>
            <p:ph idx="1"/>
          </p:nvPr>
        </p:nvSpPr>
        <p:spPr>
          <a:xfrm>
            <a:off x="838200" y="1825625"/>
            <a:ext cx="10515600" cy="4648994"/>
          </a:xfrm>
        </p:spPr>
        <p:txBody>
          <a:bodyPr vert="horz" lIns="91440" tIns="45720" rIns="91440" bIns="45720" rtlCol="0" anchor="t">
            <a:normAutofit/>
          </a:bodyPr>
          <a:lstStyle/>
          <a:p>
            <a:endParaRPr lang="en-US" sz="2400" b="1">
              <a:ea typeface="+mn-lt"/>
              <a:cs typeface="+mn-lt"/>
            </a:endParaRPr>
          </a:p>
          <a:p>
            <a:pPr marL="0" indent="0">
              <a:buNone/>
            </a:pPr>
            <a:r>
              <a:rPr lang="en-US" sz="2400" b="1">
                <a:ea typeface="+mn-lt"/>
                <a:cs typeface="+mn-lt"/>
              </a:rPr>
              <a:t>Installation Services</a:t>
            </a:r>
            <a:endParaRPr lang="en-US" sz="2400">
              <a:cs typeface="Calibri" panose="020F0502020204030204"/>
            </a:endParaRPr>
          </a:p>
          <a:p>
            <a:pPr lvl="1"/>
            <a:r>
              <a:rPr lang="en-US">
                <a:solidFill>
                  <a:srgbClr val="0D0D0D"/>
                </a:solidFill>
                <a:ea typeface="+mn-lt"/>
                <a:cs typeface="+mn-lt"/>
              </a:rPr>
              <a:t>On-site Installation: Technicians install and configure the Docker container.</a:t>
            </a:r>
            <a:endParaRPr lang="en-US"/>
          </a:p>
          <a:p>
            <a:pPr lvl="1"/>
            <a:r>
              <a:rPr lang="en-US">
                <a:solidFill>
                  <a:srgbClr val="0D0D0D"/>
                </a:solidFill>
                <a:ea typeface="+mn-lt"/>
                <a:cs typeface="+mn-lt"/>
              </a:rPr>
              <a:t>Remote Setup: Virtual assistance for installation and configuration.</a:t>
            </a:r>
            <a:endParaRPr lang="en-US"/>
          </a:p>
          <a:p>
            <a:pPr lvl="1"/>
            <a:r>
              <a:rPr lang="en-US">
                <a:solidFill>
                  <a:srgbClr val="0D0D0D"/>
                </a:solidFill>
                <a:ea typeface="+mn-lt"/>
                <a:cs typeface="+mn-lt"/>
              </a:rPr>
              <a:t>Training and Onboarding: Sessions for staff to effectively use the platform.</a:t>
            </a:r>
            <a:endParaRPr lang="en-US"/>
          </a:p>
          <a:p>
            <a:pPr marL="0" indent="0">
              <a:buNone/>
            </a:pPr>
            <a:r>
              <a:rPr lang="en-US" sz="2400" b="1">
                <a:ea typeface="+mn-lt"/>
                <a:cs typeface="+mn-lt"/>
              </a:rPr>
              <a:t>Community Contributions</a:t>
            </a:r>
            <a:endParaRPr lang="en-US" sz="2400">
              <a:cs typeface="Calibri"/>
            </a:endParaRPr>
          </a:p>
          <a:p>
            <a:pPr lvl="1"/>
            <a:r>
              <a:rPr lang="en-US">
                <a:solidFill>
                  <a:srgbClr val="0D0D0D"/>
                </a:solidFill>
                <a:ea typeface="+mn-lt"/>
                <a:cs typeface="+mn-lt"/>
              </a:rPr>
              <a:t>Marketplace Fees: Percentage of sales from developer plugins.</a:t>
            </a:r>
            <a:endParaRPr lang="en-US"/>
          </a:p>
          <a:p>
            <a:pPr lvl="1"/>
            <a:r>
              <a:rPr lang="en-US">
                <a:solidFill>
                  <a:srgbClr val="0D0D0D"/>
                </a:solidFill>
                <a:ea typeface="+mn-lt"/>
                <a:cs typeface="+mn-lt"/>
              </a:rPr>
              <a:t>Certification Fees: Ensuring third-party plugins meet compatibility and security standards.</a:t>
            </a:r>
            <a:endParaRPr lang="en-US"/>
          </a:p>
          <a:p>
            <a:pPr marL="0" indent="0">
              <a:buNone/>
            </a:pPr>
            <a:endParaRPr lang="en-US" sz="2400">
              <a:cs typeface="Calibri"/>
            </a:endParaRPr>
          </a:p>
        </p:txBody>
      </p:sp>
    </p:spTree>
    <p:extLst>
      <p:ext uri="{BB962C8B-B14F-4D97-AF65-F5344CB8AC3E}">
        <p14:creationId xmlns:p14="http://schemas.microsoft.com/office/powerpoint/2010/main" val="929031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7D8DF-EF32-E3BB-88B1-0C27F8BE91E5}"/>
              </a:ext>
            </a:extLst>
          </p:cNvPr>
          <p:cNvSpPr>
            <a:spLocks noGrp="1"/>
          </p:cNvSpPr>
          <p:nvPr>
            <p:ph type="title"/>
          </p:nvPr>
        </p:nvSpPr>
        <p:spPr>
          <a:xfrm>
            <a:off x="311945" y="-5761"/>
            <a:ext cx="3927607" cy="405095"/>
          </a:xfrm>
        </p:spPr>
        <p:txBody>
          <a:bodyPr>
            <a:normAutofit fontScale="90000"/>
          </a:bodyPr>
          <a:lstStyle/>
          <a:p>
            <a:r>
              <a:rPr lang="en-US" sz="2400" b="1">
                <a:latin typeface="Calibri"/>
                <a:cs typeface="Calibri"/>
              </a:rPr>
              <a:t> BUSINESS MODEL CANVAS</a:t>
            </a:r>
            <a:endParaRPr lang="en-US" sz="2400">
              <a:cs typeface="Calibri Light"/>
            </a:endParaRPr>
          </a:p>
        </p:txBody>
      </p:sp>
      <p:pic>
        <p:nvPicPr>
          <p:cNvPr id="11" name="Picture 10" descr="A screenshot of a diagram&#10;&#10;Description automatically generated">
            <a:extLst>
              <a:ext uri="{FF2B5EF4-FFF2-40B4-BE49-F238E27FC236}">
                <a16:creationId xmlns:a16="http://schemas.microsoft.com/office/drawing/2014/main" id="{CCD1D870-4FD3-1B17-4D06-AD75CE48109A}"/>
              </a:ext>
            </a:extLst>
          </p:cNvPr>
          <p:cNvPicPr>
            <a:picLocks noChangeAspect="1"/>
          </p:cNvPicPr>
          <p:nvPr/>
        </p:nvPicPr>
        <p:blipFill>
          <a:blip r:embed="rId2"/>
          <a:stretch>
            <a:fillRect/>
          </a:stretch>
        </p:blipFill>
        <p:spPr>
          <a:xfrm>
            <a:off x="-1116061" y="563803"/>
            <a:ext cx="14432490" cy="6295926"/>
          </a:xfrm>
          <a:prstGeom prst="rect">
            <a:avLst/>
          </a:prstGeom>
        </p:spPr>
      </p:pic>
    </p:spTree>
    <p:extLst>
      <p:ext uri="{BB962C8B-B14F-4D97-AF65-F5344CB8AC3E}">
        <p14:creationId xmlns:p14="http://schemas.microsoft.com/office/powerpoint/2010/main" val="4100412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BFC2D9-415D-5103-9AD7-49D50022E9E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1" kern="1200">
                <a:solidFill>
                  <a:srgbClr val="FFFFFF"/>
                </a:solidFill>
                <a:latin typeface="+mj-lt"/>
                <a:ea typeface="+mj-ea"/>
                <a:cs typeface="+mj-cs"/>
              </a:rPr>
              <a:t>E3VALUE EXCHANGE MODEL</a:t>
            </a:r>
            <a:endParaRPr lang="en-US" sz="2600" kern="1200">
              <a:solidFill>
                <a:srgbClr val="FFFFFF"/>
              </a:solidFill>
              <a:latin typeface="+mj-lt"/>
              <a:ea typeface="+mj-ea"/>
              <a:cs typeface="+mj-cs"/>
            </a:endParaRPr>
          </a:p>
        </p:txBody>
      </p:sp>
      <p:pic>
        <p:nvPicPr>
          <p:cNvPr id="4" name="Picture 3" descr="A diagram of a company&#10;&#10;Description automatically generated">
            <a:extLst>
              <a:ext uri="{FF2B5EF4-FFF2-40B4-BE49-F238E27FC236}">
                <a16:creationId xmlns:a16="http://schemas.microsoft.com/office/drawing/2014/main" id="{07C3CD3D-3EBA-6E76-8DC6-B027C3BCF63B}"/>
              </a:ext>
            </a:extLst>
          </p:cNvPr>
          <p:cNvPicPr>
            <a:picLocks noChangeAspect="1"/>
          </p:cNvPicPr>
          <p:nvPr/>
        </p:nvPicPr>
        <p:blipFill>
          <a:blip r:embed="rId2"/>
          <a:stretch>
            <a:fillRect/>
          </a:stretch>
        </p:blipFill>
        <p:spPr>
          <a:xfrm>
            <a:off x="3436677" y="53571"/>
            <a:ext cx="8376651" cy="6531955"/>
          </a:xfrm>
          <a:prstGeom prst="rect">
            <a:avLst/>
          </a:prstGeom>
        </p:spPr>
      </p:pic>
    </p:spTree>
    <p:extLst>
      <p:ext uri="{BB962C8B-B14F-4D97-AF65-F5344CB8AC3E}">
        <p14:creationId xmlns:p14="http://schemas.microsoft.com/office/powerpoint/2010/main" val="191590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B780D5-778D-B9B3-223D-66CE2372F64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a:solidFill>
                  <a:srgbClr val="FFFFFF"/>
                </a:solidFill>
                <a:latin typeface="+mj-lt"/>
                <a:ea typeface="+mj-ea"/>
                <a:cs typeface="+mj-cs"/>
              </a:rPr>
              <a:t>BUSINESS PROCESS LANDSCAPE</a:t>
            </a:r>
            <a:endParaRPr lang="en-US" sz="3600" kern="1200">
              <a:solidFill>
                <a:srgbClr val="FFFFFF"/>
              </a:solidFill>
              <a:latin typeface="+mj-lt"/>
              <a:ea typeface="+mj-ea"/>
              <a:cs typeface="+mj-cs"/>
            </a:endParaRPr>
          </a:p>
        </p:txBody>
      </p:sp>
      <p:pic>
        <p:nvPicPr>
          <p:cNvPr id="6" name="Picture 5" descr="A diagram of a process&#10;&#10;Description automatically generated">
            <a:extLst>
              <a:ext uri="{FF2B5EF4-FFF2-40B4-BE49-F238E27FC236}">
                <a16:creationId xmlns:a16="http://schemas.microsoft.com/office/drawing/2014/main" id="{BC2C446F-6A4B-A30B-A794-EF816022205E}"/>
              </a:ext>
            </a:extLst>
          </p:cNvPr>
          <p:cNvPicPr>
            <a:picLocks noChangeAspect="1"/>
          </p:cNvPicPr>
          <p:nvPr/>
        </p:nvPicPr>
        <p:blipFill>
          <a:blip r:embed="rId2"/>
          <a:stretch>
            <a:fillRect/>
          </a:stretch>
        </p:blipFill>
        <p:spPr>
          <a:xfrm>
            <a:off x="4777316" y="791839"/>
            <a:ext cx="6780700" cy="5271993"/>
          </a:xfrm>
          <a:prstGeom prst="rect">
            <a:avLst/>
          </a:prstGeom>
        </p:spPr>
      </p:pic>
    </p:spTree>
    <p:extLst>
      <p:ext uri="{BB962C8B-B14F-4D97-AF65-F5344CB8AC3E}">
        <p14:creationId xmlns:p14="http://schemas.microsoft.com/office/powerpoint/2010/main" val="3580716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table with black text&#10;&#10;Description automatically generated">
            <a:extLst>
              <a:ext uri="{FF2B5EF4-FFF2-40B4-BE49-F238E27FC236}">
                <a16:creationId xmlns:a16="http://schemas.microsoft.com/office/drawing/2014/main" id="{FC03433E-7646-B35F-F5AB-42F74D8AFD9C}"/>
              </a:ext>
            </a:extLst>
          </p:cNvPr>
          <p:cNvPicPr>
            <a:picLocks noGrp="1" noChangeAspect="1"/>
          </p:cNvPicPr>
          <p:nvPr>
            <p:ph idx="1"/>
          </p:nvPr>
        </p:nvPicPr>
        <p:blipFill>
          <a:blip r:embed="rId2"/>
          <a:stretch>
            <a:fillRect/>
          </a:stretch>
        </p:blipFill>
        <p:spPr>
          <a:xfrm>
            <a:off x="2382" y="3174"/>
            <a:ext cx="12187237" cy="2793207"/>
          </a:xfrm>
        </p:spPr>
      </p:pic>
      <p:pic>
        <p:nvPicPr>
          <p:cNvPr id="6" name="Picture 5" descr="A white table with black text&#10;&#10;Description automatically generated">
            <a:extLst>
              <a:ext uri="{FF2B5EF4-FFF2-40B4-BE49-F238E27FC236}">
                <a16:creationId xmlns:a16="http://schemas.microsoft.com/office/drawing/2014/main" id="{9A00212B-4BFC-678E-87B6-448A22681016}"/>
              </a:ext>
            </a:extLst>
          </p:cNvPr>
          <p:cNvPicPr>
            <a:picLocks noChangeAspect="1"/>
          </p:cNvPicPr>
          <p:nvPr/>
        </p:nvPicPr>
        <p:blipFill>
          <a:blip r:embed="rId3"/>
          <a:stretch>
            <a:fillRect/>
          </a:stretch>
        </p:blipFill>
        <p:spPr>
          <a:xfrm>
            <a:off x="114299" y="2793205"/>
            <a:ext cx="12082462" cy="4069557"/>
          </a:xfrm>
          <a:prstGeom prst="rect">
            <a:avLst/>
          </a:prstGeom>
        </p:spPr>
      </p:pic>
    </p:spTree>
    <p:extLst>
      <p:ext uri="{BB962C8B-B14F-4D97-AF65-F5344CB8AC3E}">
        <p14:creationId xmlns:p14="http://schemas.microsoft.com/office/powerpoint/2010/main" val="4005921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white table with black text&#10;&#10;Description automatically generated">
            <a:extLst>
              <a:ext uri="{FF2B5EF4-FFF2-40B4-BE49-F238E27FC236}">
                <a16:creationId xmlns:a16="http://schemas.microsoft.com/office/drawing/2014/main" id="{7F18DE1F-2164-5D11-5273-4F320B661B93}"/>
              </a:ext>
            </a:extLst>
          </p:cNvPr>
          <p:cNvPicPr>
            <a:picLocks noGrp="1" noChangeAspect="1"/>
          </p:cNvPicPr>
          <p:nvPr>
            <p:ph idx="1"/>
          </p:nvPr>
        </p:nvPicPr>
        <p:blipFill>
          <a:blip r:embed="rId2"/>
          <a:stretch>
            <a:fillRect/>
          </a:stretch>
        </p:blipFill>
        <p:spPr>
          <a:xfrm>
            <a:off x="1191" y="3176"/>
            <a:ext cx="12189617" cy="4186238"/>
          </a:xfrm>
        </p:spPr>
      </p:pic>
      <p:pic>
        <p:nvPicPr>
          <p:cNvPr id="5" name="Picture 4" descr="A white paper with black text&#10;&#10;Description automatically generated">
            <a:extLst>
              <a:ext uri="{FF2B5EF4-FFF2-40B4-BE49-F238E27FC236}">
                <a16:creationId xmlns:a16="http://schemas.microsoft.com/office/drawing/2014/main" id="{EE4C8D5E-D3B7-76C7-4488-8B5BE25B3725}"/>
              </a:ext>
            </a:extLst>
          </p:cNvPr>
          <p:cNvPicPr>
            <a:picLocks noChangeAspect="1"/>
          </p:cNvPicPr>
          <p:nvPr/>
        </p:nvPicPr>
        <p:blipFill>
          <a:blip r:embed="rId3"/>
          <a:stretch>
            <a:fillRect/>
          </a:stretch>
        </p:blipFill>
        <p:spPr>
          <a:xfrm>
            <a:off x="76844" y="4029075"/>
            <a:ext cx="12110393" cy="2919413"/>
          </a:xfrm>
          <a:prstGeom prst="rect">
            <a:avLst/>
          </a:prstGeom>
        </p:spPr>
      </p:pic>
    </p:spTree>
    <p:extLst>
      <p:ext uri="{BB962C8B-B14F-4D97-AF65-F5344CB8AC3E}">
        <p14:creationId xmlns:p14="http://schemas.microsoft.com/office/powerpoint/2010/main" val="612660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5BCE61-9014-33B6-6DC4-E9EB3154D0A5}"/>
              </a:ext>
            </a:extLst>
          </p:cNvPr>
          <p:cNvSpPr>
            <a:spLocks noGrp="1"/>
          </p:cNvSpPr>
          <p:nvPr>
            <p:ph type="title"/>
          </p:nvPr>
        </p:nvSpPr>
        <p:spPr>
          <a:xfrm>
            <a:off x="305835" y="1153572"/>
            <a:ext cx="3581399" cy="4461163"/>
          </a:xfrm>
        </p:spPr>
        <p:txBody>
          <a:bodyPr>
            <a:normAutofit/>
          </a:bodyPr>
          <a:lstStyle/>
          <a:p>
            <a:r>
              <a:rPr lang="en-US" sz="3700" b="1">
                <a:solidFill>
                  <a:srgbClr val="FFFFFF"/>
                </a:solidFill>
                <a:latin typeface="Calibri"/>
                <a:cs typeface="Calibri"/>
              </a:rPr>
              <a:t>BUSINESS PERSPECTIVE ON T2 TRANSACTION – PART 1</a:t>
            </a:r>
            <a:endParaRPr lang="en-US" sz="3700">
              <a:solidFill>
                <a:srgbClr val="FFFFFF"/>
              </a:solidFill>
              <a:latin typeface="Calibri"/>
              <a:cs typeface="Calibri"/>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CCF6D3E-D47B-5891-4B5D-9896DC4DEAD9}"/>
              </a:ext>
            </a:extLst>
          </p:cNvPr>
          <p:cNvSpPr>
            <a:spLocks noGrp="1"/>
          </p:cNvSpPr>
          <p:nvPr>
            <p:ph idx="1"/>
          </p:nvPr>
        </p:nvSpPr>
        <p:spPr>
          <a:xfrm>
            <a:off x="4447308" y="305595"/>
            <a:ext cx="6906491" cy="6538117"/>
          </a:xfrm>
        </p:spPr>
        <p:txBody>
          <a:bodyPr vert="horz" lIns="91440" tIns="45720" rIns="91440" bIns="45720" rtlCol="0" anchor="ctr">
            <a:normAutofit/>
          </a:bodyPr>
          <a:lstStyle/>
          <a:p>
            <a:pPr marL="0" indent="0">
              <a:buNone/>
            </a:pPr>
            <a:r>
              <a:rPr lang="en-US" b="1">
                <a:ea typeface="+mn-lt"/>
                <a:cs typeface="+mn-lt"/>
              </a:rPr>
              <a:t>Impact on Business Model</a:t>
            </a:r>
            <a:endParaRPr lang="en-US">
              <a:cs typeface="Calibri" panose="020F0502020204030204"/>
            </a:endParaRPr>
          </a:p>
          <a:p>
            <a:pPr marL="0" indent="0">
              <a:buNone/>
            </a:pPr>
            <a:endParaRPr lang="en-US" b="1">
              <a:ea typeface="+mn-lt"/>
              <a:cs typeface="+mn-lt"/>
            </a:endParaRPr>
          </a:p>
          <a:p>
            <a:pPr marL="457200" lvl="1" indent="0">
              <a:buNone/>
            </a:pPr>
            <a:r>
              <a:rPr lang="en-US" b="1">
                <a:ea typeface="+mn-lt"/>
                <a:cs typeface="+mn-lt"/>
              </a:rPr>
              <a:t>Revenue Generation</a:t>
            </a:r>
            <a:endParaRPr lang="en-US">
              <a:cs typeface="Calibri"/>
            </a:endParaRPr>
          </a:p>
          <a:p>
            <a:pPr lvl="2"/>
            <a:r>
              <a:rPr lang="en-US">
                <a:ea typeface="+mn-lt"/>
                <a:cs typeface="+mn-lt"/>
              </a:rPr>
              <a:t>T2 drives transaction volume on the platform.</a:t>
            </a:r>
            <a:endParaRPr lang="en-US">
              <a:cs typeface="Calibri"/>
            </a:endParaRPr>
          </a:p>
          <a:p>
            <a:pPr lvl="2"/>
            <a:r>
              <a:rPr lang="en-US">
                <a:ea typeface="+mn-lt"/>
                <a:cs typeface="+mn-lt"/>
              </a:rPr>
              <a:t>Successful matches increase perceived value of subscription plans.</a:t>
            </a:r>
            <a:endParaRPr lang="en-US">
              <a:cs typeface="Calibri"/>
            </a:endParaRPr>
          </a:p>
          <a:p>
            <a:pPr marL="457200" lvl="1" indent="0">
              <a:buNone/>
            </a:pPr>
            <a:r>
              <a:rPr lang="en-US" b="1">
                <a:ea typeface="+mn-lt"/>
                <a:cs typeface="+mn-lt"/>
              </a:rPr>
              <a:t>User Engagement and Retention</a:t>
            </a:r>
            <a:endParaRPr lang="en-US">
              <a:cs typeface="Calibri"/>
            </a:endParaRPr>
          </a:p>
          <a:p>
            <a:pPr lvl="2"/>
            <a:r>
              <a:rPr lang="en-US">
                <a:ea typeface="+mn-lt"/>
                <a:cs typeface="+mn-lt"/>
              </a:rPr>
              <a:t>Efficient matching capabilities enhance satisfaction and retention.</a:t>
            </a:r>
            <a:endParaRPr lang="en-US">
              <a:cs typeface="Calibri"/>
            </a:endParaRPr>
          </a:p>
          <a:p>
            <a:pPr lvl="2"/>
            <a:r>
              <a:rPr lang="en-US">
                <a:ea typeface="+mn-lt"/>
                <a:cs typeface="+mn-lt"/>
              </a:rPr>
              <a:t>Quick and accurate matches make the platform indispensable.</a:t>
            </a:r>
            <a:endParaRPr lang="en-US">
              <a:cs typeface="Calibri"/>
            </a:endParaRPr>
          </a:p>
          <a:p>
            <a:pPr marL="457200" lvl="1" indent="0">
              <a:buNone/>
            </a:pPr>
            <a:r>
              <a:rPr lang="en-US" b="1">
                <a:ea typeface="+mn-lt"/>
                <a:cs typeface="+mn-lt"/>
              </a:rPr>
              <a:t>Data Utilization and Value Proposition</a:t>
            </a:r>
            <a:endParaRPr lang="en-US">
              <a:cs typeface="Calibri"/>
            </a:endParaRPr>
          </a:p>
          <a:p>
            <a:pPr lvl="2"/>
            <a:r>
              <a:rPr lang="en-US">
                <a:ea typeface="+mn-lt"/>
                <a:cs typeface="+mn-lt"/>
              </a:rPr>
              <a:t>Leverages data from T1 phase to match employees with opportunities.</a:t>
            </a:r>
            <a:endParaRPr lang="en-US">
              <a:cs typeface="Calibri"/>
            </a:endParaRPr>
          </a:p>
          <a:p>
            <a:pPr lvl="2"/>
            <a:r>
              <a:rPr lang="en-US">
                <a:ea typeface="+mn-lt"/>
                <a:cs typeface="+mn-lt"/>
              </a:rPr>
              <a:t>Demonstrates value proposition to C1 and C2, enhancing competitive edge.</a:t>
            </a:r>
            <a:endParaRPr lang="en-US">
              <a:cs typeface="Calibri"/>
            </a:endParaRPr>
          </a:p>
        </p:txBody>
      </p:sp>
    </p:spTree>
    <p:extLst>
      <p:ext uri="{BB962C8B-B14F-4D97-AF65-F5344CB8AC3E}">
        <p14:creationId xmlns:p14="http://schemas.microsoft.com/office/powerpoint/2010/main" val="1871126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5630B3A-21D1-6E7B-C46F-CBBB2BDE8692}"/>
              </a:ext>
            </a:extLst>
          </p:cNvPr>
          <p:cNvSpPr txBox="1"/>
          <p:nvPr/>
        </p:nvSpPr>
        <p:spPr>
          <a:xfrm>
            <a:off x="258210" y="1153572"/>
            <a:ext cx="3509961" cy="446116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400" b="1" kern="1200">
                <a:solidFill>
                  <a:srgbClr val="FFFFFF"/>
                </a:solidFill>
                <a:latin typeface="+mj-lt"/>
                <a:ea typeface="+mj-ea"/>
                <a:cs typeface="+mj-cs"/>
              </a:rPr>
              <a:t>BUSINESS PERSPECTIVE ON T2 TRANSACTION – PART 2</a:t>
            </a:r>
            <a:endParaRPr lang="en-US" sz="4400" kern="1200">
              <a:solidFill>
                <a:srgbClr val="FFFFFF"/>
              </a:solidFill>
              <a:latin typeface="+mj-lt"/>
              <a:ea typeface="+mj-ea"/>
              <a:cs typeface="+mj-cs"/>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DD4C5DD-CF29-4338-D861-77B4255B7EB6}"/>
              </a:ext>
            </a:extLst>
          </p:cNvPr>
          <p:cNvSpPr>
            <a:spLocks noGrp="1"/>
          </p:cNvSpPr>
          <p:nvPr>
            <p:ph idx="1"/>
          </p:nvPr>
        </p:nvSpPr>
        <p:spPr>
          <a:xfrm>
            <a:off x="4447308" y="317501"/>
            <a:ext cx="6906491" cy="6550023"/>
          </a:xfrm>
        </p:spPr>
        <p:txBody>
          <a:bodyPr vert="horz" lIns="91440" tIns="45720" rIns="91440" bIns="45720" rtlCol="0" anchor="ctr">
            <a:normAutofit/>
          </a:bodyPr>
          <a:lstStyle/>
          <a:p>
            <a:pPr marL="0" indent="0">
              <a:buNone/>
            </a:pPr>
            <a:r>
              <a:rPr lang="en-US" b="1"/>
              <a:t>Impact on Operational Processes</a:t>
            </a:r>
            <a:endParaRPr lang="en-US">
              <a:cs typeface="Calibri" panose="020F0502020204030204"/>
            </a:endParaRPr>
          </a:p>
          <a:p>
            <a:pPr marL="0"/>
            <a:endParaRPr lang="en-US" b="1"/>
          </a:p>
          <a:p>
            <a:pPr marL="457200" lvl="1" indent="0">
              <a:buNone/>
            </a:pPr>
            <a:r>
              <a:rPr lang="en-US" b="1"/>
              <a:t>Scalability</a:t>
            </a:r>
            <a:endParaRPr lang="en-US">
              <a:cs typeface="Calibri" panose="020F0502020204030204"/>
            </a:endParaRPr>
          </a:p>
          <a:p>
            <a:pPr lvl="2"/>
            <a:r>
              <a:rPr lang="en-US"/>
              <a:t>T2 tests platform's ability to handle large data volumes and interactions.</a:t>
            </a:r>
            <a:endParaRPr lang="en-US">
              <a:cs typeface="Calibri"/>
            </a:endParaRPr>
          </a:p>
          <a:p>
            <a:pPr lvl="2"/>
            <a:r>
              <a:rPr lang="en-US"/>
              <a:t>Influences infrastructure investment decisions.</a:t>
            </a:r>
            <a:endParaRPr lang="en-US">
              <a:cs typeface="Calibri"/>
            </a:endParaRPr>
          </a:p>
          <a:p>
            <a:pPr marL="457200" lvl="1" indent="0">
              <a:buNone/>
            </a:pPr>
            <a:r>
              <a:rPr lang="en-US" b="1"/>
              <a:t>Security and Compliance</a:t>
            </a:r>
            <a:endParaRPr lang="en-US">
              <a:cs typeface="Calibri" panose="020F0502020204030204"/>
            </a:endParaRPr>
          </a:p>
          <a:p>
            <a:pPr lvl="2"/>
            <a:r>
              <a:rPr lang="en-US"/>
              <a:t>Ensures robust security and compliance with data protection regulations.</a:t>
            </a:r>
            <a:endParaRPr lang="en-US">
              <a:cs typeface="Calibri"/>
            </a:endParaRPr>
          </a:p>
          <a:p>
            <a:pPr lvl="2"/>
            <a:r>
              <a:rPr lang="en-US"/>
              <a:t>Protects sensitive employee information during data exchange.</a:t>
            </a:r>
            <a:endParaRPr lang="en-US">
              <a:cs typeface="Calibri"/>
            </a:endParaRPr>
          </a:p>
          <a:p>
            <a:pPr marL="457200" lvl="1" indent="0">
              <a:buNone/>
            </a:pPr>
            <a:r>
              <a:rPr lang="en-US" b="1"/>
              <a:t>Integration and Flexibility</a:t>
            </a:r>
            <a:endParaRPr lang="en-US">
              <a:cs typeface="Calibri" panose="020F0502020204030204"/>
            </a:endParaRPr>
          </a:p>
          <a:p>
            <a:pPr lvl="2"/>
            <a:r>
              <a:rPr lang="en-US"/>
              <a:t>Seamless integration with existing HR and ERP systems.</a:t>
            </a:r>
            <a:endParaRPr lang="en-US">
              <a:cs typeface="Calibri"/>
            </a:endParaRPr>
          </a:p>
          <a:p>
            <a:pPr lvl="2"/>
            <a:r>
              <a:rPr lang="en-US"/>
              <a:t>Influences API design and integration capabilities.</a:t>
            </a:r>
            <a:endParaRPr lang="en-US">
              <a:cs typeface="Calibri"/>
            </a:endParaRPr>
          </a:p>
        </p:txBody>
      </p:sp>
    </p:spTree>
    <p:extLst>
      <p:ext uri="{BB962C8B-B14F-4D97-AF65-F5344CB8AC3E}">
        <p14:creationId xmlns:p14="http://schemas.microsoft.com/office/powerpoint/2010/main" val="2247266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F7F8DE-416D-9DC2-C192-ED124A7C644D}"/>
              </a:ext>
            </a:extLst>
          </p:cNvPr>
          <p:cNvSpPr>
            <a:spLocks noGrp="1"/>
          </p:cNvSpPr>
          <p:nvPr>
            <p:ph type="title"/>
          </p:nvPr>
        </p:nvSpPr>
        <p:spPr>
          <a:xfrm>
            <a:off x="5297762" y="329184"/>
            <a:ext cx="6251110" cy="1783080"/>
          </a:xfrm>
        </p:spPr>
        <p:txBody>
          <a:bodyPr anchor="b">
            <a:normAutofit/>
          </a:bodyPr>
          <a:lstStyle/>
          <a:p>
            <a:r>
              <a:rPr lang="en-US" sz="5400" b="1">
                <a:latin typeface="Calibri"/>
                <a:cs typeface="Calibri"/>
              </a:rPr>
              <a:t>ARCHIMATE ARCHITECTURE</a:t>
            </a:r>
            <a:endParaRPr lang="en-US" sz="5400">
              <a:latin typeface="Calibri"/>
              <a:cs typeface="Calibri"/>
            </a:endParaRPr>
          </a:p>
        </p:txBody>
      </p:sp>
      <p:pic>
        <p:nvPicPr>
          <p:cNvPr id="5" name="Picture 4" descr="3D box skeletons">
            <a:extLst>
              <a:ext uri="{FF2B5EF4-FFF2-40B4-BE49-F238E27FC236}">
                <a16:creationId xmlns:a16="http://schemas.microsoft.com/office/drawing/2014/main" id="{EF0857DF-3589-B638-3B53-09DC078EBB19}"/>
              </a:ext>
            </a:extLst>
          </p:cNvPr>
          <p:cNvPicPr>
            <a:picLocks noChangeAspect="1"/>
          </p:cNvPicPr>
          <p:nvPr/>
        </p:nvPicPr>
        <p:blipFill rotWithShape="1">
          <a:blip r:embed="rId2"/>
          <a:srcRect l="30441" r="24294" b="-3"/>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86A311B-4327-5BAA-B75D-474072CB2563}"/>
              </a:ext>
            </a:extLst>
          </p:cNvPr>
          <p:cNvSpPr>
            <a:spLocks noGrp="1"/>
          </p:cNvSpPr>
          <p:nvPr>
            <p:ph idx="1"/>
          </p:nvPr>
        </p:nvSpPr>
        <p:spPr>
          <a:xfrm>
            <a:off x="5297762" y="2706624"/>
            <a:ext cx="6477328" cy="4150612"/>
          </a:xfrm>
        </p:spPr>
        <p:txBody>
          <a:bodyPr vert="horz" lIns="91440" tIns="45720" rIns="91440" bIns="45720" rtlCol="0" anchor="t">
            <a:normAutofit/>
          </a:bodyPr>
          <a:lstStyle/>
          <a:p>
            <a:pPr marL="0" indent="0">
              <a:buNone/>
            </a:pPr>
            <a:r>
              <a:rPr lang="en-US" sz="2000" b="1">
                <a:ea typeface="+mn-lt"/>
                <a:cs typeface="+mn-lt"/>
              </a:rPr>
              <a:t>  Introduction to ArchiMate</a:t>
            </a:r>
            <a:endParaRPr lang="en-US" sz="2000">
              <a:ea typeface="Calibri" panose="020F0502020204030204"/>
              <a:cs typeface="Calibri" panose="020F0502020204030204"/>
            </a:endParaRPr>
          </a:p>
          <a:p>
            <a:pPr lvl="2"/>
            <a:r>
              <a:rPr lang="en-US">
                <a:ea typeface="+mn-lt"/>
                <a:cs typeface="+mn-lt"/>
              </a:rPr>
              <a:t>ArchiMate is an open and independent modeling language for enterprise architecture.</a:t>
            </a:r>
            <a:endParaRPr lang="en-US">
              <a:ea typeface="Calibri"/>
              <a:cs typeface="Calibri"/>
            </a:endParaRPr>
          </a:p>
          <a:p>
            <a:pPr lvl="2"/>
            <a:r>
              <a:rPr lang="en-US">
                <a:ea typeface="+mn-lt"/>
                <a:cs typeface="+mn-lt"/>
              </a:rPr>
              <a:t>Supported by the Open Group, it provides tools for describing, analyzing, and visualizing relationships among business domains.</a:t>
            </a:r>
            <a:endParaRPr lang="en-US">
              <a:ea typeface="Calibri"/>
              <a:cs typeface="Calibri"/>
            </a:endParaRPr>
          </a:p>
          <a:p>
            <a:pPr marL="457200" lvl="1" indent="0">
              <a:buNone/>
            </a:pPr>
            <a:r>
              <a:rPr lang="en-US" sz="2000" b="1">
                <a:ea typeface="+mn-lt"/>
                <a:cs typeface="+mn-lt"/>
              </a:rPr>
              <a:t>Usefulness for Balanced Workforce Platform</a:t>
            </a:r>
            <a:endParaRPr lang="en-US" sz="2000">
              <a:ea typeface="Calibri" panose="020F0502020204030204"/>
              <a:cs typeface="Calibri"/>
            </a:endParaRPr>
          </a:p>
          <a:p>
            <a:pPr lvl="2"/>
            <a:r>
              <a:rPr lang="en-US">
                <a:ea typeface="+mn-lt"/>
                <a:cs typeface="+mn-lt"/>
              </a:rPr>
              <a:t>Aligns technological infrastructure and business goals.</a:t>
            </a:r>
            <a:endParaRPr lang="en-US">
              <a:ea typeface="Calibri"/>
              <a:cs typeface="Calibri"/>
            </a:endParaRPr>
          </a:p>
          <a:p>
            <a:pPr lvl="2"/>
            <a:r>
              <a:rPr lang="en-US">
                <a:ea typeface="+mn-lt"/>
                <a:cs typeface="+mn-lt"/>
              </a:rPr>
              <a:t>Ensures clarity and consistency across project documentation.</a:t>
            </a:r>
            <a:endParaRPr lang="en-US">
              <a:ea typeface="Calibri"/>
              <a:cs typeface="Calibri"/>
            </a:endParaRPr>
          </a:p>
          <a:p>
            <a:pPr lvl="2"/>
            <a:r>
              <a:rPr lang="en-US">
                <a:ea typeface="+mn-lt"/>
                <a:cs typeface="+mn-lt"/>
              </a:rPr>
              <a:t>Facilitates communication with stakeholders.</a:t>
            </a:r>
            <a:endParaRPr lang="en-US">
              <a:ea typeface="Calibri"/>
              <a:cs typeface="Calibri"/>
            </a:endParaRPr>
          </a:p>
        </p:txBody>
      </p:sp>
    </p:spTree>
    <p:extLst>
      <p:ext uri="{BB962C8B-B14F-4D97-AF65-F5344CB8AC3E}">
        <p14:creationId xmlns:p14="http://schemas.microsoft.com/office/powerpoint/2010/main" val="992059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65148B-9258-960D-877C-AA488297F96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BUSINESS PROCESS COOPERATION VIEWPOINT</a:t>
            </a:r>
            <a:endParaRPr lang="en-US" sz="3200" kern="1200">
              <a:solidFill>
                <a:schemeClr val="bg1"/>
              </a:solidFill>
              <a:latin typeface="+mj-lt"/>
              <a:ea typeface="+mj-ea"/>
              <a:cs typeface="+mj-cs"/>
            </a:endParaRPr>
          </a:p>
        </p:txBody>
      </p:sp>
      <p:pic>
        <p:nvPicPr>
          <p:cNvPr id="6" name="Picture 5" descr="A diagram of a business process&#10;&#10;Description automatically generated">
            <a:extLst>
              <a:ext uri="{FF2B5EF4-FFF2-40B4-BE49-F238E27FC236}">
                <a16:creationId xmlns:a16="http://schemas.microsoft.com/office/drawing/2014/main" id="{B1961B47-8B1B-B745-6664-AD53E832F5F6}"/>
              </a:ext>
            </a:extLst>
          </p:cNvPr>
          <p:cNvPicPr>
            <a:picLocks noChangeAspect="1"/>
          </p:cNvPicPr>
          <p:nvPr/>
        </p:nvPicPr>
        <p:blipFill>
          <a:blip r:embed="rId2"/>
          <a:stretch>
            <a:fillRect/>
          </a:stretch>
        </p:blipFill>
        <p:spPr>
          <a:xfrm>
            <a:off x="969155" y="1390898"/>
            <a:ext cx="10799598" cy="5383661"/>
          </a:xfrm>
          <a:prstGeom prst="rect">
            <a:avLst/>
          </a:prstGeom>
        </p:spPr>
      </p:pic>
    </p:spTree>
    <p:extLst>
      <p:ext uri="{BB962C8B-B14F-4D97-AF65-F5344CB8AC3E}">
        <p14:creationId xmlns:p14="http://schemas.microsoft.com/office/powerpoint/2010/main" val="227669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D4B872-9DA4-5C51-1FCA-B3179A06F310}"/>
              </a:ext>
            </a:extLst>
          </p:cNvPr>
          <p:cNvSpPr>
            <a:spLocks noGrp="1"/>
          </p:cNvSpPr>
          <p:nvPr>
            <p:ph type="title"/>
          </p:nvPr>
        </p:nvSpPr>
        <p:spPr>
          <a:xfrm>
            <a:off x="1028700" y="1967266"/>
            <a:ext cx="2890482" cy="2547257"/>
          </a:xfrm>
          <a:noFill/>
        </p:spPr>
        <p:txBody>
          <a:bodyPr vert="horz" lIns="91440" tIns="45720" rIns="91440" bIns="45720" rtlCol="0" anchor="ctr">
            <a:normAutofit/>
          </a:bodyPr>
          <a:lstStyle/>
          <a:p>
            <a:pPr algn="ctr"/>
            <a:r>
              <a:rPr lang="en-US" sz="3600" b="1" kern="1200">
                <a:solidFill>
                  <a:srgbClr val="FFFFFF"/>
                </a:solidFill>
                <a:latin typeface="+mj-lt"/>
                <a:ea typeface="+mj-ea"/>
                <a:cs typeface="+mj-cs"/>
              </a:rPr>
              <a:t>APPLICATION USAGE VIEWPOINT</a:t>
            </a:r>
            <a:endParaRPr lang="en-US" sz="3600" kern="1200">
              <a:solidFill>
                <a:srgbClr val="FFFFFF"/>
              </a:solidFill>
              <a:latin typeface="+mj-lt"/>
              <a:ea typeface="+mj-ea"/>
              <a:cs typeface="+mj-cs"/>
            </a:endParaRPr>
          </a:p>
        </p:txBody>
      </p:sp>
      <p:pic>
        <p:nvPicPr>
          <p:cNvPr id="6" name="Picture 5" descr="A screenshot of a computer screen&#10;&#10;Description automatically generated">
            <a:extLst>
              <a:ext uri="{FF2B5EF4-FFF2-40B4-BE49-F238E27FC236}">
                <a16:creationId xmlns:a16="http://schemas.microsoft.com/office/drawing/2014/main" id="{F5CEC3F9-8D29-7F76-A41A-F61B2BE930F2}"/>
              </a:ext>
            </a:extLst>
          </p:cNvPr>
          <p:cNvPicPr>
            <a:picLocks noChangeAspect="1"/>
          </p:cNvPicPr>
          <p:nvPr/>
        </p:nvPicPr>
        <p:blipFill>
          <a:blip r:embed="rId2"/>
          <a:stretch>
            <a:fillRect/>
          </a:stretch>
        </p:blipFill>
        <p:spPr>
          <a:xfrm>
            <a:off x="4937088" y="-4802"/>
            <a:ext cx="6870588" cy="6865275"/>
          </a:xfrm>
          <a:prstGeom prst="rect">
            <a:avLst/>
          </a:prstGeom>
        </p:spPr>
      </p:pic>
    </p:spTree>
    <p:extLst>
      <p:ext uri="{BB962C8B-B14F-4D97-AF65-F5344CB8AC3E}">
        <p14:creationId xmlns:p14="http://schemas.microsoft.com/office/powerpoint/2010/main" val="216169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E6E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C875E1-A63B-A125-0836-3F379DCC81B0}"/>
              </a:ext>
            </a:extLst>
          </p:cNvPr>
          <p:cNvSpPr>
            <a:spLocks noGrp="1"/>
          </p:cNvSpPr>
          <p:nvPr>
            <p:ph type="title"/>
          </p:nvPr>
        </p:nvSpPr>
        <p:spPr>
          <a:xfrm>
            <a:off x="4286252" y="303123"/>
            <a:ext cx="7067549" cy="1410778"/>
          </a:xfrm>
        </p:spPr>
        <p:txBody>
          <a:bodyPr>
            <a:normAutofit/>
          </a:bodyPr>
          <a:lstStyle/>
          <a:p>
            <a:r>
              <a:rPr lang="en-US" b="1">
                <a:latin typeface="Calibri"/>
                <a:cs typeface="Calibri"/>
              </a:rPr>
              <a:t>OVERVIEW OF THE ARCHITECTURE</a:t>
            </a:r>
            <a:endParaRPr lang="en-US">
              <a:latin typeface="Calibri"/>
              <a:cs typeface="Calibri"/>
            </a:endParaRPr>
          </a:p>
        </p:txBody>
      </p:sp>
      <p:pic>
        <p:nvPicPr>
          <p:cNvPr id="5" name="Picture 4" descr="Top view of cubes connected with black lines">
            <a:extLst>
              <a:ext uri="{FF2B5EF4-FFF2-40B4-BE49-F238E27FC236}">
                <a16:creationId xmlns:a16="http://schemas.microsoft.com/office/drawing/2014/main" id="{868F1CBE-D542-A55B-665C-C8402C95B84D}"/>
              </a:ext>
            </a:extLst>
          </p:cNvPr>
          <p:cNvPicPr>
            <a:picLocks noChangeAspect="1"/>
          </p:cNvPicPr>
          <p:nvPr/>
        </p:nvPicPr>
        <p:blipFill rotWithShape="1">
          <a:blip r:embed="rId2"/>
          <a:srcRect l="34621" r="24318" b="4"/>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E0E9FB60-E211-9409-8B69-E4D15E7C7A7B}"/>
              </a:ext>
            </a:extLst>
          </p:cNvPr>
          <p:cNvSpPr>
            <a:spLocks noGrp="1"/>
          </p:cNvSpPr>
          <p:nvPr>
            <p:ph idx="1"/>
          </p:nvPr>
        </p:nvSpPr>
        <p:spPr>
          <a:xfrm>
            <a:off x="4286252" y="1913635"/>
            <a:ext cx="7900986" cy="4949443"/>
          </a:xfrm>
        </p:spPr>
        <p:txBody>
          <a:bodyPr vert="horz" lIns="91440" tIns="45720" rIns="91440" bIns="45720" rtlCol="0" anchor="t">
            <a:normAutofit/>
          </a:bodyPr>
          <a:lstStyle/>
          <a:p>
            <a:pPr marL="0" indent="0">
              <a:buNone/>
            </a:pPr>
            <a:r>
              <a:rPr lang="en-US" sz="2000" b="1">
                <a:ea typeface="+mn-lt"/>
                <a:cs typeface="+mn-lt"/>
              </a:rPr>
              <a:t>KEY COMPONENTS</a:t>
            </a:r>
            <a:endParaRPr lang="en-US" sz="2000">
              <a:ea typeface="Calibri"/>
              <a:cs typeface="Calibri" panose="020F0502020204030204"/>
            </a:endParaRPr>
          </a:p>
          <a:p>
            <a:pPr marL="457200" lvl="1" indent="0">
              <a:buNone/>
            </a:pPr>
            <a:r>
              <a:rPr lang="en-US" sz="1800" b="1">
                <a:ea typeface="+mn-lt"/>
                <a:cs typeface="+mn-lt"/>
              </a:rPr>
              <a:t>Docker Image/Container (Node)</a:t>
            </a:r>
            <a:endParaRPr lang="en-US" sz="1800">
              <a:ea typeface="Calibri"/>
              <a:cs typeface="Calibri"/>
            </a:endParaRPr>
          </a:p>
          <a:p>
            <a:pPr lvl="2"/>
            <a:r>
              <a:rPr lang="en-US" sz="1800" b="1">
                <a:ea typeface="+mn-lt"/>
                <a:cs typeface="+mn-lt"/>
              </a:rPr>
              <a:t>Web Platform:</a:t>
            </a:r>
            <a:r>
              <a:rPr lang="en-US" sz="1800">
                <a:ea typeface="+mn-lt"/>
                <a:cs typeface="+mn-lt"/>
              </a:rPr>
              <a:t> Primary user interface.</a:t>
            </a:r>
            <a:endParaRPr lang="en-US" sz="1800">
              <a:ea typeface="Calibri"/>
              <a:cs typeface="Calibri"/>
            </a:endParaRPr>
          </a:p>
          <a:p>
            <a:pPr lvl="2"/>
            <a:r>
              <a:rPr lang="en-US" sz="1800" b="1">
                <a:ea typeface="+mn-lt"/>
                <a:cs typeface="+mn-lt"/>
              </a:rPr>
              <a:t>Database:</a:t>
            </a:r>
            <a:r>
              <a:rPr lang="en-US" sz="1800">
                <a:ea typeface="+mn-lt"/>
                <a:cs typeface="+mn-lt"/>
              </a:rPr>
              <a:t> Stores non-personal employee data, leasing requests, transaction logs.</a:t>
            </a:r>
            <a:endParaRPr lang="en-US" sz="1800">
              <a:ea typeface="Calibri"/>
              <a:cs typeface="Calibri"/>
            </a:endParaRPr>
          </a:p>
          <a:p>
            <a:pPr lvl="2"/>
            <a:r>
              <a:rPr lang="en-US" sz="1800" b="1">
                <a:ea typeface="+mn-lt"/>
                <a:cs typeface="+mn-lt"/>
              </a:rPr>
              <a:t>Logger:</a:t>
            </a:r>
            <a:r>
              <a:rPr lang="en-US" sz="1800">
                <a:ea typeface="+mn-lt"/>
                <a:cs typeface="+mn-lt"/>
              </a:rPr>
              <a:t> Logs all transactions and actions on the platform.</a:t>
            </a:r>
            <a:endParaRPr lang="en-US" sz="1800">
              <a:ea typeface="Calibri"/>
              <a:cs typeface="Calibri"/>
            </a:endParaRPr>
          </a:p>
          <a:p>
            <a:pPr lvl="2"/>
            <a:r>
              <a:rPr lang="en-US" sz="1800" b="1">
                <a:ea typeface="+mn-lt"/>
                <a:cs typeface="+mn-lt"/>
              </a:rPr>
              <a:t>API Layer:</a:t>
            </a:r>
            <a:r>
              <a:rPr lang="en-US" sz="1800">
                <a:ea typeface="+mn-lt"/>
                <a:cs typeface="+mn-lt"/>
              </a:rPr>
              <a:t> Communicates with external systems and connectors.</a:t>
            </a:r>
            <a:endParaRPr lang="en-US" sz="1800">
              <a:ea typeface="Calibri"/>
              <a:cs typeface="Calibri"/>
            </a:endParaRPr>
          </a:p>
          <a:p>
            <a:pPr lvl="2"/>
            <a:r>
              <a:rPr lang="en-US" sz="1800" b="1">
                <a:ea typeface="+mn-lt"/>
                <a:cs typeface="+mn-lt"/>
              </a:rPr>
              <a:t>Authentication Module:</a:t>
            </a:r>
            <a:r>
              <a:rPr lang="en-US" sz="1800">
                <a:ea typeface="+mn-lt"/>
                <a:cs typeface="+mn-lt"/>
              </a:rPr>
              <a:t> Manages user authentication and authorization.</a:t>
            </a:r>
            <a:endParaRPr lang="en-US" sz="1800">
              <a:ea typeface="Calibri"/>
              <a:cs typeface="Calibri"/>
            </a:endParaRPr>
          </a:p>
          <a:p>
            <a:pPr marL="457200" lvl="1" indent="0">
              <a:buNone/>
            </a:pPr>
            <a:r>
              <a:rPr lang="en-US" sz="1800" b="1">
                <a:ea typeface="+mn-lt"/>
                <a:cs typeface="+mn-lt"/>
              </a:rPr>
              <a:t>Company 1 (Lessor) Infrastructure</a:t>
            </a:r>
            <a:endParaRPr lang="en-US" sz="1800">
              <a:ea typeface="Calibri"/>
              <a:cs typeface="Calibri"/>
            </a:endParaRPr>
          </a:p>
          <a:p>
            <a:pPr lvl="2"/>
            <a:r>
              <a:rPr lang="en-US" sz="1800" b="1">
                <a:ea typeface="+mn-lt"/>
                <a:cs typeface="+mn-lt"/>
              </a:rPr>
              <a:t>Docker Node:</a:t>
            </a:r>
            <a:r>
              <a:rPr lang="en-US" sz="1800">
                <a:ea typeface="+mn-lt"/>
                <a:cs typeface="+mn-lt"/>
              </a:rPr>
              <a:t> Hosts web platform and database locally.</a:t>
            </a:r>
            <a:endParaRPr lang="en-US" sz="1800">
              <a:ea typeface="Calibri"/>
              <a:cs typeface="Calibri"/>
            </a:endParaRPr>
          </a:p>
          <a:p>
            <a:pPr lvl="2"/>
            <a:r>
              <a:rPr lang="en-US" sz="1800" b="1">
                <a:ea typeface="+mn-lt"/>
                <a:cs typeface="+mn-lt"/>
              </a:rPr>
              <a:t>Internal HR System:</a:t>
            </a:r>
            <a:r>
              <a:rPr lang="en-US" sz="1800">
                <a:ea typeface="+mn-lt"/>
                <a:cs typeface="+mn-lt"/>
              </a:rPr>
              <a:t> Manages employee data and profiles.</a:t>
            </a:r>
            <a:endParaRPr lang="en-US" sz="1800">
              <a:ea typeface="Calibri"/>
              <a:cs typeface="Calibri"/>
            </a:endParaRPr>
          </a:p>
          <a:p>
            <a:pPr marL="457200" lvl="1" indent="0">
              <a:buNone/>
            </a:pPr>
            <a:r>
              <a:rPr lang="en-US" sz="1800" b="1">
                <a:ea typeface="+mn-lt"/>
                <a:cs typeface="+mn-lt"/>
              </a:rPr>
              <a:t>Company 2 (Lessee) Infrastructure</a:t>
            </a:r>
            <a:endParaRPr lang="en-US" sz="1800">
              <a:ea typeface="Calibri"/>
              <a:cs typeface="Calibri"/>
            </a:endParaRPr>
          </a:p>
          <a:p>
            <a:pPr lvl="2"/>
            <a:r>
              <a:rPr lang="en-US" sz="1800" b="1">
                <a:ea typeface="+mn-lt"/>
                <a:cs typeface="+mn-lt"/>
              </a:rPr>
              <a:t>Docker Node:</a:t>
            </a:r>
            <a:r>
              <a:rPr lang="en-US" sz="1800">
                <a:ea typeface="+mn-lt"/>
                <a:cs typeface="+mn-lt"/>
              </a:rPr>
              <a:t> Facilitates access to the platform and data exchange.</a:t>
            </a:r>
            <a:endParaRPr lang="en-US" sz="1800">
              <a:ea typeface="Calibri"/>
              <a:cs typeface="Calibri"/>
            </a:endParaRPr>
          </a:p>
          <a:p>
            <a:pPr lvl="2"/>
            <a:r>
              <a:rPr lang="en-US" sz="1800" b="1">
                <a:ea typeface="+mn-lt"/>
                <a:cs typeface="+mn-lt"/>
              </a:rPr>
              <a:t>Internal HR System:</a:t>
            </a:r>
            <a:r>
              <a:rPr lang="en-US" sz="1800">
                <a:ea typeface="+mn-lt"/>
                <a:cs typeface="+mn-lt"/>
              </a:rPr>
              <a:t> Manages leased employees.</a:t>
            </a:r>
            <a:endParaRPr lang="en-US" sz="1800">
              <a:ea typeface="Calibri"/>
              <a:cs typeface="Calibri"/>
            </a:endParaRPr>
          </a:p>
        </p:txBody>
      </p:sp>
    </p:spTree>
    <p:extLst>
      <p:ext uri="{BB962C8B-B14F-4D97-AF65-F5344CB8AC3E}">
        <p14:creationId xmlns:p14="http://schemas.microsoft.com/office/powerpoint/2010/main" val="1701373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AD0C3D-F356-117C-487D-31FD7D2C66FD}"/>
              </a:ext>
            </a:extLst>
          </p:cNvPr>
          <p:cNvSpPr>
            <a:spLocks noGrp="1"/>
          </p:cNvSpPr>
          <p:nvPr>
            <p:ph idx="1"/>
          </p:nvPr>
        </p:nvSpPr>
        <p:spPr>
          <a:xfrm>
            <a:off x="160832" y="225892"/>
            <a:ext cx="5296989" cy="6343977"/>
          </a:xfrm>
        </p:spPr>
        <p:txBody>
          <a:bodyPr vert="horz" lIns="91440" tIns="45720" rIns="91440" bIns="45720" rtlCol="0" anchor="t">
            <a:noAutofit/>
          </a:bodyPr>
          <a:lstStyle/>
          <a:p>
            <a:pPr marL="457200" lvl="1" indent="0">
              <a:buNone/>
            </a:pPr>
            <a:r>
              <a:rPr lang="en-US" sz="1800" b="1">
                <a:cs typeface="Calibri"/>
              </a:rPr>
              <a:t>Central Server</a:t>
            </a:r>
            <a:endParaRPr lang="en-US" sz="1800">
              <a:ea typeface="Calibri"/>
              <a:cs typeface="Calibri"/>
            </a:endParaRPr>
          </a:p>
          <a:p>
            <a:pPr lvl="2"/>
            <a:r>
              <a:rPr lang="en-US" sz="1800" b="1">
                <a:cs typeface="Calibri"/>
              </a:rPr>
              <a:t>Registration and Licensing System:</a:t>
            </a:r>
            <a:r>
              <a:rPr lang="en-US" sz="1800">
                <a:cs typeface="Calibri"/>
              </a:rPr>
              <a:t> Manages licenses and subscriptions.</a:t>
            </a:r>
            <a:endParaRPr lang="en-US" sz="1800">
              <a:ea typeface="Calibri"/>
              <a:cs typeface="Calibri"/>
            </a:endParaRPr>
          </a:p>
          <a:p>
            <a:pPr lvl="2"/>
            <a:r>
              <a:rPr lang="en-US" sz="1800" b="1">
                <a:cs typeface="Calibri"/>
              </a:rPr>
              <a:t>Central Database:</a:t>
            </a:r>
            <a:r>
              <a:rPr lang="en-US" sz="1800">
                <a:cs typeface="Calibri"/>
              </a:rPr>
              <a:t> Aggregates non-personal data on employee availability and leasing requests.</a:t>
            </a:r>
            <a:endParaRPr lang="en-US" sz="1800">
              <a:ea typeface="Calibri"/>
              <a:cs typeface="Calibri"/>
            </a:endParaRPr>
          </a:p>
          <a:p>
            <a:pPr lvl="2"/>
            <a:r>
              <a:rPr lang="en-US" sz="1800" b="1">
                <a:cs typeface="Calibri"/>
              </a:rPr>
              <a:t>Communication Hub:</a:t>
            </a:r>
            <a:r>
              <a:rPr lang="en-US" sz="1800">
                <a:cs typeface="Calibri"/>
              </a:rPr>
              <a:t> Facilitates secure communication between nodes.</a:t>
            </a:r>
            <a:endParaRPr lang="en-US" sz="1800">
              <a:ea typeface="Calibri"/>
              <a:cs typeface="Calibri"/>
            </a:endParaRPr>
          </a:p>
          <a:p>
            <a:pPr marL="914400" lvl="2" indent="0">
              <a:buNone/>
            </a:pPr>
            <a:endParaRPr lang="en-US" sz="1800">
              <a:ea typeface="Calibri"/>
              <a:cs typeface="Calibri"/>
            </a:endParaRPr>
          </a:p>
          <a:p>
            <a:pPr marL="457200" lvl="1" indent="0">
              <a:buNone/>
            </a:pPr>
            <a:r>
              <a:rPr lang="en-US" sz="1800" b="1">
                <a:cs typeface="Calibri"/>
              </a:rPr>
              <a:t>Employee Interface</a:t>
            </a:r>
            <a:endParaRPr lang="en-US" sz="1800">
              <a:ea typeface="Calibri"/>
              <a:cs typeface="Calibri"/>
            </a:endParaRPr>
          </a:p>
          <a:p>
            <a:pPr lvl="2"/>
            <a:r>
              <a:rPr lang="en-US" sz="1800" b="1">
                <a:cs typeface="Calibri"/>
              </a:rPr>
              <a:t>Mobile/Web App:</a:t>
            </a:r>
            <a:r>
              <a:rPr lang="en-US" sz="1800">
                <a:cs typeface="Calibri"/>
              </a:rPr>
              <a:t> Allows employee interaction with the platform.</a:t>
            </a:r>
            <a:endParaRPr lang="en-US" sz="1800">
              <a:ea typeface="Calibri"/>
              <a:cs typeface="Calibri"/>
            </a:endParaRPr>
          </a:p>
          <a:p>
            <a:pPr lvl="2"/>
            <a:r>
              <a:rPr lang="en-US" sz="1800" b="1">
                <a:cs typeface="Calibri"/>
              </a:rPr>
              <a:t>Local Database (SQLite):</a:t>
            </a:r>
            <a:r>
              <a:rPr lang="en-US" sz="1800">
                <a:cs typeface="Calibri"/>
              </a:rPr>
              <a:t> Stores employee credentials and minimal data locally.</a:t>
            </a:r>
            <a:endParaRPr lang="en-US" sz="1800">
              <a:ea typeface="Calibri"/>
              <a:cs typeface="Calibri"/>
            </a:endParaRPr>
          </a:p>
          <a:p>
            <a:pPr marL="914400" lvl="2" indent="0">
              <a:buNone/>
            </a:pPr>
            <a:endParaRPr lang="en-US" sz="1800">
              <a:ea typeface="Calibri"/>
              <a:cs typeface="Calibri"/>
            </a:endParaRPr>
          </a:p>
          <a:p>
            <a:pPr marL="457200" lvl="1" indent="0">
              <a:buNone/>
            </a:pPr>
            <a:r>
              <a:rPr lang="en-US" sz="1800" b="1">
                <a:cs typeface="Calibri"/>
              </a:rPr>
              <a:t>External Connectors and Plugins</a:t>
            </a:r>
            <a:endParaRPr lang="en-US" sz="1800">
              <a:ea typeface="Calibri"/>
              <a:cs typeface="Calibri"/>
            </a:endParaRPr>
          </a:p>
          <a:p>
            <a:pPr lvl="2"/>
            <a:r>
              <a:rPr lang="en-US" sz="1800" b="1">
                <a:cs typeface="Calibri"/>
              </a:rPr>
              <a:t>API Integration:</a:t>
            </a:r>
            <a:r>
              <a:rPr lang="en-US" sz="1800">
                <a:cs typeface="Calibri"/>
              </a:rPr>
              <a:t> For third-party custom connectors and plugins.</a:t>
            </a:r>
            <a:endParaRPr lang="en-US" sz="1800">
              <a:ea typeface="Calibri"/>
              <a:cs typeface="Calibri"/>
            </a:endParaRPr>
          </a:p>
          <a:p>
            <a:pPr lvl="2"/>
            <a:r>
              <a:rPr lang="en-US" sz="1800" b="1">
                <a:cs typeface="Calibri"/>
              </a:rPr>
              <a:t>Marketplace:</a:t>
            </a:r>
            <a:r>
              <a:rPr lang="en-US" sz="1800">
                <a:cs typeface="Calibri"/>
              </a:rPr>
              <a:t> For purchasing or downloading plugins.</a:t>
            </a:r>
            <a:endParaRPr lang="en-US" sz="1800">
              <a:ea typeface="Calibri"/>
              <a:cs typeface="Calibri"/>
            </a:endParaRPr>
          </a:p>
        </p:txBody>
      </p:sp>
      <p:pic>
        <p:nvPicPr>
          <p:cNvPr id="12" name="Picture 11" descr="Top view of cubes connected with black lines">
            <a:extLst>
              <a:ext uri="{FF2B5EF4-FFF2-40B4-BE49-F238E27FC236}">
                <a16:creationId xmlns:a16="http://schemas.microsoft.com/office/drawing/2014/main" id="{09AB96FD-8D7F-3532-806F-BA267AC3A017}"/>
              </a:ext>
            </a:extLst>
          </p:cNvPr>
          <p:cNvPicPr>
            <a:picLocks noChangeAspect="1"/>
          </p:cNvPicPr>
          <p:nvPr/>
        </p:nvPicPr>
        <p:blipFill rotWithShape="1">
          <a:blip r:embed="rId2"/>
          <a:srcRect l="22548" r="12245" b="4"/>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096997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descr="A diagram of a company&#10;&#10;Description automatically generated">
            <a:extLst>
              <a:ext uri="{FF2B5EF4-FFF2-40B4-BE49-F238E27FC236}">
                <a16:creationId xmlns:a16="http://schemas.microsoft.com/office/drawing/2014/main" id="{C0994F12-E5E0-11F6-1798-61C813613D04}"/>
              </a:ext>
            </a:extLst>
          </p:cNvPr>
          <p:cNvPicPr>
            <a:picLocks noGrp="1" noChangeAspect="1"/>
          </p:cNvPicPr>
          <p:nvPr>
            <p:ph idx="1"/>
          </p:nvPr>
        </p:nvPicPr>
        <p:blipFill>
          <a:blip r:embed="rId2"/>
          <a:stretch>
            <a:fillRect/>
          </a:stretch>
        </p:blipFill>
        <p:spPr>
          <a:xfrm>
            <a:off x="1470731" y="228600"/>
            <a:ext cx="9257681" cy="6392690"/>
          </a:xfrm>
          <a:prstGeom prst="rect">
            <a:avLst/>
          </a:prstGeom>
        </p:spPr>
      </p:pic>
    </p:spTree>
    <p:extLst>
      <p:ext uri="{BB962C8B-B14F-4D97-AF65-F5344CB8AC3E}">
        <p14:creationId xmlns:p14="http://schemas.microsoft.com/office/powerpoint/2010/main" val="2435372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E6E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3D pattern of ring shapes connected by lines">
            <a:extLst>
              <a:ext uri="{FF2B5EF4-FFF2-40B4-BE49-F238E27FC236}">
                <a16:creationId xmlns:a16="http://schemas.microsoft.com/office/drawing/2014/main" id="{131EB9D8-AFE7-1BAF-7C23-6A68AABBFA94}"/>
              </a:ext>
            </a:extLst>
          </p:cNvPr>
          <p:cNvPicPr>
            <a:picLocks noChangeAspect="1"/>
          </p:cNvPicPr>
          <p:nvPr/>
        </p:nvPicPr>
        <p:blipFill rotWithShape="1">
          <a:blip r:embed="rId2"/>
          <a:srcRect l="15263" r="50093" b="-2"/>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2" name="Title 1">
            <a:extLst>
              <a:ext uri="{FF2B5EF4-FFF2-40B4-BE49-F238E27FC236}">
                <a16:creationId xmlns:a16="http://schemas.microsoft.com/office/drawing/2014/main" id="{958DF699-69D0-1EFC-A4FA-2C4D47B68461}"/>
              </a:ext>
            </a:extLst>
          </p:cNvPr>
          <p:cNvSpPr>
            <a:spLocks noGrp="1"/>
          </p:cNvSpPr>
          <p:nvPr>
            <p:ph type="title"/>
          </p:nvPr>
        </p:nvSpPr>
        <p:spPr>
          <a:xfrm>
            <a:off x="86711" y="208006"/>
            <a:ext cx="7871214" cy="1106644"/>
          </a:xfrm>
        </p:spPr>
        <p:txBody>
          <a:bodyPr>
            <a:normAutofit/>
          </a:bodyPr>
          <a:lstStyle/>
          <a:p>
            <a:r>
              <a:rPr lang="en-US" sz="3300" b="1">
                <a:latin typeface="Calibri"/>
                <a:cs typeface="Calibri"/>
              </a:rPr>
              <a:t>CONCEPTUAL DATA FLOW ACROSS COMPONENTS</a:t>
            </a:r>
            <a:endParaRPr lang="en-US" sz="3300">
              <a:latin typeface="Calibri"/>
              <a:cs typeface="Calibri"/>
            </a:endParaRPr>
          </a:p>
        </p:txBody>
      </p:sp>
      <p:sp>
        <p:nvSpPr>
          <p:cNvPr id="3" name="Content Placeholder 2">
            <a:extLst>
              <a:ext uri="{FF2B5EF4-FFF2-40B4-BE49-F238E27FC236}">
                <a16:creationId xmlns:a16="http://schemas.microsoft.com/office/drawing/2014/main" id="{6A64C15C-B9B2-F533-ED9B-914A37FDA4A3}"/>
              </a:ext>
            </a:extLst>
          </p:cNvPr>
          <p:cNvSpPr>
            <a:spLocks noGrp="1"/>
          </p:cNvSpPr>
          <p:nvPr>
            <p:ph idx="1"/>
          </p:nvPr>
        </p:nvSpPr>
        <p:spPr>
          <a:xfrm>
            <a:off x="4333" y="1504185"/>
            <a:ext cx="7834269" cy="5350204"/>
          </a:xfrm>
        </p:spPr>
        <p:txBody>
          <a:bodyPr vert="horz" lIns="91440" tIns="45720" rIns="91440" bIns="45720" rtlCol="0" anchor="t">
            <a:noAutofit/>
          </a:bodyPr>
          <a:lstStyle/>
          <a:p>
            <a:pPr marL="457200" lvl="1" indent="0">
              <a:buNone/>
            </a:pPr>
            <a:r>
              <a:rPr lang="en-US" sz="1800" b="1">
                <a:ea typeface="+mn-lt"/>
                <a:cs typeface="+mn-lt"/>
              </a:rPr>
              <a:t>Employee Interest and Verification (T1)</a:t>
            </a:r>
            <a:endParaRPr lang="en-US" sz="1800">
              <a:cs typeface="Calibri"/>
            </a:endParaRPr>
          </a:p>
          <a:p>
            <a:pPr lvl="2"/>
            <a:r>
              <a:rPr lang="en-US" sz="1800">
                <a:ea typeface="+mn-lt"/>
                <a:cs typeface="+mn-lt"/>
              </a:rPr>
              <a:t>Employees express interest via mobile/web app.</a:t>
            </a:r>
            <a:endParaRPr lang="en-US" sz="1800">
              <a:cs typeface="Calibri"/>
            </a:endParaRPr>
          </a:p>
          <a:p>
            <a:pPr lvl="2"/>
            <a:r>
              <a:rPr lang="en-US" sz="1800">
                <a:ea typeface="+mn-lt"/>
                <a:cs typeface="+mn-lt"/>
              </a:rPr>
              <a:t>Verified by Company 1's HR system.</a:t>
            </a:r>
            <a:endParaRPr lang="en-US" sz="1800">
              <a:cs typeface="Calibri"/>
            </a:endParaRPr>
          </a:p>
          <a:p>
            <a:pPr lvl="2"/>
            <a:r>
              <a:rPr lang="en-US" sz="1800">
                <a:ea typeface="+mn-lt"/>
                <a:cs typeface="+mn-lt"/>
              </a:rPr>
              <a:t>Profiles stored in local Docker node database.</a:t>
            </a:r>
            <a:endParaRPr lang="en-US" sz="1800">
              <a:cs typeface="Calibri"/>
            </a:endParaRPr>
          </a:p>
          <a:p>
            <a:pPr lvl="2"/>
            <a:r>
              <a:rPr lang="en-US" sz="1800">
                <a:ea typeface="+mn-lt"/>
                <a:cs typeface="+mn-lt"/>
              </a:rPr>
              <a:t>Approved profiles synchronized with central database (non-personal data only).</a:t>
            </a:r>
            <a:endParaRPr lang="en-US" sz="1800">
              <a:cs typeface="Calibri"/>
            </a:endParaRPr>
          </a:p>
          <a:p>
            <a:pPr marL="457200" lvl="1" indent="0">
              <a:buNone/>
            </a:pPr>
            <a:r>
              <a:rPr lang="en-US" sz="1800" b="1">
                <a:ea typeface="+mn-lt"/>
                <a:cs typeface="+mn-lt"/>
              </a:rPr>
              <a:t>Talent Matching and Interest Expression (T2)</a:t>
            </a:r>
            <a:endParaRPr lang="en-US" sz="1800">
              <a:cs typeface="Calibri"/>
            </a:endParaRPr>
          </a:p>
          <a:p>
            <a:pPr lvl="2"/>
            <a:r>
              <a:rPr lang="en-US" sz="1800">
                <a:ea typeface="+mn-lt"/>
                <a:cs typeface="+mn-lt"/>
              </a:rPr>
              <a:t>Company 2 browses talent listings via Docker node.</a:t>
            </a:r>
            <a:endParaRPr lang="en-US" sz="1800">
              <a:cs typeface="Calibri"/>
            </a:endParaRPr>
          </a:p>
          <a:p>
            <a:pPr lvl="2"/>
            <a:r>
              <a:rPr lang="en-US" sz="1800">
                <a:ea typeface="+mn-lt"/>
                <a:cs typeface="+mn-lt"/>
              </a:rPr>
              <a:t>Interest expressions logged and notifications sent to Company 1.</a:t>
            </a:r>
            <a:endParaRPr lang="en-US" sz="1800">
              <a:cs typeface="Calibri"/>
            </a:endParaRPr>
          </a:p>
          <a:p>
            <a:pPr lvl="2"/>
            <a:r>
              <a:rPr lang="en-US" sz="1800">
                <a:ea typeface="+mn-lt"/>
                <a:cs typeface="+mn-lt"/>
              </a:rPr>
              <a:t>Secure channels established for negotiations and agreement finalization.</a:t>
            </a:r>
            <a:endParaRPr lang="en-US" sz="1800">
              <a:cs typeface="Calibri"/>
            </a:endParaRPr>
          </a:p>
          <a:p>
            <a:pPr marL="457200" lvl="1" indent="0">
              <a:buNone/>
            </a:pPr>
            <a:r>
              <a:rPr lang="en-US" sz="1800" b="1">
                <a:ea typeface="+mn-lt"/>
                <a:cs typeface="+mn-lt"/>
              </a:rPr>
              <a:t>Negotiation and Agreement (T2 Continued)</a:t>
            </a:r>
            <a:endParaRPr lang="en-US" sz="1800">
              <a:cs typeface="Calibri"/>
            </a:endParaRPr>
          </a:p>
          <a:p>
            <a:pPr lvl="2"/>
            <a:r>
              <a:rPr lang="en-US" sz="1800">
                <a:ea typeface="+mn-lt"/>
                <a:cs typeface="+mn-lt"/>
              </a:rPr>
              <a:t>Contracts drafted, reviewed, and signed within the platform.</a:t>
            </a:r>
            <a:endParaRPr lang="en-US" sz="1800">
              <a:cs typeface="Calibri"/>
            </a:endParaRPr>
          </a:p>
          <a:p>
            <a:pPr lvl="2"/>
            <a:r>
              <a:rPr lang="en-US" sz="1800">
                <a:ea typeface="+mn-lt"/>
                <a:cs typeface="+mn-lt"/>
              </a:rPr>
              <a:t>Interactions logged and stored securely.</a:t>
            </a:r>
            <a:endParaRPr lang="en-US" sz="1800">
              <a:cs typeface="Calibri"/>
            </a:endParaRPr>
          </a:p>
          <a:p>
            <a:pPr marL="457200" lvl="1" indent="0">
              <a:buNone/>
            </a:pPr>
            <a:r>
              <a:rPr lang="en-US" sz="1800" b="1">
                <a:ea typeface="+mn-lt"/>
                <a:cs typeface="+mn-lt"/>
              </a:rPr>
              <a:t>Employee Engagement (T3)</a:t>
            </a:r>
            <a:endParaRPr lang="en-US" sz="1800">
              <a:cs typeface="Calibri"/>
            </a:endParaRPr>
          </a:p>
          <a:p>
            <a:pPr lvl="2"/>
            <a:r>
              <a:rPr lang="en-US" sz="1800">
                <a:ea typeface="+mn-lt"/>
                <a:cs typeface="+mn-lt"/>
              </a:rPr>
              <a:t>Company 2 manages onboarding.</a:t>
            </a:r>
            <a:endParaRPr lang="en-US" sz="1800">
              <a:cs typeface="Calibri"/>
            </a:endParaRPr>
          </a:p>
          <a:p>
            <a:pPr lvl="2"/>
            <a:r>
              <a:rPr lang="en-US" sz="1800">
                <a:ea typeface="+mn-lt"/>
                <a:cs typeface="+mn-lt"/>
              </a:rPr>
              <a:t>Performance and feedback monitored and recorded.</a:t>
            </a:r>
            <a:endParaRPr lang="en-US" sz="1800">
              <a:cs typeface="Calibri"/>
            </a:endParaRPr>
          </a:p>
        </p:txBody>
      </p:sp>
    </p:spTree>
    <p:extLst>
      <p:ext uri="{BB962C8B-B14F-4D97-AF65-F5344CB8AC3E}">
        <p14:creationId xmlns:p14="http://schemas.microsoft.com/office/powerpoint/2010/main" val="507796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52A28-8D1A-A581-3988-06A3E2FA38C6}"/>
              </a:ext>
            </a:extLst>
          </p:cNvPr>
          <p:cNvSpPr>
            <a:spLocks noGrp="1"/>
          </p:cNvSpPr>
          <p:nvPr>
            <p:ph type="title"/>
          </p:nvPr>
        </p:nvSpPr>
        <p:spPr>
          <a:xfrm>
            <a:off x="838200" y="365125"/>
            <a:ext cx="11337131" cy="1349375"/>
          </a:xfrm>
        </p:spPr>
        <p:txBody>
          <a:bodyPr/>
          <a:lstStyle/>
          <a:p>
            <a:r>
              <a:rPr lang="en-US" sz="3600" b="1">
                <a:latin typeface="Calibri"/>
                <a:ea typeface="Calibri"/>
                <a:cs typeface="Calibri"/>
              </a:rPr>
              <a:t>DETAILED ARCHITECTURE OF T2 TRANSACTION(PART 1)</a:t>
            </a:r>
          </a:p>
        </p:txBody>
      </p:sp>
      <p:sp>
        <p:nvSpPr>
          <p:cNvPr id="3" name="Content Placeholder 2">
            <a:extLst>
              <a:ext uri="{FF2B5EF4-FFF2-40B4-BE49-F238E27FC236}">
                <a16:creationId xmlns:a16="http://schemas.microsoft.com/office/drawing/2014/main" id="{4F2165D3-E635-B490-78A1-87C907759989}"/>
              </a:ext>
            </a:extLst>
          </p:cNvPr>
          <p:cNvSpPr>
            <a:spLocks noGrp="1"/>
          </p:cNvSpPr>
          <p:nvPr>
            <p:ph idx="1"/>
          </p:nvPr>
        </p:nvSpPr>
        <p:spPr>
          <a:xfrm>
            <a:off x="838200" y="1825625"/>
            <a:ext cx="10515600" cy="4648994"/>
          </a:xfrm>
        </p:spPr>
        <p:txBody>
          <a:bodyPr vert="horz" lIns="91440" tIns="45720" rIns="91440" bIns="45720" rtlCol="0" anchor="t">
            <a:normAutofit/>
          </a:bodyPr>
          <a:lstStyle/>
          <a:p>
            <a:endParaRPr lang="en-US" sz="2400" b="1">
              <a:ea typeface="+mn-lt"/>
              <a:cs typeface="+mn-lt"/>
            </a:endParaRPr>
          </a:p>
          <a:p>
            <a:pPr marL="0" indent="0">
              <a:buNone/>
            </a:pPr>
            <a:r>
              <a:rPr lang="en-US" sz="2400" b="1">
                <a:ea typeface="+mn-lt"/>
                <a:cs typeface="+mn-lt"/>
              </a:rPr>
              <a:t>Browsing and Interest Expression</a:t>
            </a:r>
            <a:endParaRPr lang="en-US" sz="2400">
              <a:ea typeface="Calibri" panose="020F0502020204030204"/>
              <a:cs typeface="Calibri" panose="020F0502020204030204"/>
            </a:endParaRPr>
          </a:p>
          <a:p>
            <a:pPr lvl="1"/>
            <a:r>
              <a:rPr lang="en-US" b="1">
                <a:ea typeface="+mn-lt"/>
                <a:cs typeface="+mn-lt"/>
              </a:rPr>
              <a:t>Company 2 Docker Node:</a:t>
            </a:r>
            <a:r>
              <a:rPr lang="en-US">
                <a:solidFill>
                  <a:srgbClr val="0D0D0D"/>
                </a:solidFill>
                <a:ea typeface="+mn-lt"/>
                <a:cs typeface="+mn-lt"/>
              </a:rPr>
              <a:t> Accesses platform and browses profiles.</a:t>
            </a:r>
            <a:endParaRPr lang="en-US"/>
          </a:p>
          <a:p>
            <a:pPr lvl="1"/>
            <a:r>
              <a:rPr lang="en-US" b="1">
                <a:ea typeface="+mn-lt"/>
                <a:cs typeface="+mn-lt"/>
              </a:rPr>
              <a:t>API Requests:</a:t>
            </a:r>
            <a:r>
              <a:rPr lang="en-US">
                <a:solidFill>
                  <a:srgbClr val="0D0D0D"/>
                </a:solidFill>
                <a:ea typeface="+mn-lt"/>
                <a:cs typeface="+mn-lt"/>
              </a:rPr>
              <a:t> Sent to central server to retrieve profiles.</a:t>
            </a:r>
            <a:endParaRPr lang="en-US"/>
          </a:p>
          <a:p>
            <a:pPr lvl="1"/>
            <a:r>
              <a:rPr lang="en-US" b="1">
                <a:ea typeface="+mn-lt"/>
                <a:cs typeface="+mn-lt"/>
              </a:rPr>
              <a:t>Central Database:</a:t>
            </a:r>
            <a:r>
              <a:rPr lang="en-US">
                <a:solidFill>
                  <a:srgbClr val="0D0D0D"/>
                </a:solidFill>
                <a:ea typeface="+mn-lt"/>
                <a:cs typeface="+mn-lt"/>
              </a:rPr>
              <a:t> Returns profiles (non-personal data only).</a:t>
            </a:r>
            <a:endParaRPr lang="en-US"/>
          </a:p>
          <a:p>
            <a:pPr marL="457200" lvl="1" indent="0">
              <a:buNone/>
            </a:pPr>
            <a:endParaRPr lang="en-US">
              <a:solidFill>
                <a:srgbClr val="0D0D0D"/>
              </a:solidFill>
              <a:ea typeface="+mn-lt"/>
              <a:cs typeface="+mn-lt"/>
            </a:endParaRPr>
          </a:p>
          <a:p>
            <a:pPr marL="0" indent="0">
              <a:buNone/>
            </a:pPr>
            <a:r>
              <a:rPr lang="en-US" sz="2400" b="1">
                <a:ea typeface="+mn-lt"/>
                <a:cs typeface="+mn-lt"/>
              </a:rPr>
              <a:t>Interest Expression</a:t>
            </a:r>
            <a:endParaRPr lang="en-US" sz="2400">
              <a:ea typeface="Calibri"/>
              <a:cs typeface="Calibri"/>
            </a:endParaRPr>
          </a:p>
          <a:p>
            <a:pPr lvl="1"/>
            <a:r>
              <a:rPr lang="en-US" b="1">
                <a:ea typeface="+mn-lt"/>
                <a:cs typeface="+mn-lt"/>
              </a:rPr>
              <a:t>Company 2:</a:t>
            </a:r>
            <a:r>
              <a:rPr lang="en-US">
                <a:solidFill>
                  <a:srgbClr val="0D0D0D"/>
                </a:solidFill>
                <a:ea typeface="+mn-lt"/>
                <a:cs typeface="+mn-lt"/>
              </a:rPr>
              <a:t> Selects profile and expresses interest.</a:t>
            </a:r>
            <a:endParaRPr lang="en-US"/>
          </a:p>
          <a:p>
            <a:pPr lvl="1"/>
            <a:r>
              <a:rPr lang="en-US" b="1">
                <a:ea typeface="+mn-lt"/>
                <a:cs typeface="+mn-lt"/>
              </a:rPr>
              <a:t>API Request:</a:t>
            </a:r>
            <a:r>
              <a:rPr lang="en-US">
                <a:solidFill>
                  <a:srgbClr val="0D0D0D"/>
                </a:solidFill>
                <a:ea typeface="+mn-lt"/>
                <a:cs typeface="+mn-lt"/>
              </a:rPr>
              <a:t> Logs interest in central database.</a:t>
            </a:r>
            <a:endParaRPr lang="en-US"/>
          </a:p>
          <a:p>
            <a:pPr lvl="1"/>
            <a:r>
              <a:rPr lang="en-US" b="1">
                <a:ea typeface="+mn-lt"/>
                <a:cs typeface="+mn-lt"/>
              </a:rPr>
              <a:t>Notification Service:</a:t>
            </a:r>
            <a:r>
              <a:rPr lang="en-US">
                <a:solidFill>
                  <a:srgbClr val="0D0D0D"/>
                </a:solidFill>
                <a:ea typeface="+mn-lt"/>
                <a:cs typeface="+mn-lt"/>
              </a:rPr>
              <a:t> Notifies Company 1 of expressed interest.</a:t>
            </a:r>
            <a:endParaRPr lang="en-US"/>
          </a:p>
        </p:txBody>
      </p:sp>
    </p:spTree>
    <p:extLst>
      <p:ext uri="{BB962C8B-B14F-4D97-AF65-F5344CB8AC3E}">
        <p14:creationId xmlns:p14="http://schemas.microsoft.com/office/powerpoint/2010/main" val="3095101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01093-FD6D-122F-2330-4A4B8ED2C9C9}"/>
              </a:ext>
            </a:extLst>
          </p:cNvPr>
          <p:cNvSpPr>
            <a:spLocks noGrp="1"/>
          </p:cNvSpPr>
          <p:nvPr>
            <p:ph type="title"/>
          </p:nvPr>
        </p:nvSpPr>
        <p:spPr>
          <a:xfrm>
            <a:off x="838200" y="365125"/>
            <a:ext cx="11122818" cy="1349375"/>
          </a:xfrm>
        </p:spPr>
        <p:txBody>
          <a:bodyPr/>
          <a:lstStyle/>
          <a:p>
            <a:r>
              <a:rPr lang="en-US" sz="3600" b="1">
                <a:latin typeface="Calibri"/>
                <a:ea typeface="Calibri"/>
                <a:cs typeface="Calibri"/>
              </a:rPr>
              <a:t>DETAILED ARCHITECTURE OF T2 TRANSACTION(PART 2)</a:t>
            </a:r>
            <a:endParaRPr lang="en-US" sz="3600">
              <a:latin typeface="Calibri"/>
              <a:ea typeface="Calibri"/>
              <a:cs typeface="Calibri"/>
            </a:endParaRPr>
          </a:p>
        </p:txBody>
      </p:sp>
      <p:sp>
        <p:nvSpPr>
          <p:cNvPr id="3" name="Content Placeholder 2">
            <a:extLst>
              <a:ext uri="{FF2B5EF4-FFF2-40B4-BE49-F238E27FC236}">
                <a16:creationId xmlns:a16="http://schemas.microsoft.com/office/drawing/2014/main" id="{5DEF3773-0652-662D-AF40-CB96114D7338}"/>
              </a:ext>
            </a:extLst>
          </p:cNvPr>
          <p:cNvSpPr>
            <a:spLocks noGrp="1"/>
          </p:cNvSpPr>
          <p:nvPr>
            <p:ph idx="1"/>
          </p:nvPr>
        </p:nvSpPr>
        <p:spPr>
          <a:xfrm>
            <a:off x="838200" y="1825625"/>
            <a:ext cx="10515600" cy="4660900"/>
          </a:xfrm>
        </p:spPr>
        <p:txBody>
          <a:bodyPr vert="horz" lIns="91440" tIns="45720" rIns="91440" bIns="45720" rtlCol="0" anchor="t">
            <a:normAutofit/>
          </a:bodyPr>
          <a:lstStyle/>
          <a:p>
            <a:pPr marL="0" indent="0">
              <a:buNone/>
            </a:pPr>
            <a:endParaRPr lang="en-US" sz="2400" b="1">
              <a:ea typeface="+mn-lt"/>
              <a:cs typeface="+mn-lt"/>
            </a:endParaRPr>
          </a:p>
          <a:p>
            <a:pPr marL="0" indent="0">
              <a:buNone/>
            </a:pPr>
            <a:r>
              <a:rPr lang="en-US" sz="2400" b="1">
                <a:ea typeface="+mn-lt"/>
                <a:cs typeface="+mn-lt"/>
              </a:rPr>
              <a:t>Secure Communication</a:t>
            </a:r>
            <a:endParaRPr lang="en-US" sz="2400">
              <a:ea typeface="Calibri"/>
              <a:cs typeface="Calibri"/>
            </a:endParaRPr>
          </a:p>
          <a:p>
            <a:pPr lvl="1"/>
            <a:r>
              <a:rPr lang="en-US" b="1">
                <a:ea typeface="+mn-lt"/>
                <a:cs typeface="+mn-lt"/>
              </a:rPr>
              <a:t>Initiation of Communication:</a:t>
            </a:r>
            <a:r>
              <a:rPr lang="en-US">
                <a:solidFill>
                  <a:srgbClr val="0D0D0D"/>
                </a:solidFill>
                <a:ea typeface="+mn-lt"/>
                <a:cs typeface="+mn-lt"/>
              </a:rPr>
              <a:t> Establishes secure channel between Company 1 and Company 2.</a:t>
            </a:r>
            <a:endParaRPr lang="en-US"/>
          </a:p>
          <a:p>
            <a:pPr lvl="1"/>
            <a:r>
              <a:rPr lang="en-US" b="1">
                <a:ea typeface="+mn-lt"/>
                <a:cs typeface="+mn-lt"/>
              </a:rPr>
              <a:t>Data Exchange:</a:t>
            </a:r>
            <a:r>
              <a:rPr lang="en-US">
                <a:solidFill>
                  <a:srgbClr val="0D0D0D"/>
                </a:solidFill>
                <a:ea typeface="+mn-lt"/>
                <a:cs typeface="+mn-lt"/>
              </a:rPr>
              <a:t> Discusses employee details and terms, all logged.</a:t>
            </a:r>
            <a:endParaRPr lang="en-US"/>
          </a:p>
          <a:p>
            <a:pPr marL="457200" lvl="1" indent="0">
              <a:buNone/>
            </a:pPr>
            <a:endParaRPr lang="en-US">
              <a:solidFill>
                <a:srgbClr val="0D0D0D"/>
              </a:solidFill>
              <a:ea typeface="+mn-lt"/>
              <a:cs typeface="+mn-lt"/>
            </a:endParaRPr>
          </a:p>
          <a:p>
            <a:pPr marL="0" indent="0">
              <a:buNone/>
            </a:pPr>
            <a:r>
              <a:rPr lang="en-US" sz="2400" b="1">
                <a:ea typeface="+mn-lt"/>
                <a:cs typeface="+mn-lt"/>
              </a:rPr>
              <a:t>Contract Negotiation and Signing</a:t>
            </a:r>
            <a:endParaRPr lang="en-US" sz="2400">
              <a:ea typeface="Calibri"/>
              <a:cs typeface="Calibri"/>
            </a:endParaRPr>
          </a:p>
          <a:p>
            <a:pPr lvl="1"/>
            <a:r>
              <a:rPr lang="en-US" b="1">
                <a:ea typeface="+mn-lt"/>
                <a:cs typeface="+mn-lt"/>
              </a:rPr>
              <a:t>Contract Drafting:</a:t>
            </a:r>
            <a:r>
              <a:rPr lang="en-US">
                <a:solidFill>
                  <a:srgbClr val="0D0D0D"/>
                </a:solidFill>
                <a:ea typeface="+mn-lt"/>
                <a:cs typeface="+mn-lt"/>
              </a:rPr>
              <a:t> Drafts created and reviewed within platform.</a:t>
            </a:r>
            <a:endParaRPr lang="en-US"/>
          </a:p>
          <a:p>
            <a:pPr lvl="1"/>
            <a:r>
              <a:rPr lang="en-US" b="1">
                <a:ea typeface="+mn-lt"/>
                <a:cs typeface="+mn-lt"/>
              </a:rPr>
              <a:t>Digital Signatures:</a:t>
            </a:r>
            <a:r>
              <a:rPr lang="en-US">
                <a:solidFill>
                  <a:srgbClr val="0D0D0D"/>
                </a:solidFill>
                <a:ea typeface="+mn-lt"/>
                <a:cs typeface="+mn-lt"/>
              </a:rPr>
              <a:t> Contracts signed digitally and stored securely.</a:t>
            </a:r>
            <a:endParaRPr lang="en-US"/>
          </a:p>
          <a:p>
            <a:pPr lvl="1"/>
            <a:r>
              <a:rPr lang="en-US" b="1">
                <a:ea typeface="+mn-lt"/>
                <a:cs typeface="+mn-lt"/>
              </a:rPr>
              <a:t>Transaction Logging:</a:t>
            </a:r>
            <a:r>
              <a:rPr lang="en-US">
                <a:solidFill>
                  <a:srgbClr val="0D0D0D"/>
                </a:solidFill>
                <a:ea typeface="+mn-lt"/>
                <a:cs typeface="+mn-lt"/>
              </a:rPr>
              <a:t> All interactions and agreements logged in central and local databases.</a:t>
            </a:r>
            <a:endParaRPr lang="en-US"/>
          </a:p>
          <a:p>
            <a:endParaRPr lang="en-US" sz="2400">
              <a:ea typeface="Calibri"/>
              <a:cs typeface="Calibri"/>
            </a:endParaRPr>
          </a:p>
        </p:txBody>
      </p:sp>
    </p:spTree>
    <p:extLst>
      <p:ext uri="{BB962C8B-B14F-4D97-AF65-F5344CB8AC3E}">
        <p14:creationId xmlns:p14="http://schemas.microsoft.com/office/powerpoint/2010/main" val="324185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company&#10;&#10;Description automatically generated">
            <a:extLst>
              <a:ext uri="{FF2B5EF4-FFF2-40B4-BE49-F238E27FC236}">
                <a16:creationId xmlns:a16="http://schemas.microsoft.com/office/drawing/2014/main" id="{59E65A14-8DD1-B77D-969D-09EB31A25FAF}"/>
              </a:ext>
            </a:extLst>
          </p:cNvPr>
          <p:cNvPicPr>
            <a:picLocks noGrp="1" noChangeAspect="1"/>
          </p:cNvPicPr>
          <p:nvPr>
            <p:ph idx="1"/>
          </p:nvPr>
        </p:nvPicPr>
        <p:blipFill>
          <a:blip r:embed="rId2"/>
          <a:stretch>
            <a:fillRect/>
          </a:stretch>
        </p:blipFill>
        <p:spPr>
          <a:xfrm>
            <a:off x="1850232" y="257969"/>
            <a:ext cx="8408192" cy="6355555"/>
          </a:xfrm>
        </p:spPr>
      </p:pic>
    </p:spTree>
    <p:extLst>
      <p:ext uri="{BB962C8B-B14F-4D97-AF65-F5344CB8AC3E}">
        <p14:creationId xmlns:p14="http://schemas.microsoft.com/office/powerpoint/2010/main" val="1908361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rgbClr val="E6E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C98E1F-8F04-0429-0867-C8C382EBD8D9}"/>
              </a:ext>
            </a:extLst>
          </p:cNvPr>
          <p:cNvSpPr>
            <a:spLocks noGrp="1"/>
          </p:cNvSpPr>
          <p:nvPr>
            <p:ph type="title"/>
          </p:nvPr>
        </p:nvSpPr>
        <p:spPr>
          <a:xfrm>
            <a:off x="6094105" y="339577"/>
            <a:ext cx="4504301" cy="1031862"/>
          </a:xfrm>
        </p:spPr>
        <p:txBody>
          <a:bodyPr>
            <a:normAutofit fontScale="90000"/>
          </a:bodyPr>
          <a:lstStyle/>
          <a:p>
            <a:r>
              <a:rPr lang="en-US" sz="3600" b="1">
                <a:latin typeface="Calibri"/>
                <a:ea typeface="Calibri"/>
                <a:cs typeface="Calibri"/>
              </a:rPr>
              <a:t>POTENTIAL CHALLENGES – LEGAL ISSUES</a:t>
            </a:r>
            <a:endParaRPr lang="en-US" sz="3600">
              <a:latin typeface="Calibri"/>
              <a:ea typeface="Calibri"/>
              <a:cs typeface="Calibri"/>
            </a:endParaRPr>
          </a:p>
        </p:txBody>
      </p:sp>
      <p:pic>
        <p:nvPicPr>
          <p:cNvPr id="7" name="Graphic 6" descr="Scales of Justice">
            <a:extLst>
              <a:ext uri="{FF2B5EF4-FFF2-40B4-BE49-F238E27FC236}">
                <a16:creationId xmlns:a16="http://schemas.microsoft.com/office/drawing/2014/main" id="{AF019FD6-D6D2-D684-A755-E0C91848E2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55070FCB-BBFD-E044-523E-7981CFB73F0A}"/>
              </a:ext>
            </a:extLst>
          </p:cNvPr>
          <p:cNvSpPr>
            <a:spLocks noGrp="1"/>
          </p:cNvSpPr>
          <p:nvPr>
            <p:ph idx="1"/>
          </p:nvPr>
        </p:nvSpPr>
        <p:spPr>
          <a:xfrm>
            <a:off x="6090574" y="1577304"/>
            <a:ext cx="5873442" cy="5276557"/>
          </a:xfrm>
        </p:spPr>
        <p:txBody>
          <a:bodyPr vert="horz" lIns="91440" tIns="45720" rIns="91440" bIns="45720" rtlCol="0" anchor="ctr">
            <a:noAutofit/>
          </a:bodyPr>
          <a:lstStyle/>
          <a:p>
            <a:pPr marL="457200" lvl="1" indent="0">
              <a:buNone/>
            </a:pPr>
            <a:r>
              <a:rPr lang="en-US" sz="2000" b="1">
                <a:ea typeface="Calibri"/>
                <a:cs typeface="Calibri"/>
              </a:rPr>
              <a:t>Labor Laws and Regulations</a:t>
            </a:r>
            <a:endParaRPr lang="en-US" sz="2000">
              <a:ea typeface="Calibri"/>
              <a:cs typeface="Calibri"/>
            </a:endParaRPr>
          </a:p>
          <a:p>
            <a:pPr lvl="2"/>
            <a:r>
              <a:rPr lang="en-US" b="1">
                <a:ea typeface="Calibri"/>
                <a:cs typeface="Calibri"/>
              </a:rPr>
              <a:t>Complex Compliance:</a:t>
            </a:r>
            <a:r>
              <a:rPr lang="en-US">
                <a:ea typeface="Calibri"/>
                <a:cs typeface="Calibri"/>
              </a:rPr>
              <a:t> Adhering to local and international labor laws.</a:t>
            </a:r>
          </a:p>
          <a:p>
            <a:pPr lvl="2"/>
            <a:r>
              <a:rPr lang="en-US" b="1">
                <a:ea typeface="Calibri"/>
                <a:cs typeface="Calibri"/>
              </a:rPr>
              <a:t>Employment Standards:</a:t>
            </a:r>
            <a:r>
              <a:rPr lang="en-US">
                <a:ea typeface="Calibri"/>
                <a:cs typeface="Calibri"/>
              </a:rPr>
              <a:t> Ensuring worker rights and benefits entitlements.</a:t>
            </a:r>
          </a:p>
          <a:p>
            <a:pPr marL="457200" lvl="1" indent="0">
              <a:buNone/>
            </a:pPr>
            <a:r>
              <a:rPr lang="en-US" sz="2000" b="1">
                <a:ea typeface="Calibri"/>
                <a:cs typeface="Calibri"/>
              </a:rPr>
              <a:t>Data Privacy and Protection</a:t>
            </a:r>
            <a:endParaRPr lang="en-US" sz="2000">
              <a:ea typeface="Calibri"/>
              <a:cs typeface="Calibri"/>
            </a:endParaRPr>
          </a:p>
          <a:p>
            <a:pPr lvl="2"/>
            <a:r>
              <a:rPr lang="en-US" b="1">
                <a:ea typeface="Calibri"/>
                <a:cs typeface="Calibri"/>
              </a:rPr>
              <a:t>Regulatory Compliance:</a:t>
            </a:r>
            <a:r>
              <a:rPr lang="en-US">
                <a:ea typeface="Calibri"/>
                <a:cs typeface="Calibri"/>
              </a:rPr>
              <a:t> Following data protection laws like GDPR and CCPA.</a:t>
            </a:r>
          </a:p>
          <a:p>
            <a:pPr lvl="2"/>
            <a:r>
              <a:rPr lang="en-US" b="1">
                <a:ea typeface="Calibri"/>
                <a:cs typeface="Calibri"/>
              </a:rPr>
              <a:t>Anonymization Risks:</a:t>
            </a:r>
            <a:r>
              <a:rPr lang="en-US">
                <a:ea typeface="Calibri"/>
                <a:cs typeface="Calibri"/>
              </a:rPr>
              <a:t> Ensuring anonymized data cannot be re-identified.</a:t>
            </a:r>
          </a:p>
          <a:p>
            <a:pPr marL="457200" lvl="1" indent="0">
              <a:buNone/>
            </a:pPr>
            <a:r>
              <a:rPr lang="en-US" sz="2000" b="1">
                <a:ea typeface="Calibri"/>
                <a:cs typeface="Calibri"/>
              </a:rPr>
              <a:t>Contractual Agreements</a:t>
            </a:r>
            <a:endParaRPr lang="en-US" sz="2000">
              <a:ea typeface="Calibri"/>
              <a:cs typeface="Calibri"/>
            </a:endParaRPr>
          </a:p>
          <a:p>
            <a:pPr lvl="2"/>
            <a:r>
              <a:rPr lang="en-US" b="1">
                <a:ea typeface="Calibri"/>
                <a:cs typeface="Calibri"/>
              </a:rPr>
              <a:t>Legal Soundness:</a:t>
            </a:r>
            <a:r>
              <a:rPr lang="en-US">
                <a:ea typeface="Calibri"/>
                <a:cs typeface="Calibri"/>
              </a:rPr>
              <a:t> Ensuring all contracts reflect agreed terms and avoid disputes.</a:t>
            </a:r>
          </a:p>
          <a:p>
            <a:pPr marL="457200" lvl="1" indent="0">
              <a:buNone/>
            </a:pPr>
            <a:r>
              <a:rPr lang="en-US" sz="2000" b="1">
                <a:ea typeface="Calibri"/>
                <a:cs typeface="Calibri"/>
              </a:rPr>
              <a:t>Intellectual Property Rights</a:t>
            </a:r>
            <a:endParaRPr lang="en-US" sz="2000">
              <a:ea typeface="Calibri"/>
              <a:cs typeface="Calibri"/>
            </a:endParaRPr>
          </a:p>
          <a:p>
            <a:pPr lvl="2"/>
            <a:r>
              <a:rPr lang="en-US" b="1">
                <a:ea typeface="Calibri"/>
                <a:cs typeface="Calibri"/>
              </a:rPr>
              <a:t>Ownership Issues:</a:t>
            </a:r>
            <a:r>
              <a:rPr lang="en-US">
                <a:ea typeface="Calibri"/>
                <a:cs typeface="Calibri"/>
              </a:rPr>
              <a:t> Addressing IP rights for work created during leasing.</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032701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30648D-FC76-5EFB-DE41-20CC25B11B2F}"/>
              </a:ext>
            </a:extLst>
          </p:cNvPr>
          <p:cNvSpPr>
            <a:spLocks noGrp="1"/>
          </p:cNvSpPr>
          <p:nvPr>
            <p:ph type="title"/>
          </p:nvPr>
        </p:nvSpPr>
        <p:spPr>
          <a:xfrm>
            <a:off x="185155" y="236926"/>
            <a:ext cx="5285336" cy="1274412"/>
          </a:xfrm>
        </p:spPr>
        <p:txBody>
          <a:bodyPr anchor="ctr">
            <a:normAutofit/>
          </a:bodyPr>
          <a:lstStyle/>
          <a:p>
            <a:r>
              <a:rPr lang="en-US" sz="3700" b="1">
                <a:latin typeface="Calibri"/>
                <a:ea typeface="Calibri"/>
                <a:cs typeface="Calibri"/>
              </a:rPr>
              <a:t>POTENTIAL CHALLENGES – ETHICAL ISSUES</a:t>
            </a:r>
            <a:endParaRPr lang="en-US" sz="3700">
              <a:latin typeface="Calibri"/>
              <a:ea typeface="Calibri"/>
              <a:cs typeface="Calibri"/>
            </a:endParaRPr>
          </a:p>
        </p:txBody>
      </p:sp>
      <p:sp>
        <p:nvSpPr>
          <p:cNvPr id="3" name="Content Placeholder 2">
            <a:extLst>
              <a:ext uri="{FF2B5EF4-FFF2-40B4-BE49-F238E27FC236}">
                <a16:creationId xmlns:a16="http://schemas.microsoft.com/office/drawing/2014/main" id="{D89DC2E6-D101-760D-BBB6-AB4B9A748E68}"/>
              </a:ext>
            </a:extLst>
          </p:cNvPr>
          <p:cNvSpPr>
            <a:spLocks noGrp="1"/>
          </p:cNvSpPr>
          <p:nvPr>
            <p:ph idx="1"/>
          </p:nvPr>
        </p:nvSpPr>
        <p:spPr>
          <a:xfrm>
            <a:off x="185154" y="1620796"/>
            <a:ext cx="5563363" cy="5003282"/>
          </a:xfrm>
        </p:spPr>
        <p:txBody>
          <a:bodyPr vert="horz" lIns="91440" tIns="45720" rIns="91440" bIns="45720" rtlCol="0" anchor="ctr">
            <a:normAutofit/>
          </a:bodyPr>
          <a:lstStyle/>
          <a:p>
            <a:endParaRPr lang="en-US" sz="2000" b="1">
              <a:ea typeface="+mn-lt"/>
              <a:cs typeface="+mn-lt"/>
            </a:endParaRPr>
          </a:p>
          <a:p>
            <a:pPr marL="0" indent="0">
              <a:buNone/>
            </a:pPr>
            <a:r>
              <a:rPr lang="en-US" sz="2000" b="1">
                <a:ea typeface="+mn-lt"/>
                <a:cs typeface="+mn-lt"/>
              </a:rPr>
              <a:t>Employee Consent and Autonomy</a:t>
            </a:r>
            <a:endParaRPr lang="en-US" sz="2000">
              <a:ea typeface="+mn-lt"/>
              <a:cs typeface="+mn-lt"/>
            </a:endParaRPr>
          </a:p>
          <a:p>
            <a:pPr lvl="1"/>
            <a:r>
              <a:rPr lang="en-US" sz="2000" b="1">
                <a:ea typeface="+mn-lt"/>
                <a:cs typeface="+mn-lt"/>
              </a:rPr>
              <a:t>Informed Consent:</a:t>
            </a:r>
            <a:r>
              <a:rPr lang="en-US" sz="2000">
                <a:ea typeface="+mn-lt"/>
                <a:cs typeface="+mn-lt"/>
              </a:rPr>
              <a:t> Ensuring employees understand and agree to be listed.</a:t>
            </a:r>
          </a:p>
          <a:p>
            <a:pPr marL="0" indent="0">
              <a:buNone/>
            </a:pPr>
            <a:r>
              <a:rPr lang="en-US" sz="2000" b="1">
                <a:ea typeface="+mn-lt"/>
                <a:cs typeface="+mn-lt"/>
              </a:rPr>
              <a:t>Transparency and Fair Treatment</a:t>
            </a:r>
          </a:p>
          <a:p>
            <a:pPr lvl="1"/>
            <a:r>
              <a:rPr lang="en-US" sz="2000" b="1">
                <a:ea typeface="+mn-lt"/>
                <a:cs typeface="+mn-lt"/>
              </a:rPr>
              <a:t>Bias Prevention:</a:t>
            </a:r>
            <a:r>
              <a:rPr lang="en-US" sz="2000">
                <a:ea typeface="+mn-lt"/>
                <a:cs typeface="+mn-lt"/>
              </a:rPr>
              <a:t> Ensuring fair and unbiased selection of employees.</a:t>
            </a:r>
          </a:p>
          <a:p>
            <a:pPr marL="0" indent="0">
              <a:buNone/>
            </a:pPr>
            <a:r>
              <a:rPr lang="en-US" sz="2000" b="1">
                <a:ea typeface="+mn-lt"/>
                <a:cs typeface="+mn-lt"/>
              </a:rPr>
              <a:t>Conflict of Interest</a:t>
            </a:r>
          </a:p>
          <a:p>
            <a:pPr lvl="1"/>
            <a:r>
              <a:rPr lang="en-US" sz="2000" b="1">
                <a:ea typeface="+mn-lt"/>
                <a:cs typeface="+mn-lt"/>
              </a:rPr>
              <a:t>Competitor Leasing:</a:t>
            </a:r>
            <a:r>
              <a:rPr lang="en-US" sz="2000">
                <a:ea typeface="+mn-lt"/>
                <a:cs typeface="+mn-lt"/>
              </a:rPr>
              <a:t> Preventing conflicts when leasing to competitors.</a:t>
            </a:r>
          </a:p>
          <a:p>
            <a:pPr marL="0" indent="0">
              <a:buNone/>
            </a:pPr>
            <a:r>
              <a:rPr lang="en-US" sz="2000" b="1">
                <a:ea typeface="+mn-lt"/>
                <a:cs typeface="+mn-lt"/>
              </a:rPr>
              <a:t>Impact on Company Culture</a:t>
            </a:r>
          </a:p>
          <a:p>
            <a:pPr lvl="1"/>
            <a:r>
              <a:rPr lang="en-US" sz="2000" b="1">
                <a:ea typeface="+mn-lt"/>
                <a:cs typeface="+mn-lt"/>
              </a:rPr>
              <a:t>Employee Morale:</a:t>
            </a:r>
            <a:r>
              <a:rPr lang="en-US" sz="2000">
                <a:ea typeface="+mn-lt"/>
                <a:cs typeface="+mn-lt"/>
              </a:rPr>
              <a:t> Mitigating negative effects on company culture.</a:t>
            </a:r>
          </a:p>
          <a:p>
            <a:pPr marL="0" indent="0">
              <a:buNone/>
            </a:pPr>
            <a:endParaRPr lang="en-US" sz="2000">
              <a:ea typeface="Calibri"/>
              <a:cs typeface="Calibri"/>
            </a:endParaRPr>
          </a:p>
        </p:txBody>
      </p:sp>
      <p:pic>
        <p:nvPicPr>
          <p:cNvPr id="5" name="Picture 4" descr="A group of multi coloured wooden stick figures">
            <a:extLst>
              <a:ext uri="{FF2B5EF4-FFF2-40B4-BE49-F238E27FC236}">
                <a16:creationId xmlns:a16="http://schemas.microsoft.com/office/drawing/2014/main" id="{5648F0E7-254A-BBEE-2AD7-25859526C03A}"/>
              </a:ext>
            </a:extLst>
          </p:cNvPr>
          <p:cNvPicPr>
            <a:picLocks noChangeAspect="1"/>
          </p:cNvPicPr>
          <p:nvPr/>
        </p:nvPicPr>
        <p:blipFill rotWithShape="1">
          <a:blip r:embed="rId2"/>
          <a:srcRect l="16357" r="21948" b="9"/>
          <a:stretch/>
        </p:blipFill>
        <p:spPr>
          <a:xfrm>
            <a:off x="6096000" y="1"/>
            <a:ext cx="6102825" cy="6858000"/>
          </a:xfrm>
          <a:prstGeom prst="rect">
            <a:avLst/>
          </a:prstGeom>
        </p:spPr>
      </p:pic>
    </p:spTree>
    <p:extLst>
      <p:ext uri="{BB962C8B-B14F-4D97-AF65-F5344CB8AC3E}">
        <p14:creationId xmlns:p14="http://schemas.microsoft.com/office/powerpoint/2010/main" val="3588448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rgbClr val="E6E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B4B1B9-3815-4612-28EE-48C83DD97E62}"/>
              </a:ext>
            </a:extLst>
          </p:cNvPr>
          <p:cNvSpPr>
            <a:spLocks noGrp="1"/>
          </p:cNvSpPr>
          <p:nvPr>
            <p:ph type="title"/>
          </p:nvPr>
        </p:nvSpPr>
        <p:spPr>
          <a:xfrm>
            <a:off x="6094105" y="432253"/>
            <a:ext cx="4607274" cy="1073051"/>
          </a:xfrm>
        </p:spPr>
        <p:txBody>
          <a:bodyPr>
            <a:normAutofit fontScale="90000"/>
          </a:bodyPr>
          <a:lstStyle/>
          <a:p>
            <a:r>
              <a:rPr lang="en-US" sz="3600" b="1">
                <a:latin typeface="Calibri"/>
                <a:ea typeface="Calibri"/>
                <a:cs typeface="Calibri"/>
              </a:rPr>
              <a:t>POTENTIAL CHALLENGES – OPERATIONAL ISSUES</a:t>
            </a:r>
            <a:endParaRPr lang="en-US" sz="3600">
              <a:latin typeface="Calibri"/>
              <a:ea typeface="Calibri"/>
              <a:cs typeface="Calibri"/>
            </a:endParaRPr>
          </a:p>
        </p:txBody>
      </p:sp>
      <p:pic>
        <p:nvPicPr>
          <p:cNvPr id="5" name="Picture 4" descr="Graph on document with pen">
            <a:extLst>
              <a:ext uri="{FF2B5EF4-FFF2-40B4-BE49-F238E27FC236}">
                <a16:creationId xmlns:a16="http://schemas.microsoft.com/office/drawing/2014/main" id="{1A415B4C-3DE3-7DAF-7D82-4971C88469E3}"/>
              </a:ext>
            </a:extLst>
          </p:cNvPr>
          <p:cNvPicPr>
            <a:picLocks noChangeAspect="1"/>
          </p:cNvPicPr>
          <p:nvPr/>
        </p:nvPicPr>
        <p:blipFill rotWithShape="1">
          <a:blip r:embed="rId2"/>
          <a:srcRect l="27369" r="13317" b="-3"/>
          <a:stretch/>
        </p:blipFill>
        <p:spPr>
          <a:xfrm>
            <a:off x="888636" y="1793846"/>
            <a:ext cx="3216652" cy="3620021"/>
          </a:xfrm>
          <a:prstGeom prst="rect">
            <a:avLst/>
          </a:prstGeom>
        </p:spPr>
      </p:pic>
      <p:sp>
        <p:nvSpPr>
          <p:cNvPr id="3" name="Content Placeholder 2">
            <a:extLst>
              <a:ext uri="{FF2B5EF4-FFF2-40B4-BE49-F238E27FC236}">
                <a16:creationId xmlns:a16="http://schemas.microsoft.com/office/drawing/2014/main" id="{3625AACD-0001-5E0C-1F97-2DBC7600A585}"/>
              </a:ext>
            </a:extLst>
          </p:cNvPr>
          <p:cNvSpPr>
            <a:spLocks noGrp="1"/>
          </p:cNvSpPr>
          <p:nvPr>
            <p:ph idx="1"/>
          </p:nvPr>
        </p:nvSpPr>
        <p:spPr>
          <a:xfrm>
            <a:off x="6090574" y="1927412"/>
            <a:ext cx="5904334" cy="4751396"/>
          </a:xfrm>
        </p:spPr>
        <p:txBody>
          <a:bodyPr vert="horz" lIns="91440" tIns="45720" rIns="91440" bIns="45720" rtlCol="0" anchor="ctr">
            <a:normAutofit/>
          </a:bodyPr>
          <a:lstStyle/>
          <a:p>
            <a:endParaRPr lang="en-US" sz="2000">
              <a:solidFill>
                <a:schemeClr val="tx2"/>
              </a:solidFill>
              <a:cs typeface="Calibri"/>
            </a:endParaRPr>
          </a:p>
          <a:p>
            <a:pPr marL="0" indent="0">
              <a:buNone/>
            </a:pPr>
            <a:r>
              <a:rPr lang="en-US" sz="2000" b="1">
                <a:ea typeface="+mn-lt"/>
                <a:cs typeface="+mn-lt"/>
              </a:rPr>
              <a:t>Quality Control</a:t>
            </a:r>
          </a:p>
          <a:p>
            <a:pPr lvl="1"/>
            <a:r>
              <a:rPr lang="en-US" sz="2000" b="1">
                <a:ea typeface="+mn-lt"/>
                <a:cs typeface="+mn-lt"/>
              </a:rPr>
              <a:t>Skill and Performance:</a:t>
            </a:r>
            <a:r>
              <a:rPr lang="en-US" sz="2000">
                <a:ea typeface="+mn-lt"/>
                <a:cs typeface="+mn-lt"/>
              </a:rPr>
              <a:t> Ensuring leased employees meet standards.</a:t>
            </a:r>
          </a:p>
          <a:p>
            <a:pPr marL="0" indent="0">
              <a:buNone/>
            </a:pPr>
            <a:r>
              <a:rPr lang="en-US" sz="2000" b="1">
                <a:ea typeface="+mn-lt"/>
                <a:cs typeface="+mn-lt"/>
              </a:rPr>
              <a:t>Dispute Resolution</a:t>
            </a:r>
          </a:p>
          <a:p>
            <a:pPr lvl="1"/>
            <a:r>
              <a:rPr lang="en-US" sz="2000" b="1">
                <a:ea typeface="+mn-lt"/>
                <a:cs typeface="+mn-lt"/>
              </a:rPr>
              <a:t>Complex Handling:</a:t>
            </a:r>
            <a:r>
              <a:rPr lang="en-US" sz="2000">
                <a:ea typeface="+mn-lt"/>
                <a:cs typeface="+mn-lt"/>
              </a:rPr>
              <a:t> Managing disputes between companies and employees.</a:t>
            </a:r>
          </a:p>
          <a:p>
            <a:pPr marL="0" indent="0">
              <a:buNone/>
            </a:pPr>
            <a:r>
              <a:rPr lang="en-US" sz="2000" b="1">
                <a:ea typeface="+mn-lt"/>
                <a:cs typeface="+mn-lt"/>
              </a:rPr>
              <a:t>Platform Security</a:t>
            </a:r>
          </a:p>
          <a:p>
            <a:pPr lvl="1"/>
            <a:r>
              <a:rPr lang="en-US" sz="2000" b="1">
                <a:ea typeface="+mn-lt"/>
                <a:cs typeface="+mn-lt"/>
              </a:rPr>
              <a:t>Continuous Monitoring:</a:t>
            </a:r>
            <a:r>
              <a:rPr lang="en-US" sz="2000">
                <a:ea typeface="+mn-lt"/>
                <a:cs typeface="+mn-lt"/>
              </a:rPr>
              <a:t> Protecting sensitive data from breaches.</a:t>
            </a:r>
          </a:p>
          <a:p>
            <a:pPr marL="0" indent="0">
              <a:buNone/>
            </a:pPr>
            <a:r>
              <a:rPr lang="en-US" sz="2000" b="1">
                <a:ea typeface="+mn-lt"/>
                <a:cs typeface="+mn-lt"/>
              </a:rPr>
              <a:t>Scalability and Reliability</a:t>
            </a:r>
          </a:p>
          <a:p>
            <a:pPr lvl="1"/>
            <a:r>
              <a:rPr lang="en-US" sz="2000" b="1">
                <a:ea typeface="+mn-lt"/>
                <a:cs typeface="+mn-lt"/>
              </a:rPr>
              <a:t>Managing Growth:</a:t>
            </a:r>
            <a:r>
              <a:rPr lang="en-US" sz="2000">
                <a:ea typeface="+mn-lt"/>
                <a:cs typeface="+mn-lt"/>
              </a:rPr>
              <a:t> Handling increased transactions and maintaining reliability.</a:t>
            </a:r>
          </a:p>
          <a:p>
            <a:pPr marL="0" indent="0">
              <a:buNone/>
            </a:pPr>
            <a:endParaRPr lang="en-US" sz="2000">
              <a:solidFill>
                <a:schemeClr val="tx2"/>
              </a:solidFill>
              <a:ea typeface="Calibri"/>
              <a:cs typeface="Calibri"/>
            </a:endParaRPr>
          </a:p>
        </p:txBody>
      </p:sp>
      <p:grpSp>
        <p:nvGrpSpPr>
          <p:cNvPr id="20" name="Group 19">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21" name="Freeform: Shape 20">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96174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A0D3E-84CA-39D2-2F36-F41C1BD06607}"/>
              </a:ext>
            </a:extLst>
          </p:cNvPr>
          <p:cNvSpPr>
            <a:spLocks noGrp="1"/>
          </p:cNvSpPr>
          <p:nvPr>
            <p:ph type="title"/>
          </p:nvPr>
        </p:nvSpPr>
        <p:spPr>
          <a:xfrm>
            <a:off x="838200" y="365125"/>
            <a:ext cx="10515600" cy="872483"/>
          </a:xfrm>
        </p:spPr>
        <p:txBody>
          <a:bodyPr/>
          <a:lstStyle/>
          <a:p>
            <a:r>
              <a:rPr lang="en-US" sz="3600" b="1">
                <a:latin typeface="Calibri"/>
                <a:ea typeface="Calibri"/>
                <a:cs typeface="Calibri"/>
              </a:rPr>
              <a:t>FUTURE PLANS – DECENTRALIZED CONTRACT SIGNING</a:t>
            </a:r>
          </a:p>
        </p:txBody>
      </p:sp>
      <p:sp>
        <p:nvSpPr>
          <p:cNvPr id="3" name="Content Placeholder 2">
            <a:extLst>
              <a:ext uri="{FF2B5EF4-FFF2-40B4-BE49-F238E27FC236}">
                <a16:creationId xmlns:a16="http://schemas.microsoft.com/office/drawing/2014/main" id="{5C4395E5-423F-014B-5947-77EE06D436A8}"/>
              </a:ext>
            </a:extLst>
          </p:cNvPr>
          <p:cNvSpPr>
            <a:spLocks noGrp="1"/>
          </p:cNvSpPr>
          <p:nvPr>
            <p:ph idx="1"/>
          </p:nvPr>
        </p:nvSpPr>
        <p:spPr>
          <a:xfrm>
            <a:off x="838200" y="1444626"/>
            <a:ext cx="10948086" cy="5411958"/>
          </a:xfrm>
        </p:spPr>
        <p:txBody>
          <a:bodyPr vert="horz" lIns="91440" tIns="45720" rIns="91440" bIns="45720" rtlCol="0" anchor="t">
            <a:normAutofit/>
          </a:bodyPr>
          <a:lstStyle/>
          <a:p>
            <a:pPr marL="0" indent="0">
              <a:buNone/>
            </a:pPr>
            <a:r>
              <a:rPr lang="en-US" sz="2200" b="1">
                <a:ea typeface="+mn-lt"/>
                <a:cs typeface="+mn-lt"/>
              </a:rPr>
              <a:t>Objective</a:t>
            </a:r>
            <a:endParaRPr lang="en-US" sz="2200">
              <a:solidFill>
                <a:srgbClr val="000000"/>
              </a:solidFill>
              <a:ea typeface="+mn-lt"/>
              <a:cs typeface="+mn-lt"/>
            </a:endParaRPr>
          </a:p>
          <a:p>
            <a:pPr lvl="1"/>
            <a:r>
              <a:rPr lang="en-US" sz="2200">
                <a:solidFill>
                  <a:srgbClr val="0D0D0D"/>
                </a:solidFill>
                <a:ea typeface="+mn-lt"/>
                <a:cs typeface="+mn-lt"/>
              </a:rPr>
              <a:t> Enhance security, transparency, and efficiency by decentralizing contract signing using blockchain technology and smart contracts.</a:t>
            </a:r>
            <a:endParaRPr lang="en-US" sz="2200">
              <a:ea typeface="+mn-lt"/>
              <a:cs typeface="+mn-lt"/>
            </a:endParaRPr>
          </a:p>
          <a:p>
            <a:pPr marL="0" indent="0">
              <a:buNone/>
            </a:pPr>
            <a:r>
              <a:rPr lang="en-US" sz="2200" b="1">
                <a:ea typeface="+mn-lt"/>
                <a:cs typeface="+mn-lt"/>
              </a:rPr>
              <a:t>Blockchain Integration</a:t>
            </a:r>
            <a:endParaRPr lang="en-US" sz="2200">
              <a:ea typeface="+mn-lt"/>
              <a:cs typeface="+mn-lt"/>
            </a:endParaRPr>
          </a:p>
          <a:p>
            <a:pPr lvl="1"/>
            <a:r>
              <a:rPr lang="en-US" sz="2200" b="1">
                <a:ea typeface="+mn-lt"/>
                <a:cs typeface="+mn-lt"/>
              </a:rPr>
              <a:t>Immutable Ledger:</a:t>
            </a:r>
            <a:r>
              <a:rPr lang="en-US" sz="2200">
                <a:solidFill>
                  <a:srgbClr val="0D0D0D"/>
                </a:solidFill>
                <a:ea typeface="+mn-lt"/>
                <a:cs typeface="+mn-lt"/>
              </a:rPr>
              <a:t> Utilize blockchain to store all contract-related transactions in an immutable and transparent ledger.</a:t>
            </a:r>
            <a:endParaRPr lang="en-US" sz="2200">
              <a:ea typeface="+mn-lt"/>
              <a:cs typeface="+mn-lt"/>
            </a:endParaRPr>
          </a:p>
          <a:p>
            <a:pPr lvl="1"/>
            <a:r>
              <a:rPr lang="en-US" sz="2200" b="1">
                <a:ea typeface="+mn-lt"/>
                <a:cs typeface="+mn-lt"/>
              </a:rPr>
              <a:t>Smart Contracts:</a:t>
            </a:r>
            <a:r>
              <a:rPr lang="en-US" sz="2200">
                <a:solidFill>
                  <a:srgbClr val="0D0D0D"/>
                </a:solidFill>
                <a:ea typeface="+mn-lt"/>
                <a:cs typeface="+mn-lt"/>
              </a:rPr>
              <a:t> Implement smart contracts to automate and enforce the terms of leasing agreements without the need for intermediaries.</a:t>
            </a:r>
            <a:endParaRPr lang="en-US" sz="2200">
              <a:ea typeface="+mn-lt"/>
              <a:cs typeface="+mn-lt"/>
            </a:endParaRPr>
          </a:p>
          <a:p>
            <a:pPr marL="0" indent="0">
              <a:buNone/>
            </a:pPr>
            <a:r>
              <a:rPr lang="en-US" sz="2200" b="1">
                <a:ea typeface="+mn-lt"/>
                <a:cs typeface="+mn-lt"/>
              </a:rPr>
              <a:t>Digital Signing Process</a:t>
            </a:r>
            <a:endParaRPr lang="en-US" sz="2200">
              <a:ea typeface="+mn-lt"/>
              <a:cs typeface="+mn-lt"/>
            </a:endParaRPr>
          </a:p>
          <a:p>
            <a:pPr lvl="1"/>
            <a:r>
              <a:rPr lang="en-US" sz="2200" b="1">
                <a:ea typeface="+mn-lt"/>
                <a:cs typeface="+mn-lt"/>
              </a:rPr>
              <a:t>Contract Creation:</a:t>
            </a:r>
            <a:r>
              <a:rPr lang="en-US" sz="2200">
                <a:solidFill>
                  <a:srgbClr val="0D0D0D"/>
                </a:solidFill>
                <a:ea typeface="+mn-lt"/>
                <a:cs typeface="+mn-lt"/>
              </a:rPr>
              <a:t> Contracts are created and stored on the blockchain.</a:t>
            </a:r>
            <a:endParaRPr lang="en-US" sz="2200">
              <a:ea typeface="+mn-lt"/>
              <a:cs typeface="+mn-lt"/>
            </a:endParaRPr>
          </a:p>
          <a:p>
            <a:pPr lvl="1"/>
            <a:r>
              <a:rPr lang="en-US" sz="2200" b="1">
                <a:ea typeface="+mn-lt"/>
                <a:cs typeface="+mn-lt"/>
              </a:rPr>
              <a:t>Smart Contract Execution:</a:t>
            </a:r>
            <a:r>
              <a:rPr lang="en-US" sz="2200">
                <a:solidFill>
                  <a:srgbClr val="0D0D0D"/>
                </a:solidFill>
                <a:ea typeface="+mn-lt"/>
                <a:cs typeface="+mn-lt"/>
              </a:rPr>
              <a:t> Smart contracts execute predefined conditions, ensuring that once conditions are met, the contract is automatically enforced.</a:t>
            </a:r>
            <a:endParaRPr lang="en-US" sz="2200">
              <a:ea typeface="+mn-lt"/>
              <a:cs typeface="+mn-lt"/>
            </a:endParaRPr>
          </a:p>
          <a:p>
            <a:pPr lvl="1"/>
            <a:r>
              <a:rPr lang="en-US" sz="2200" b="1">
                <a:ea typeface="+mn-lt"/>
                <a:cs typeface="+mn-lt"/>
              </a:rPr>
              <a:t>Digital Signatures:</a:t>
            </a:r>
            <a:r>
              <a:rPr lang="en-US" sz="2200">
                <a:solidFill>
                  <a:srgbClr val="0D0D0D"/>
                </a:solidFill>
                <a:ea typeface="+mn-lt"/>
                <a:cs typeface="+mn-lt"/>
              </a:rPr>
              <a:t> Companies digitally sign the contracts using cryptographic keys, ensuring authenticity and security.</a:t>
            </a:r>
            <a:endParaRPr lang="en-US" sz="2200">
              <a:ea typeface="+mn-lt"/>
              <a:cs typeface="+mn-lt"/>
            </a:endParaRPr>
          </a:p>
        </p:txBody>
      </p:sp>
    </p:spTree>
    <p:extLst>
      <p:ext uri="{BB962C8B-B14F-4D97-AF65-F5344CB8AC3E}">
        <p14:creationId xmlns:p14="http://schemas.microsoft.com/office/powerpoint/2010/main" val="3343772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2E550-5452-0B83-9CD1-EC6C3AB8606E}"/>
              </a:ext>
            </a:extLst>
          </p:cNvPr>
          <p:cNvSpPr>
            <a:spLocks noGrp="1"/>
          </p:cNvSpPr>
          <p:nvPr>
            <p:ph type="title"/>
          </p:nvPr>
        </p:nvSpPr>
        <p:spPr>
          <a:xfrm>
            <a:off x="838200" y="365125"/>
            <a:ext cx="10567086" cy="1346157"/>
          </a:xfrm>
        </p:spPr>
        <p:txBody>
          <a:bodyPr/>
          <a:lstStyle/>
          <a:p>
            <a:r>
              <a:rPr lang="en-US" sz="3600" b="1">
                <a:latin typeface="Calibri"/>
                <a:cs typeface="Calibri"/>
              </a:rPr>
              <a:t>FUTURE PLANS – STORING TRANSACTIONS WITH BLOCKCHAINS</a:t>
            </a:r>
          </a:p>
        </p:txBody>
      </p:sp>
      <p:sp>
        <p:nvSpPr>
          <p:cNvPr id="3" name="Content Placeholder 2">
            <a:extLst>
              <a:ext uri="{FF2B5EF4-FFF2-40B4-BE49-F238E27FC236}">
                <a16:creationId xmlns:a16="http://schemas.microsoft.com/office/drawing/2014/main" id="{48D90EDE-F283-4020-35F6-01857E4DF9B8}"/>
              </a:ext>
            </a:extLst>
          </p:cNvPr>
          <p:cNvSpPr>
            <a:spLocks noGrp="1"/>
          </p:cNvSpPr>
          <p:nvPr>
            <p:ph idx="1"/>
          </p:nvPr>
        </p:nvSpPr>
        <p:spPr>
          <a:xfrm>
            <a:off x="838200" y="1825625"/>
            <a:ext cx="10886302" cy="4804419"/>
          </a:xfrm>
        </p:spPr>
        <p:txBody>
          <a:bodyPr vert="horz" lIns="91440" tIns="45720" rIns="91440" bIns="45720" rtlCol="0" anchor="t">
            <a:noAutofit/>
          </a:bodyPr>
          <a:lstStyle/>
          <a:p>
            <a:pPr marL="0" indent="0">
              <a:buNone/>
            </a:pPr>
            <a:endParaRPr lang="en-US" sz="2400" b="1" dirty="0">
              <a:ea typeface="Calibri"/>
              <a:cs typeface="Calibri"/>
            </a:endParaRPr>
          </a:p>
          <a:p>
            <a:pPr marL="0" indent="0">
              <a:buNone/>
            </a:pPr>
            <a:r>
              <a:rPr lang="en-US" sz="2400" b="1" dirty="0">
                <a:ea typeface="+mn-lt"/>
                <a:cs typeface="+mn-lt"/>
              </a:rPr>
              <a:t>Process Flow</a:t>
            </a:r>
            <a:endParaRPr lang="en-US" sz="2400" dirty="0">
              <a:ea typeface="Calibri"/>
              <a:cs typeface="Calibri"/>
            </a:endParaRPr>
          </a:p>
          <a:p>
            <a:pPr lvl="1"/>
            <a:r>
              <a:rPr lang="en-US" b="1">
                <a:ea typeface="+mn-lt"/>
                <a:cs typeface="+mn-lt"/>
              </a:rPr>
              <a:t>Smart Contract Deployment:</a:t>
            </a:r>
            <a:r>
              <a:rPr lang="en-US">
                <a:solidFill>
                  <a:srgbClr val="0D0D0D"/>
                </a:solidFill>
                <a:ea typeface="+mn-lt"/>
                <a:cs typeface="+mn-lt"/>
              </a:rPr>
              <a:t> The smart contract is deployed, encoding the terms of the agreement.</a:t>
            </a:r>
            <a:endParaRPr lang="en-US" b="1" dirty="0">
              <a:ea typeface="+mn-lt"/>
              <a:cs typeface="+mn-lt"/>
            </a:endParaRPr>
          </a:p>
          <a:p>
            <a:pPr lvl="1"/>
            <a:r>
              <a:rPr lang="en-US" b="1">
                <a:ea typeface="+mn-lt"/>
                <a:cs typeface="+mn-lt"/>
              </a:rPr>
              <a:t>Transaction Initiation:</a:t>
            </a:r>
            <a:r>
              <a:rPr lang="en-US" dirty="0">
                <a:solidFill>
                  <a:srgbClr val="0D0D0D"/>
                </a:solidFill>
                <a:ea typeface="+mn-lt"/>
                <a:cs typeface="+mn-lt"/>
              </a:rPr>
              <a:t> When a leasing agreement is reached, the transaction is initiated on the blockchain.</a:t>
            </a:r>
            <a:endParaRPr lang="en-US" dirty="0">
              <a:ea typeface="Calibri"/>
              <a:cs typeface="Calibri"/>
            </a:endParaRPr>
          </a:p>
          <a:p>
            <a:pPr lvl="1"/>
            <a:r>
              <a:rPr lang="en-US" b="1" dirty="0">
                <a:ea typeface="+mn-lt"/>
                <a:cs typeface="+mn-lt"/>
              </a:rPr>
              <a:t>Execution and Storage:</a:t>
            </a:r>
            <a:r>
              <a:rPr lang="en-US" dirty="0">
                <a:solidFill>
                  <a:srgbClr val="0D0D0D"/>
                </a:solidFill>
                <a:ea typeface="+mn-lt"/>
                <a:cs typeface="+mn-lt"/>
              </a:rPr>
              <a:t> Once the conditions of the contract are met, the smart contract executes the transaction, which is then recorded on the blockchain.</a:t>
            </a:r>
            <a:endParaRPr lang="en-US" dirty="0">
              <a:ea typeface="Calibri"/>
              <a:cs typeface="Calibri"/>
            </a:endParaRPr>
          </a:p>
          <a:p>
            <a:pPr lvl="1"/>
            <a:r>
              <a:rPr lang="en-US" b="1" dirty="0">
                <a:ea typeface="+mn-lt"/>
                <a:cs typeface="+mn-lt"/>
              </a:rPr>
              <a:t>Monitoring and Verification:</a:t>
            </a:r>
            <a:r>
              <a:rPr lang="en-US" dirty="0">
                <a:solidFill>
                  <a:srgbClr val="0D0D0D"/>
                </a:solidFill>
                <a:ea typeface="+mn-lt"/>
                <a:cs typeface="+mn-lt"/>
              </a:rPr>
              <a:t> Continuous monitoring of the blockchain ensures that all transactions are verified and remain tamper-proof.</a:t>
            </a:r>
            <a:endParaRPr lang="en-US" dirty="0">
              <a:ea typeface="Calibri"/>
              <a:cs typeface="Calibri"/>
            </a:endParaRPr>
          </a:p>
        </p:txBody>
      </p:sp>
    </p:spTree>
    <p:extLst>
      <p:ext uri="{BB962C8B-B14F-4D97-AF65-F5344CB8AC3E}">
        <p14:creationId xmlns:p14="http://schemas.microsoft.com/office/powerpoint/2010/main" val="38279062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95BE-64DF-510C-3049-EA724B9D0FAA}"/>
              </a:ext>
            </a:extLst>
          </p:cNvPr>
          <p:cNvSpPr>
            <a:spLocks noGrp="1"/>
          </p:cNvSpPr>
          <p:nvPr>
            <p:ph type="title"/>
          </p:nvPr>
        </p:nvSpPr>
        <p:spPr>
          <a:xfrm>
            <a:off x="320639" y="525148"/>
            <a:ext cx="4355265" cy="607068"/>
          </a:xfrm>
        </p:spPr>
        <p:txBody>
          <a:bodyPr anchor="b">
            <a:normAutofit/>
          </a:bodyPr>
          <a:lstStyle/>
          <a:p>
            <a:r>
              <a:rPr lang="en-US" sz="3200" b="1">
                <a:latin typeface="Calibri"/>
                <a:ea typeface="Calibri Light"/>
                <a:cs typeface="Calibri Light"/>
              </a:rPr>
              <a:t>CONCLUSION</a:t>
            </a:r>
          </a:p>
        </p:txBody>
      </p:sp>
      <p:sp>
        <p:nvSpPr>
          <p:cNvPr id="3" name="Content Placeholder 2">
            <a:extLst>
              <a:ext uri="{FF2B5EF4-FFF2-40B4-BE49-F238E27FC236}">
                <a16:creationId xmlns:a16="http://schemas.microsoft.com/office/drawing/2014/main" id="{44349642-02CF-8514-97DB-6D963F7CF14C}"/>
              </a:ext>
            </a:extLst>
          </p:cNvPr>
          <p:cNvSpPr>
            <a:spLocks noGrp="1"/>
          </p:cNvSpPr>
          <p:nvPr>
            <p:ph idx="1"/>
          </p:nvPr>
        </p:nvSpPr>
        <p:spPr>
          <a:xfrm>
            <a:off x="320638" y="1462558"/>
            <a:ext cx="5446778" cy="5394019"/>
          </a:xfrm>
        </p:spPr>
        <p:txBody>
          <a:bodyPr vert="horz" lIns="91440" tIns="45720" rIns="91440" bIns="45720" rtlCol="0" anchor="t">
            <a:noAutofit/>
          </a:bodyPr>
          <a:lstStyle/>
          <a:p>
            <a:pPr marL="0" indent="0">
              <a:buNone/>
            </a:pPr>
            <a:r>
              <a:rPr lang="en-US" sz="2000">
                <a:ea typeface="+mn-lt"/>
                <a:cs typeface="+mn-lt"/>
              </a:rPr>
              <a:t>The Balanced Workforce Leasing Platform represents a significant innovation in workforce management, offering a secure, scalable, and efficient solution for talent leasing. With a robust business model encompassing licensing fees, subscription services, and community contributions, it provides substantial value to businesses. Our Docker-based architecture ensures seamless integration and robust data management, while the future plans to incorporate blockchain technology for decentralized, secure digital contract signing promise enhanced transparency and efficiency. Committed to addressing legal, ethical, and operational challenges, we aim to continually evolve the platform to meet the dynamic needs of businesses and employees, driving innovation and growth in workforce management.</a:t>
            </a:r>
            <a:br>
              <a:rPr lang="en-US" sz="2000">
                <a:ea typeface="Calibri"/>
                <a:cs typeface="Calibri"/>
              </a:rPr>
            </a:br>
            <a:endParaRPr lang="en-US" sz="2000">
              <a:ea typeface="Calibri"/>
              <a:cs typeface="Calibri"/>
            </a:endParaRPr>
          </a:p>
          <a:p>
            <a:endParaRPr lang="en-US" sz="2000">
              <a:ea typeface="Calibri"/>
              <a:cs typeface="Calibri"/>
            </a:endParaRPr>
          </a:p>
        </p:txBody>
      </p:sp>
      <p:pic>
        <p:nvPicPr>
          <p:cNvPr id="5" name="Picture 4" descr="Light bulb on yellow background with sketched light beams and cord">
            <a:extLst>
              <a:ext uri="{FF2B5EF4-FFF2-40B4-BE49-F238E27FC236}">
                <a16:creationId xmlns:a16="http://schemas.microsoft.com/office/drawing/2014/main" id="{3B2DE0C6-CDCB-087A-22D0-114C1A9DAAF8}"/>
              </a:ext>
            </a:extLst>
          </p:cNvPr>
          <p:cNvPicPr>
            <a:picLocks noChangeAspect="1"/>
          </p:cNvPicPr>
          <p:nvPr/>
        </p:nvPicPr>
        <p:blipFill rotWithShape="1">
          <a:blip r:embed="rId2"/>
          <a:srcRect l="43819" r="1495" b="3"/>
          <a:stretch/>
        </p:blipFill>
        <p:spPr>
          <a:xfrm>
            <a:off x="6096000" y="10"/>
            <a:ext cx="6095999" cy="6857990"/>
          </a:xfrm>
          <a:prstGeom prst="rect">
            <a:avLst/>
          </a:prstGeom>
        </p:spPr>
      </p:pic>
      <p:sp>
        <p:nvSpPr>
          <p:cNvPr id="9" name="Rectangle 8">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69424" y="3028872"/>
            <a:ext cx="1559464" cy="6106313"/>
          </a:xfrm>
          <a:prstGeom prst="rect">
            <a:avLst/>
          </a:prstGeom>
          <a:gradFill>
            <a:gsLst>
              <a:gs pos="0">
                <a:schemeClr val="accent5">
                  <a:alpha val="77000"/>
                </a:schemeClr>
              </a:gs>
              <a:gs pos="57000">
                <a:schemeClr val="accent5">
                  <a:lumMod val="60000"/>
                  <a:lumOff val="40000"/>
                  <a:alpha val="0"/>
                </a:schemeClr>
              </a:gs>
            </a:gsLst>
            <a:lin ang="11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C3A50E9-9119-7BC3-083B-2D84CCC78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15441" y="-3760"/>
            <a:ext cx="2176557" cy="6857999"/>
          </a:xfrm>
          <a:prstGeom prst="rect">
            <a:avLst/>
          </a:prstGeom>
          <a:gradFill flip="none" rotWithShape="1">
            <a:gsLst>
              <a:gs pos="0">
                <a:schemeClr val="accent2"/>
              </a:gs>
              <a:gs pos="40000">
                <a:schemeClr val="accent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096000" y="5502302"/>
            <a:ext cx="6106314" cy="1359456"/>
          </a:xfrm>
          <a:prstGeom prst="rect">
            <a:avLst/>
          </a:prstGeom>
          <a:gradFill flip="none" rotWithShape="1">
            <a:gsLst>
              <a:gs pos="0">
                <a:schemeClr val="accent2">
                  <a:alpha val="89000"/>
                </a:schemeClr>
              </a:gs>
              <a:gs pos="38000">
                <a:schemeClr val="accent5">
                  <a:lumMod val="60000"/>
                  <a:lumOff val="40000"/>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26892" y="2939627"/>
            <a:ext cx="3162908" cy="3914612"/>
          </a:xfrm>
          <a:prstGeom prst="rect">
            <a:avLst/>
          </a:prstGeom>
          <a:gradFill flip="none" rotWithShape="1">
            <a:gsLst>
              <a:gs pos="0">
                <a:schemeClr val="accent5">
                  <a:lumMod val="60000"/>
                  <a:lumOff val="40000"/>
                </a:schemeClr>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Tree>
    <p:extLst>
      <p:ext uri="{BB962C8B-B14F-4D97-AF65-F5344CB8AC3E}">
        <p14:creationId xmlns:p14="http://schemas.microsoft.com/office/powerpoint/2010/main" val="7965824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6C5FA50-8D52-4617-AF91-5C7B1C835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6E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28C07A-3D7D-D3CC-EE93-8FC4A5D3674C}"/>
              </a:ext>
            </a:extLst>
          </p:cNvPr>
          <p:cNvSpPr>
            <a:spLocks noGrp="1"/>
          </p:cNvSpPr>
          <p:nvPr>
            <p:ph type="title"/>
          </p:nvPr>
        </p:nvSpPr>
        <p:spPr>
          <a:xfrm>
            <a:off x="8856659" y="484817"/>
            <a:ext cx="3087546" cy="5721322"/>
          </a:xfrm>
        </p:spPr>
        <p:txBody>
          <a:bodyPr vert="horz" lIns="91440" tIns="45720" rIns="91440" bIns="45720" rtlCol="0" anchor="ctr">
            <a:normAutofit/>
          </a:bodyPr>
          <a:lstStyle/>
          <a:p>
            <a:pPr algn="ctr"/>
            <a:r>
              <a:rPr lang="en-US" sz="3100" b="1"/>
              <a:t>THANK YOU</a:t>
            </a:r>
            <a:r>
              <a:rPr lang="en-US" sz="3100"/>
              <a:t>😃</a:t>
            </a:r>
            <a:br>
              <a:rPr lang="en-US" sz="3100" b="1"/>
            </a:br>
            <a:br>
              <a:rPr lang="en-US" sz="3100" b="1"/>
            </a:br>
            <a:br>
              <a:rPr lang="en-US" sz="3100" b="1"/>
            </a:br>
            <a:br>
              <a:rPr lang="en-US" sz="3100" b="1"/>
            </a:br>
            <a:br>
              <a:rPr lang="en-US" sz="3100" b="1"/>
            </a:br>
            <a:br>
              <a:rPr lang="en-US" sz="3100" b="1"/>
            </a:br>
            <a:br>
              <a:rPr lang="en-US" sz="3100" b="1"/>
            </a:br>
            <a:br>
              <a:rPr lang="en-US" sz="3100" b="1"/>
            </a:br>
            <a:r>
              <a:rPr lang="en-US" sz="3100" b="1"/>
              <a:t>ANY QUESTIONS?</a:t>
            </a:r>
            <a:endParaRPr lang="en-US">
              <a:cs typeface="Calibri Light"/>
            </a:endParaRPr>
          </a:p>
        </p:txBody>
      </p:sp>
      <p:sp>
        <p:nvSpPr>
          <p:cNvPr id="21"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Wood human figure">
            <a:extLst>
              <a:ext uri="{FF2B5EF4-FFF2-40B4-BE49-F238E27FC236}">
                <a16:creationId xmlns:a16="http://schemas.microsoft.com/office/drawing/2014/main" id="{1F00FA60-E9BA-AAC1-7D19-9DE6A8683530}"/>
              </a:ext>
            </a:extLst>
          </p:cNvPr>
          <p:cNvPicPr>
            <a:picLocks noChangeAspect="1"/>
          </p:cNvPicPr>
          <p:nvPr/>
        </p:nvPicPr>
        <p:blipFill rotWithShape="1">
          <a:blip r:embed="rId2"/>
          <a:srcRect r="561" b="1"/>
          <a:stretch/>
        </p:blipFill>
        <p:spPr>
          <a:xfrm>
            <a:off x="976251" y="942538"/>
            <a:ext cx="7163222" cy="4808332"/>
          </a:xfrm>
          <a:prstGeom prst="rect">
            <a:avLst/>
          </a:prstGeom>
          <a:effectLst/>
        </p:spPr>
      </p:pic>
    </p:spTree>
    <p:extLst>
      <p:ext uri="{BB962C8B-B14F-4D97-AF65-F5344CB8AC3E}">
        <p14:creationId xmlns:p14="http://schemas.microsoft.com/office/powerpoint/2010/main" val="323339203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37</Slides>
  <Notes>0</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BALANCED WORKFORCE</vt:lpstr>
      <vt:lpstr>INTRODUCTION TO BALANCED WORKFORCE</vt:lpstr>
      <vt:lpstr>PROJECT REQUIREMENTS</vt:lpstr>
      <vt:lpstr>STAKEHOLDERS INVOLVED</vt:lpstr>
      <vt:lpstr>OPERATIONAL PROCESS</vt:lpstr>
      <vt:lpstr>INFRASTRUCTURE SETUP</vt:lpstr>
      <vt:lpstr>EMPLOYEE'S USER PROFILE, WAY OF ACCESS AND RIGHTS</vt:lpstr>
      <vt:lpstr>EMPLOYEE VERIFICATION AND LISTING</vt:lpstr>
      <vt:lpstr>INTEGRATION AND PLATFORM DEVELOPMENT</vt:lpstr>
      <vt:lpstr>TALENT MATCHING AND AGREEMENT</vt:lpstr>
      <vt:lpstr>BUSINESS MODEL OVERVIEW</vt:lpstr>
      <vt:lpstr>LICENSING FEES AND SUBSCRIPTION SERVICES</vt:lpstr>
      <vt:lpstr>ADDITIONAL REVENUE STREAMS</vt:lpstr>
      <vt:lpstr> BUSINESS MODEL CANVAS</vt:lpstr>
      <vt:lpstr>E3VALUE EXCHANGE MODEL</vt:lpstr>
      <vt:lpstr>BUSINESS PROCESS LANDSCAPE</vt:lpstr>
      <vt:lpstr>PowerPoint Presentation</vt:lpstr>
      <vt:lpstr>PowerPoint Presentation</vt:lpstr>
      <vt:lpstr>BUSINESS PERSPECTIVE ON T2 TRANSACTION – PART 1</vt:lpstr>
      <vt:lpstr>PowerPoint Presentation</vt:lpstr>
      <vt:lpstr>ARCHIMATE ARCHITECTURE</vt:lpstr>
      <vt:lpstr>BUSINESS PROCESS COOPERATION VIEWPOINT</vt:lpstr>
      <vt:lpstr>APPLICATION USAGE VIEWPOINT</vt:lpstr>
      <vt:lpstr>OVERVIEW OF THE ARCHITECTURE</vt:lpstr>
      <vt:lpstr>PowerPoint Presentation</vt:lpstr>
      <vt:lpstr>PowerPoint Presentation</vt:lpstr>
      <vt:lpstr>CONCEPTUAL DATA FLOW ACROSS COMPONENTS</vt:lpstr>
      <vt:lpstr>DETAILED ARCHITECTURE OF T2 TRANSACTION(PART 1)</vt:lpstr>
      <vt:lpstr>DETAILED ARCHITECTURE OF T2 TRANSACTION(PART 2)</vt:lpstr>
      <vt:lpstr>PowerPoint Presentation</vt:lpstr>
      <vt:lpstr>POTENTIAL CHALLENGES – LEGAL ISSUES</vt:lpstr>
      <vt:lpstr>POTENTIAL CHALLENGES – ETHICAL ISSUES</vt:lpstr>
      <vt:lpstr>POTENTIAL CHALLENGES – OPERATIONAL ISSUES</vt:lpstr>
      <vt:lpstr>FUTURE PLANS – DECENTRALIZED CONTRACT SIGNING</vt:lpstr>
      <vt:lpstr>FUTURE PLANS – STORING TRANSACTIONS WITH BLOCKCHAINS</vt:lpstr>
      <vt:lpstr>CONCLUSION</vt:lpstr>
      <vt:lpstr>THANK YOU😃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23</cp:revision>
  <dcterms:created xsi:type="dcterms:W3CDTF">2013-07-15T20:26:40Z</dcterms:created>
  <dcterms:modified xsi:type="dcterms:W3CDTF">2024-06-08T22:28:21Z</dcterms:modified>
</cp:coreProperties>
</file>