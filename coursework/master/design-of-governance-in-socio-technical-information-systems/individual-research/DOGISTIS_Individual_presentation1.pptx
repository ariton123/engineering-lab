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76" r:id="rId7"/>
    <p:sldId id="261" r:id="rId8"/>
    <p:sldId id="262" r:id="rId9"/>
    <p:sldId id="263" r:id="rId10"/>
    <p:sldId id="264" r:id="rId11"/>
    <p:sldId id="265" r:id="rId12"/>
    <p:sldId id="266" r:id="rId13"/>
    <p:sldId id="267" r:id="rId14"/>
    <p:sldId id="268" r:id="rId15"/>
    <p:sldId id="270" r:id="rId16"/>
    <p:sldId id="271" r:id="rId17"/>
    <p:sldId id="272" r:id="rId18"/>
    <p:sldId id="275" r:id="rId19"/>
    <p:sldId id="273"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CD062A-B922-CEDB-CEA6-484A38D3B8A9}" v="51" dt="2024-04-15T11:25:04.219"/>
    <p1510:client id="{8ABE575B-95B8-B744-E460-428A4F635BAF}" v="56" dt="2024-04-14T23:04:31.261"/>
    <p1510:client id="{C6B16FEE-6411-042F-A41D-C8DCBA1B9EFF}" v="357" dt="2024-04-15T00:03:19.3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15822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774268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05696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dirty="0"/>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a:p>
        </p:txBody>
      </p:sp>
    </p:spTree>
    <p:extLst>
      <p:ext uri="{BB962C8B-B14F-4D97-AF65-F5344CB8AC3E}">
        <p14:creationId xmlns:p14="http://schemas.microsoft.com/office/powerpoint/2010/main" val="52132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49187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837461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12312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2027208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271679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06073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2205469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430295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179052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604571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extLst>
      <p:ext uri="{BB962C8B-B14F-4D97-AF65-F5344CB8AC3E}">
        <p14:creationId xmlns:p14="http://schemas.microsoft.com/office/powerpoint/2010/main" val="8321885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5113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4/15/2024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4033831072"/>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93740"/>
            <a:ext cx="9144000" cy="1399380"/>
          </a:xfrm>
        </p:spPr>
        <p:txBody>
          <a:bodyPr>
            <a:noAutofit/>
          </a:bodyPr>
          <a:lstStyle/>
          <a:p>
            <a:pPr algn="ctr"/>
            <a:r>
              <a:rPr lang="en-US" sz="4000" b="1">
                <a:solidFill>
                  <a:srgbClr val="0D0D0D"/>
                </a:solidFill>
                <a:ea typeface="+mj-lt"/>
                <a:cs typeface="+mj-lt"/>
              </a:rPr>
              <a:t>Influence government, platform power and the patchwork profile</a:t>
            </a:r>
            <a:endParaRPr lang="en-US" sz="4000" b="1"/>
          </a:p>
        </p:txBody>
      </p:sp>
      <p:sp>
        <p:nvSpPr>
          <p:cNvPr id="3" name="Subtitle 2"/>
          <p:cNvSpPr>
            <a:spLocks noGrp="1"/>
          </p:cNvSpPr>
          <p:nvPr>
            <p:ph type="subTitle" idx="1"/>
          </p:nvPr>
        </p:nvSpPr>
        <p:spPr>
          <a:xfrm>
            <a:off x="607219" y="2518571"/>
            <a:ext cx="10941843" cy="4179886"/>
          </a:xfrm>
        </p:spPr>
        <p:txBody>
          <a:bodyPr vert="horz" lIns="91440" tIns="45720" rIns="91440" bIns="45720" rtlCol="0" anchor="t">
            <a:normAutofit/>
          </a:bodyPr>
          <a:lstStyle/>
          <a:p>
            <a:pPr algn="ctr"/>
            <a:r>
              <a:rPr lang="en-US" sz="2600" i="1">
                <a:solidFill>
                  <a:srgbClr val="0D0D0D"/>
                </a:solidFill>
                <a:ea typeface="+mn-lt"/>
                <a:cs typeface="+mn-lt"/>
              </a:rPr>
              <a:t>Exploring the appropriation of targeted advertising infrastructures for government behavior change campaigns</a:t>
            </a:r>
          </a:p>
          <a:p>
            <a:pPr algn="ctr"/>
            <a:endParaRPr lang="en-US" i="1">
              <a:solidFill>
                <a:srgbClr val="0D0D0D"/>
              </a:solidFill>
            </a:endParaRPr>
          </a:p>
          <a:p>
            <a:pPr algn="ctr"/>
            <a:endParaRPr lang="en-US" i="1">
              <a:solidFill>
                <a:srgbClr val="0D0D0D"/>
              </a:solidFill>
            </a:endParaRPr>
          </a:p>
          <a:p>
            <a:pPr algn="ctr"/>
            <a:r>
              <a:rPr lang="en-US" sz="2200" i="1" u="sng">
                <a:solidFill>
                  <a:srgbClr val="0D0D0D"/>
                </a:solidFill>
              </a:rPr>
              <a:t>Mid-term presentation in Design of Governance in Socio-technical systems</a:t>
            </a:r>
          </a:p>
          <a:p>
            <a:pPr algn="ctr"/>
            <a:endParaRPr lang="en-US" i="1">
              <a:solidFill>
                <a:srgbClr val="0D0D0D"/>
              </a:solidFill>
            </a:endParaRPr>
          </a:p>
          <a:p>
            <a:pPr algn="ctr"/>
            <a:endParaRPr lang="en-US" i="1">
              <a:solidFill>
                <a:srgbClr val="0D0D0D"/>
              </a:solidFill>
            </a:endParaRPr>
          </a:p>
          <a:p>
            <a:pPr algn="ctr"/>
            <a:endParaRPr lang="en-US" sz="2000" i="1">
              <a:solidFill>
                <a:srgbClr val="0D0D0D"/>
              </a:solidFill>
            </a:endParaRPr>
          </a:p>
          <a:p>
            <a:pPr algn="ctr"/>
            <a:r>
              <a:rPr lang="en-US" sz="2000" i="1">
                <a:solidFill>
                  <a:srgbClr val="0D0D0D"/>
                </a:solidFill>
              </a:rPr>
              <a:t>15.04.2024, University of Neuchatel                                                                        Ariton Verush</a:t>
            </a:r>
            <a:endParaRPr lang="en-US" i="1">
              <a:solidFill>
                <a:srgbClr val="0D0D0D"/>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6C6C3-0340-95A6-E3D4-FD83969F9F9D}"/>
              </a:ext>
            </a:extLst>
          </p:cNvPr>
          <p:cNvSpPr>
            <a:spLocks noGrp="1"/>
          </p:cNvSpPr>
          <p:nvPr>
            <p:ph type="title"/>
          </p:nvPr>
        </p:nvSpPr>
        <p:spPr/>
        <p:txBody>
          <a:bodyPr>
            <a:normAutofit/>
          </a:bodyPr>
          <a:lstStyle/>
          <a:p>
            <a:r>
              <a:rPr lang="en-US" sz="3000" b="1"/>
              <a:t>Abstract</a:t>
            </a:r>
          </a:p>
        </p:txBody>
      </p:sp>
      <p:sp>
        <p:nvSpPr>
          <p:cNvPr id="3" name="Content Placeholder 2">
            <a:extLst>
              <a:ext uri="{FF2B5EF4-FFF2-40B4-BE49-F238E27FC236}">
                <a16:creationId xmlns:a16="http://schemas.microsoft.com/office/drawing/2014/main" id="{CE62153E-1A7A-D9A7-1581-AA026F5D9027}"/>
              </a:ext>
            </a:extLst>
          </p:cNvPr>
          <p:cNvSpPr>
            <a:spLocks noGrp="1"/>
          </p:cNvSpPr>
          <p:nvPr>
            <p:ph idx="1"/>
          </p:nvPr>
        </p:nvSpPr>
        <p:spPr>
          <a:xfrm>
            <a:off x="671513" y="1837531"/>
            <a:ext cx="10682287" cy="4744244"/>
          </a:xfrm>
        </p:spPr>
        <p:txBody>
          <a:bodyPr vert="horz" lIns="91440" tIns="45720" rIns="91440" bIns="45720" rtlCol="0" anchor="t">
            <a:normAutofit/>
          </a:bodyPr>
          <a:lstStyle/>
          <a:p>
            <a:pPr marL="0" indent="0">
              <a:buNone/>
            </a:pPr>
            <a:r>
              <a:rPr lang="en-US" sz="2400">
                <a:solidFill>
                  <a:srgbClr val="0D0D0D"/>
                </a:solidFill>
                <a:ea typeface="+mn-lt"/>
                <a:cs typeface="+mn-lt"/>
              </a:rPr>
              <a:t>This research explores the intersection of power, governance, and digital advertising platforms, particularly focusing on the implications for state power and public communication strategies in the UK. It delves into how digital infrastructures shape government communication tactics, especially through targeted advertising, and investigates the dynamics between commercial platforms like Meta and governmental bodies. The study aims to understand how these platforms influence public perceptions, policy dissemination, and the behavioral thinking, drawing insights from empirical analyses of digital advertising campaigns conducted by various public sector entities. </a:t>
            </a:r>
          </a:p>
          <a:p>
            <a:pPr marL="0" indent="0">
              <a:buNone/>
            </a:pPr>
            <a:br>
              <a:rPr lang="en-US"/>
            </a:br>
            <a:endParaRPr lang="en-US" sz="2400"/>
          </a:p>
          <a:p>
            <a:endParaRPr lang="en-US" sz="2400">
              <a:solidFill>
                <a:srgbClr val="0D0D0D"/>
              </a:solidFill>
            </a:endParaRPr>
          </a:p>
        </p:txBody>
      </p:sp>
    </p:spTree>
    <p:extLst>
      <p:ext uri="{BB962C8B-B14F-4D97-AF65-F5344CB8AC3E}">
        <p14:creationId xmlns:p14="http://schemas.microsoft.com/office/powerpoint/2010/main" val="370444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0206F-CA43-409A-58AA-383D74FC1C75}"/>
              </a:ext>
            </a:extLst>
          </p:cNvPr>
          <p:cNvSpPr>
            <a:spLocks noGrp="1"/>
          </p:cNvSpPr>
          <p:nvPr>
            <p:ph type="title"/>
          </p:nvPr>
        </p:nvSpPr>
        <p:spPr/>
        <p:txBody>
          <a:bodyPr/>
          <a:lstStyle/>
          <a:p>
            <a:r>
              <a:rPr lang="en-US" sz="3000" b="1">
                <a:ea typeface="+mj-lt"/>
                <a:cs typeface="+mj-lt"/>
              </a:rPr>
              <a:t>Introduction</a:t>
            </a:r>
            <a:endParaRPr lang="en-US"/>
          </a:p>
        </p:txBody>
      </p:sp>
      <p:sp>
        <p:nvSpPr>
          <p:cNvPr id="3" name="Content Placeholder 2">
            <a:extLst>
              <a:ext uri="{FF2B5EF4-FFF2-40B4-BE49-F238E27FC236}">
                <a16:creationId xmlns:a16="http://schemas.microsoft.com/office/drawing/2014/main" id="{48595F58-CE09-FCA5-01EC-13F99F0F593E}"/>
              </a:ext>
            </a:extLst>
          </p:cNvPr>
          <p:cNvSpPr>
            <a:spLocks noGrp="1"/>
          </p:cNvSpPr>
          <p:nvPr>
            <p:ph idx="1"/>
          </p:nvPr>
        </p:nvSpPr>
        <p:spPr>
          <a:xfrm>
            <a:off x="838200" y="1825625"/>
            <a:ext cx="10515600" cy="4565650"/>
          </a:xfrm>
        </p:spPr>
        <p:txBody>
          <a:bodyPr vert="horz" lIns="91440" tIns="45720" rIns="91440" bIns="45720" rtlCol="0" anchor="t">
            <a:normAutofit fontScale="92500" lnSpcReduction="10000"/>
          </a:bodyPr>
          <a:lstStyle/>
          <a:p>
            <a:r>
              <a:rPr lang="en-US" sz="2600">
                <a:solidFill>
                  <a:srgbClr val="0D0D0D"/>
                </a:solidFill>
                <a:ea typeface="+mn-lt"/>
                <a:cs typeface="+mn-lt"/>
              </a:rPr>
              <a:t>Reflect on a decade marked by intensive exploration and analysis of the business models, infrastructures, and wielded power of internet giants.</a:t>
            </a:r>
            <a:endParaRPr lang="en-US" sz="2600"/>
          </a:p>
          <a:p>
            <a:pPr marL="0" indent="0">
              <a:buNone/>
            </a:pPr>
            <a:endParaRPr lang="en-US" sz="2600">
              <a:solidFill>
                <a:srgbClr val="0D0D0D"/>
              </a:solidFill>
              <a:ea typeface="+mn-lt"/>
              <a:cs typeface="+mn-lt"/>
            </a:endParaRPr>
          </a:p>
          <a:p>
            <a:r>
              <a:rPr lang="en-US" sz="2600">
                <a:solidFill>
                  <a:srgbClr val="0D0D0D"/>
                </a:solidFill>
                <a:ea typeface="+mn-lt"/>
                <a:cs typeface="+mn-lt"/>
              </a:rPr>
              <a:t>Navigate through the shifting landscape of the Big Tech economy, encountering an opposition of technological upheaval and intensified state oversight.</a:t>
            </a:r>
            <a:endParaRPr lang="en-US" sz="2600"/>
          </a:p>
          <a:p>
            <a:pPr marL="0" indent="0">
              <a:buNone/>
            </a:pPr>
            <a:endParaRPr lang="en-US" sz="2600">
              <a:solidFill>
                <a:srgbClr val="0D0D0D"/>
              </a:solidFill>
              <a:ea typeface="+mn-lt"/>
              <a:cs typeface="+mn-lt"/>
            </a:endParaRPr>
          </a:p>
          <a:p>
            <a:r>
              <a:rPr lang="en-US" sz="2600">
                <a:solidFill>
                  <a:srgbClr val="0D0D0D"/>
                </a:solidFill>
                <a:ea typeface="+mn-lt"/>
                <a:cs typeface="+mn-lt"/>
              </a:rPr>
              <a:t>Delve into critical perspectives that dissect the commercial exploitation of digital infrastructures, ranging from data capitalism to surveillance capitalism, and their subsequent utilization for political agendas and combating misinformation.</a:t>
            </a:r>
            <a:endParaRPr lang="en-US" sz="2600"/>
          </a:p>
          <a:p>
            <a:endParaRPr lang="en-US" sz="2600"/>
          </a:p>
        </p:txBody>
      </p:sp>
    </p:spTree>
    <p:extLst>
      <p:ext uri="{BB962C8B-B14F-4D97-AF65-F5344CB8AC3E}">
        <p14:creationId xmlns:p14="http://schemas.microsoft.com/office/powerpoint/2010/main" val="13901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992F2-48E5-57E3-5D3A-6D1AE1133B0A}"/>
              </a:ext>
            </a:extLst>
          </p:cNvPr>
          <p:cNvSpPr>
            <a:spLocks noGrp="1"/>
          </p:cNvSpPr>
          <p:nvPr>
            <p:ph type="title"/>
          </p:nvPr>
        </p:nvSpPr>
        <p:spPr/>
        <p:txBody>
          <a:bodyPr>
            <a:normAutofit/>
          </a:bodyPr>
          <a:lstStyle/>
          <a:p>
            <a:r>
              <a:rPr lang="en-US" sz="3000" b="1">
                <a:ea typeface="+mj-lt"/>
                <a:cs typeface="+mj-lt"/>
              </a:rPr>
              <a:t>Government Communications and Behavioral Governance</a:t>
            </a:r>
            <a:endParaRPr lang="en-US" sz="3000" b="1"/>
          </a:p>
        </p:txBody>
      </p:sp>
      <p:sp>
        <p:nvSpPr>
          <p:cNvPr id="3" name="Content Placeholder 2">
            <a:extLst>
              <a:ext uri="{FF2B5EF4-FFF2-40B4-BE49-F238E27FC236}">
                <a16:creationId xmlns:a16="http://schemas.microsoft.com/office/drawing/2014/main" id="{0257E2BE-6787-BBED-9E49-970BD2858B1B}"/>
              </a:ext>
            </a:extLst>
          </p:cNvPr>
          <p:cNvSpPr>
            <a:spLocks noGrp="1"/>
          </p:cNvSpPr>
          <p:nvPr>
            <p:ph idx="1"/>
          </p:nvPr>
        </p:nvSpPr>
        <p:spPr>
          <a:xfrm>
            <a:off x="677334" y="2160589"/>
            <a:ext cx="8596668" cy="4190335"/>
          </a:xfrm>
        </p:spPr>
        <p:txBody>
          <a:bodyPr vert="horz" lIns="91440" tIns="45720" rIns="91440" bIns="45720" rtlCol="0" anchor="t">
            <a:normAutofit fontScale="85000" lnSpcReduction="10000"/>
          </a:bodyPr>
          <a:lstStyle/>
          <a:p>
            <a:r>
              <a:rPr lang="en-US" sz="2600">
                <a:solidFill>
                  <a:srgbClr val="0D0D0D"/>
                </a:solidFill>
                <a:ea typeface="+mn-lt"/>
                <a:cs typeface="+mn-lt"/>
              </a:rPr>
              <a:t>Explore the historical backdrop of government efforts to shape public attitudes and behaviors within their own populations.</a:t>
            </a:r>
            <a:endParaRPr lang="en-US" sz="2600"/>
          </a:p>
          <a:p>
            <a:pPr marL="0" indent="0">
              <a:buNone/>
            </a:pPr>
            <a:endParaRPr lang="en-US" sz="2600">
              <a:solidFill>
                <a:srgbClr val="0D0D0D"/>
              </a:solidFill>
              <a:ea typeface="+mn-lt"/>
              <a:cs typeface="+mn-lt"/>
            </a:endParaRPr>
          </a:p>
          <a:p>
            <a:r>
              <a:rPr lang="en-US" sz="2600">
                <a:solidFill>
                  <a:srgbClr val="0D0D0D"/>
                </a:solidFill>
                <a:ea typeface="+mn-lt"/>
                <a:cs typeface="+mn-lt"/>
              </a:rPr>
              <a:t>Journey through post-1945 initiatives in the United Kingdom and beyond, aimed at formalizing public information and leveraging emerging communication theories.</a:t>
            </a:r>
            <a:endParaRPr lang="en-US" sz="2600"/>
          </a:p>
          <a:p>
            <a:pPr marL="0" indent="0">
              <a:buNone/>
            </a:pPr>
            <a:endParaRPr lang="en-US" sz="2600">
              <a:solidFill>
                <a:srgbClr val="0D0D0D"/>
              </a:solidFill>
              <a:ea typeface="+mn-lt"/>
              <a:cs typeface="+mn-lt"/>
            </a:endParaRPr>
          </a:p>
          <a:p>
            <a:r>
              <a:rPr lang="en-US" sz="2600">
                <a:solidFill>
                  <a:srgbClr val="0D0D0D"/>
                </a:solidFill>
                <a:ea typeface="+mn-lt"/>
                <a:cs typeface="+mn-lt"/>
              </a:rPr>
              <a:t>Discover the evolution of marketing science adapted for social issues, emphasizing the fusion of commercial strategies with policy objectives, particularly in realms such as public health and safety.</a:t>
            </a:r>
            <a:endParaRPr lang="en-US" sz="2600"/>
          </a:p>
          <a:p>
            <a:endParaRPr lang="en-US" sz="2600"/>
          </a:p>
        </p:txBody>
      </p:sp>
    </p:spTree>
    <p:extLst>
      <p:ext uri="{BB962C8B-B14F-4D97-AF65-F5344CB8AC3E}">
        <p14:creationId xmlns:p14="http://schemas.microsoft.com/office/powerpoint/2010/main" val="3855089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2DCBB-AD6E-DFD2-5788-FBD9A87C29E9}"/>
              </a:ext>
            </a:extLst>
          </p:cNvPr>
          <p:cNvSpPr>
            <a:spLocks noGrp="1"/>
          </p:cNvSpPr>
          <p:nvPr>
            <p:ph type="title"/>
          </p:nvPr>
        </p:nvSpPr>
        <p:spPr>
          <a:xfrm>
            <a:off x="677334" y="609600"/>
            <a:ext cx="8596668" cy="915988"/>
          </a:xfrm>
        </p:spPr>
        <p:txBody>
          <a:bodyPr>
            <a:normAutofit/>
          </a:bodyPr>
          <a:lstStyle/>
          <a:p>
            <a:r>
              <a:rPr lang="en-US" sz="3000" b="1">
                <a:ea typeface="+mj-lt"/>
                <a:cs typeface="+mj-lt"/>
              </a:rPr>
              <a:t>Evolution of Communication Channels</a:t>
            </a:r>
            <a:endParaRPr lang="en-US" sz="3000"/>
          </a:p>
        </p:txBody>
      </p:sp>
      <p:sp>
        <p:nvSpPr>
          <p:cNvPr id="3" name="Content Placeholder 2">
            <a:extLst>
              <a:ext uri="{FF2B5EF4-FFF2-40B4-BE49-F238E27FC236}">
                <a16:creationId xmlns:a16="http://schemas.microsoft.com/office/drawing/2014/main" id="{725489EA-6FA5-EA01-F9C4-1552A32425D7}"/>
              </a:ext>
            </a:extLst>
          </p:cNvPr>
          <p:cNvSpPr>
            <a:spLocks noGrp="1"/>
          </p:cNvSpPr>
          <p:nvPr>
            <p:ph idx="1"/>
          </p:nvPr>
        </p:nvSpPr>
        <p:spPr>
          <a:xfrm>
            <a:off x="838200" y="1825625"/>
            <a:ext cx="10515600" cy="4422776"/>
          </a:xfrm>
        </p:spPr>
        <p:txBody>
          <a:bodyPr vert="horz" lIns="91440" tIns="45720" rIns="91440" bIns="45720" rtlCol="0" anchor="t">
            <a:normAutofit fontScale="92500" lnSpcReduction="20000"/>
          </a:bodyPr>
          <a:lstStyle/>
          <a:p>
            <a:endParaRPr lang="en-US" sz="2600"/>
          </a:p>
          <a:p>
            <a:pPr lvl="1"/>
            <a:r>
              <a:rPr lang="en-US" sz="2600">
                <a:ea typeface="+mn-lt"/>
                <a:cs typeface="+mn-lt"/>
              </a:rPr>
              <a:t>Focus on the mechanisms of communication employed by governments, spanning from traditional mediums like leaflets and print media to modern-day digital platforms.</a:t>
            </a:r>
            <a:endParaRPr lang="en-US" sz="2600"/>
          </a:p>
          <a:p>
            <a:pPr marL="457200" lvl="1" indent="0">
              <a:buNone/>
            </a:pPr>
            <a:endParaRPr lang="en-US" sz="2600">
              <a:ea typeface="+mn-lt"/>
              <a:cs typeface="+mn-lt"/>
            </a:endParaRPr>
          </a:p>
          <a:p>
            <a:pPr lvl="1"/>
            <a:r>
              <a:rPr lang="en-US" sz="2600">
                <a:ea typeface="+mn-lt"/>
                <a:cs typeface="+mn-lt"/>
              </a:rPr>
              <a:t>Examine the challenges encountered by governments in utilizing paid advertising, from assessing social outcomes to engaging with marginalized communities.</a:t>
            </a:r>
            <a:endParaRPr lang="en-US" sz="2600"/>
          </a:p>
          <a:p>
            <a:pPr marL="457200" lvl="1" indent="0">
              <a:buNone/>
            </a:pPr>
            <a:endParaRPr lang="en-US" sz="2600">
              <a:ea typeface="+mn-lt"/>
              <a:cs typeface="+mn-lt"/>
            </a:endParaRPr>
          </a:p>
          <a:p>
            <a:pPr lvl="1"/>
            <a:r>
              <a:rPr lang="en-US" sz="2600">
                <a:ea typeface="+mn-lt"/>
                <a:cs typeface="+mn-lt"/>
              </a:rPr>
              <a:t>Uncover the recent integration of design and behavioral theories into government strategies, emphasizing concepts like nudge theory and choice architectures to shape citizen behavior.</a:t>
            </a:r>
            <a:endParaRPr lang="en-US" sz="2600"/>
          </a:p>
          <a:p>
            <a:pPr marL="457200" lvl="1" indent="0">
              <a:buNone/>
            </a:pPr>
            <a:endParaRPr lang="en-US" sz="2600"/>
          </a:p>
        </p:txBody>
      </p:sp>
    </p:spTree>
    <p:extLst>
      <p:ext uri="{BB962C8B-B14F-4D97-AF65-F5344CB8AC3E}">
        <p14:creationId xmlns:p14="http://schemas.microsoft.com/office/powerpoint/2010/main" val="12669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DE8DE2B-61C1-46D5-BEB8-521321C182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E012C92A-B902-4B69-BDCF-CCA3021FCB4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2BDBC14-42A0-4182-BFBA-0751F6350C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902DC474-5BCC-4188-ACDC-AD63E6B18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7B427019-8592-4032-931B-4F27104C9D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1D6E2CEA-A5BB-4CF7-B907-AE4DBF6748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78D09D5A-29CC-4B32-9CE1-72E607558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6DF3A3FC-950B-40B0-923D-0F0BC1A54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BCA0F2E1-CD3D-4521-9CCB-41A5CC6C5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9BA4F16A-21DC-462A-AD37-0A93C8B79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FB75EBDD-038D-4572-A372-114938295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1" name="Rectangle 20">
            <a:extLst>
              <a:ext uri="{FF2B5EF4-FFF2-40B4-BE49-F238E27FC236}">
                <a16:creationId xmlns:a16="http://schemas.microsoft.com/office/drawing/2014/main" id="{21029ED5-F105-4DD2-99C8-1E4422817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2D621E68-BF28-4A1C-B1A2-4E55E139E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4" name="Straight Connector 23">
              <a:extLst>
                <a:ext uri="{FF2B5EF4-FFF2-40B4-BE49-F238E27FC236}">
                  <a16:creationId xmlns:a16="http://schemas.microsoft.com/office/drawing/2014/main" id="{BE8BBE4D-F0DF-49B9-B75A-99DAC53ACA7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E0F07DDC-34A6-46A1-9DE9-2BBE2931A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2CEB2BF9-B8DB-45B9-86EA-D197B5B1A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08B5BB34-3801-4E70-A981-FE007635E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38432A75-2CEB-463C-A8F2-ABB50A79F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E7E850B8-C050-4597-8BEB-113FEC9A27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24ACC798-9CEC-4B6F-A8DD-F8E6FCCCF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1D58A8C6-1294-4CD9-89BC-F1E981A5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F32F2ED6-6143-46C4-A641-72D42732B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34" name="Rectangle 33">
            <a:extLst>
              <a:ext uri="{FF2B5EF4-FFF2-40B4-BE49-F238E27FC236}">
                <a16:creationId xmlns:a16="http://schemas.microsoft.com/office/drawing/2014/main" id="{5C9652B3-A450-4ED6-8FBF-F536BA60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different types of phones&#10;&#10;Description automatically generated">
            <a:extLst>
              <a:ext uri="{FF2B5EF4-FFF2-40B4-BE49-F238E27FC236}">
                <a16:creationId xmlns:a16="http://schemas.microsoft.com/office/drawing/2014/main" id="{BEEAF6A8-FA46-0007-6E00-50385F9DD042}"/>
              </a:ext>
            </a:extLst>
          </p:cNvPr>
          <p:cNvPicPr>
            <a:picLocks noGrp="1" noChangeAspect="1"/>
          </p:cNvPicPr>
          <p:nvPr>
            <p:ph idx="1"/>
          </p:nvPr>
        </p:nvPicPr>
        <p:blipFill rotWithShape="1">
          <a:blip r:embed="rId2"/>
          <a:srcRect t="9702" r="1" b="1"/>
          <a:stretch/>
        </p:blipFill>
        <p:spPr>
          <a:xfrm>
            <a:off x="473203" y="476251"/>
            <a:ext cx="11245594" cy="5905498"/>
          </a:xfrm>
          <a:prstGeom prst="rect">
            <a:avLst/>
          </a:prstGeom>
        </p:spPr>
      </p:pic>
    </p:spTree>
    <p:extLst>
      <p:ext uri="{BB962C8B-B14F-4D97-AF65-F5344CB8AC3E}">
        <p14:creationId xmlns:p14="http://schemas.microsoft.com/office/powerpoint/2010/main" val="3228342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963C-450D-A111-2CF8-8061FE2905FA}"/>
              </a:ext>
            </a:extLst>
          </p:cNvPr>
          <p:cNvSpPr>
            <a:spLocks noGrp="1"/>
          </p:cNvSpPr>
          <p:nvPr>
            <p:ph type="title"/>
          </p:nvPr>
        </p:nvSpPr>
        <p:spPr/>
        <p:txBody>
          <a:bodyPr>
            <a:normAutofit/>
          </a:bodyPr>
          <a:lstStyle/>
          <a:p>
            <a:r>
              <a:rPr lang="en-US" sz="3000" b="1">
                <a:ea typeface="+mj-lt"/>
                <a:cs typeface="+mj-lt"/>
              </a:rPr>
              <a:t>Social Media and Advertising Ecosystem</a:t>
            </a:r>
            <a:endParaRPr lang="en-US" sz="3000"/>
          </a:p>
        </p:txBody>
      </p:sp>
      <p:sp>
        <p:nvSpPr>
          <p:cNvPr id="3" name="Content Placeholder 2">
            <a:extLst>
              <a:ext uri="{FF2B5EF4-FFF2-40B4-BE49-F238E27FC236}">
                <a16:creationId xmlns:a16="http://schemas.microsoft.com/office/drawing/2014/main" id="{6F7D8BB2-4234-5A5A-FC86-74CA1D4B69A6}"/>
              </a:ext>
            </a:extLst>
          </p:cNvPr>
          <p:cNvSpPr>
            <a:spLocks noGrp="1"/>
          </p:cNvSpPr>
          <p:nvPr>
            <p:ph idx="1"/>
          </p:nvPr>
        </p:nvSpPr>
        <p:spPr>
          <a:xfrm>
            <a:off x="677334" y="2160589"/>
            <a:ext cx="8596668" cy="4226053"/>
          </a:xfrm>
        </p:spPr>
        <p:txBody>
          <a:bodyPr vert="horz" lIns="91440" tIns="45720" rIns="91440" bIns="45720" rtlCol="0" anchor="t">
            <a:normAutofit fontScale="92500" lnSpcReduction="20000"/>
          </a:bodyPr>
          <a:lstStyle/>
          <a:p>
            <a:r>
              <a:rPr lang="en-US" sz="2600">
                <a:solidFill>
                  <a:srgbClr val="0D0D0D"/>
                </a:solidFill>
                <a:ea typeface="+mn-lt"/>
                <a:cs typeface="+mn-lt"/>
              </a:rPr>
              <a:t>Witness the evolution of government communication strategies as they adapt to the ever-changing landscape of digital platforms.</a:t>
            </a:r>
            <a:endParaRPr lang="en-US" sz="2600">
              <a:solidFill>
                <a:srgbClr val="000000"/>
              </a:solidFill>
              <a:ea typeface="+mn-lt"/>
              <a:cs typeface="+mn-lt"/>
            </a:endParaRPr>
          </a:p>
          <a:p>
            <a:pPr marL="0" indent="0">
              <a:buNone/>
            </a:pPr>
            <a:endParaRPr lang="en-US" sz="2600">
              <a:solidFill>
                <a:srgbClr val="0D0D0D"/>
              </a:solidFill>
              <a:ea typeface="+mn-lt"/>
              <a:cs typeface="+mn-lt"/>
            </a:endParaRPr>
          </a:p>
          <a:p>
            <a:r>
              <a:rPr lang="en-US" sz="2600">
                <a:solidFill>
                  <a:srgbClr val="0D0D0D"/>
                </a:solidFill>
                <a:ea typeface="+mn-lt"/>
                <a:cs typeface="+mn-lt"/>
              </a:rPr>
              <a:t>Uncover the symbiotic relationship between media businesses and third-party advertisers, aiming to capture user attention and influence behaviors.</a:t>
            </a:r>
            <a:endParaRPr lang="en-US" sz="2600">
              <a:solidFill>
                <a:srgbClr val="000000"/>
              </a:solidFill>
              <a:ea typeface="+mn-lt"/>
              <a:cs typeface="+mn-lt"/>
            </a:endParaRPr>
          </a:p>
          <a:p>
            <a:pPr marL="0" indent="0">
              <a:buNone/>
            </a:pPr>
            <a:endParaRPr lang="en-US" sz="2600">
              <a:solidFill>
                <a:srgbClr val="0D0D0D"/>
              </a:solidFill>
              <a:ea typeface="+mn-lt"/>
              <a:cs typeface="+mn-lt"/>
            </a:endParaRPr>
          </a:p>
          <a:p>
            <a:r>
              <a:rPr lang="en-US" sz="2600">
                <a:solidFill>
                  <a:srgbClr val="0D0D0D"/>
                </a:solidFill>
                <a:ea typeface="+mn-lt"/>
                <a:cs typeface="+mn-lt"/>
              </a:rPr>
              <a:t>Explore the distinct mechanisms of information control and influence facilitated by internet platforms, from paid communications to algorithmically driven content promotion.</a:t>
            </a:r>
            <a:endParaRPr lang="en-US" sz="2600">
              <a:solidFill>
                <a:srgbClr val="000000"/>
              </a:solidFill>
              <a:ea typeface="+mn-lt"/>
              <a:cs typeface="+mn-lt"/>
            </a:endParaRPr>
          </a:p>
          <a:p>
            <a:pPr marL="0" indent="0">
              <a:buNone/>
            </a:pPr>
            <a:endParaRPr lang="en-US" sz="2600"/>
          </a:p>
        </p:txBody>
      </p:sp>
    </p:spTree>
    <p:extLst>
      <p:ext uri="{BB962C8B-B14F-4D97-AF65-F5344CB8AC3E}">
        <p14:creationId xmlns:p14="http://schemas.microsoft.com/office/powerpoint/2010/main" val="905505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Isosceles Triangle 2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Shape 2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C81FE0F-3098-A67B-76AA-6BFE7C7A0370}"/>
              </a:ext>
            </a:extLst>
          </p:cNvPr>
          <p:cNvSpPr>
            <a:spLocks noGrp="1"/>
          </p:cNvSpPr>
          <p:nvPr>
            <p:ph type="title"/>
          </p:nvPr>
        </p:nvSpPr>
        <p:spPr>
          <a:xfrm>
            <a:off x="7181723" y="609600"/>
            <a:ext cx="4512989" cy="2227730"/>
          </a:xfrm>
        </p:spPr>
        <p:txBody>
          <a:bodyPr anchor="ctr">
            <a:normAutofit/>
          </a:bodyPr>
          <a:lstStyle/>
          <a:p>
            <a:r>
              <a:rPr lang="en-US" b="1">
                <a:solidFill>
                  <a:srgbClr val="FFFFFF"/>
                </a:solidFill>
                <a:ea typeface="+mj-lt"/>
                <a:cs typeface="+mj-lt"/>
              </a:rPr>
              <a:t>Targeted Advertising on Meta Platforms</a:t>
            </a:r>
            <a:endParaRPr lang="en-US">
              <a:solidFill>
                <a:srgbClr val="FFFFFF"/>
              </a:solidFill>
            </a:endParaRPr>
          </a:p>
        </p:txBody>
      </p:sp>
      <p:pic>
        <p:nvPicPr>
          <p:cNvPr id="7" name="Graphic 6" descr="Target Audience">
            <a:extLst>
              <a:ext uri="{FF2B5EF4-FFF2-40B4-BE49-F238E27FC236}">
                <a16:creationId xmlns:a16="http://schemas.microsoft.com/office/drawing/2014/main" id="{7F3C10A3-A86B-3C5C-DE0E-CBCB273483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0063" y="1640312"/>
            <a:ext cx="3572446" cy="3572446"/>
          </a:xfrm>
          <a:prstGeom prst="rect">
            <a:avLst/>
          </a:prstGeom>
        </p:spPr>
      </p:pic>
      <p:sp>
        <p:nvSpPr>
          <p:cNvPr id="3" name="Content Placeholder 2">
            <a:extLst>
              <a:ext uri="{FF2B5EF4-FFF2-40B4-BE49-F238E27FC236}">
                <a16:creationId xmlns:a16="http://schemas.microsoft.com/office/drawing/2014/main" id="{7374F5E3-DDE1-9F0C-3BC6-5BFB6227320F}"/>
              </a:ext>
            </a:extLst>
          </p:cNvPr>
          <p:cNvSpPr>
            <a:spLocks noGrp="1"/>
          </p:cNvSpPr>
          <p:nvPr>
            <p:ph idx="1"/>
          </p:nvPr>
        </p:nvSpPr>
        <p:spPr>
          <a:xfrm>
            <a:off x="6196527" y="2837862"/>
            <a:ext cx="5986341" cy="3843056"/>
          </a:xfrm>
        </p:spPr>
        <p:txBody>
          <a:bodyPr vert="horz" lIns="91440" tIns="45720" rIns="91440" bIns="45720" rtlCol="0" anchor="t">
            <a:noAutofit/>
          </a:bodyPr>
          <a:lstStyle/>
          <a:p>
            <a:pPr>
              <a:lnSpc>
                <a:spcPct val="90000"/>
              </a:lnSpc>
            </a:pPr>
            <a:r>
              <a:rPr lang="en-US" dirty="0">
                <a:solidFill>
                  <a:srgbClr val="FFFFFF"/>
                </a:solidFill>
                <a:ea typeface="+mn-lt"/>
                <a:cs typeface="+mn-lt"/>
              </a:rPr>
              <a:t>Investigate into the intricacies of advertising on Meta's properties, including Facebook and Instagram, within the context of the broader digital advertising landscape.</a:t>
            </a:r>
            <a:endParaRPr lang="en-US" dirty="0">
              <a:solidFill>
                <a:srgbClr val="FFFFFF"/>
              </a:solidFill>
            </a:endParaRPr>
          </a:p>
          <a:p>
            <a:pPr marL="0" indent="0">
              <a:lnSpc>
                <a:spcPct val="90000"/>
              </a:lnSpc>
              <a:buNone/>
            </a:pPr>
            <a:endParaRPr lang="en-US" dirty="0">
              <a:solidFill>
                <a:srgbClr val="FFFFFF"/>
              </a:solidFill>
              <a:ea typeface="+mn-lt"/>
              <a:cs typeface="+mn-lt"/>
            </a:endParaRPr>
          </a:p>
          <a:p>
            <a:pPr>
              <a:lnSpc>
                <a:spcPct val="90000"/>
              </a:lnSpc>
            </a:pPr>
            <a:r>
              <a:rPr lang="en-US" dirty="0">
                <a:solidFill>
                  <a:srgbClr val="FFFFFF"/>
                </a:solidFill>
                <a:ea typeface="+mn-lt"/>
                <a:cs typeface="+mn-lt"/>
              </a:rPr>
              <a:t>Discover the sophisticated categorization methods employed by Meta, leveraging user demographics, interests, behaviors, and real-time location data.</a:t>
            </a:r>
            <a:endParaRPr lang="en-US" dirty="0">
              <a:solidFill>
                <a:srgbClr val="FFFFFF"/>
              </a:solidFill>
            </a:endParaRPr>
          </a:p>
          <a:p>
            <a:pPr marL="0" indent="0">
              <a:lnSpc>
                <a:spcPct val="90000"/>
              </a:lnSpc>
              <a:buNone/>
            </a:pPr>
            <a:endParaRPr lang="en-US" dirty="0">
              <a:solidFill>
                <a:srgbClr val="FFFFFF"/>
              </a:solidFill>
              <a:ea typeface="+mn-lt"/>
              <a:cs typeface="+mn-lt"/>
            </a:endParaRPr>
          </a:p>
          <a:p>
            <a:pPr>
              <a:lnSpc>
                <a:spcPct val="90000"/>
              </a:lnSpc>
            </a:pPr>
            <a:r>
              <a:rPr lang="en-US" dirty="0">
                <a:solidFill>
                  <a:srgbClr val="FFFFFF"/>
                </a:solidFill>
                <a:ea typeface="+mn-lt"/>
                <a:cs typeface="+mn-lt"/>
              </a:rPr>
              <a:t>Examine the ethical and regulatory implications of data-driven targeted advertising, including concerns related to misinformation, privacy, and competition.</a:t>
            </a:r>
            <a:endParaRPr lang="en-US" dirty="0">
              <a:solidFill>
                <a:srgbClr val="FFFFFF"/>
              </a:solidFill>
            </a:endParaRPr>
          </a:p>
          <a:p>
            <a:pPr marL="0" indent="0">
              <a:lnSpc>
                <a:spcPct val="90000"/>
              </a:lnSpc>
              <a:buNone/>
            </a:pPr>
            <a:endParaRPr lang="en-US" dirty="0">
              <a:solidFill>
                <a:srgbClr val="FFFFFF"/>
              </a:solidFill>
            </a:endParaRPr>
          </a:p>
        </p:txBody>
      </p:sp>
    </p:spTree>
    <p:extLst>
      <p:ext uri="{BB962C8B-B14F-4D97-AF65-F5344CB8AC3E}">
        <p14:creationId xmlns:p14="http://schemas.microsoft.com/office/powerpoint/2010/main" val="1059719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6E448-EED5-D649-B408-C4B8D5EE9FD8}"/>
              </a:ext>
            </a:extLst>
          </p:cNvPr>
          <p:cNvSpPr>
            <a:spLocks noGrp="1"/>
          </p:cNvSpPr>
          <p:nvPr>
            <p:ph type="title"/>
          </p:nvPr>
        </p:nvSpPr>
        <p:spPr/>
        <p:txBody>
          <a:bodyPr>
            <a:normAutofit/>
          </a:bodyPr>
          <a:lstStyle/>
          <a:p>
            <a:r>
              <a:rPr lang="en-US" sz="3000" b="1">
                <a:ea typeface="+mj-lt"/>
                <a:cs typeface="+mj-lt"/>
              </a:rPr>
              <a:t>Power and Justice in Datafication</a:t>
            </a:r>
            <a:endParaRPr lang="en-US" sz="3000"/>
          </a:p>
        </p:txBody>
      </p:sp>
      <p:sp>
        <p:nvSpPr>
          <p:cNvPr id="3" name="Content Placeholder 2">
            <a:extLst>
              <a:ext uri="{FF2B5EF4-FFF2-40B4-BE49-F238E27FC236}">
                <a16:creationId xmlns:a16="http://schemas.microsoft.com/office/drawing/2014/main" id="{7033D7DB-CCB0-4F60-F316-38D638FDD5FA}"/>
              </a:ext>
            </a:extLst>
          </p:cNvPr>
          <p:cNvSpPr>
            <a:spLocks noGrp="1"/>
          </p:cNvSpPr>
          <p:nvPr>
            <p:ph idx="1"/>
          </p:nvPr>
        </p:nvSpPr>
        <p:spPr>
          <a:xfrm>
            <a:off x="677334" y="2160589"/>
            <a:ext cx="8596668" cy="4083179"/>
          </a:xfrm>
        </p:spPr>
        <p:txBody>
          <a:bodyPr vert="horz" lIns="91440" tIns="45720" rIns="91440" bIns="45720" rtlCol="0" anchor="t">
            <a:normAutofit fontScale="92500" lnSpcReduction="20000"/>
          </a:bodyPr>
          <a:lstStyle/>
          <a:p>
            <a:r>
              <a:rPr lang="en-US" sz="2600">
                <a:solidFill>
                  <a:srgbClr val="0D0D0D"/>
                </a:solidFill>
                <a:ea typeface="+mn-lt"/>
                <a:cs typeface="+mn-lt"/>
              </a:rPr>
              <a:t>Explore the profound implications of datafication on power dynamics and justice within contemporary society.</a:t>
            </a:r>
            <a:endParaRPr lang="en-US" sz="2600"/>
          </a:p>
          <a:p>
            <a:pPr marL="0" indent="0">
              <a:buNone/>
            </a:pPr>
            <a:endParaRPr lang="en-US" sz="2600">
              <a:solidFill>
                <a:srgbClr val="0D0D0D"/>
              </a:solidFill>
              <a:ea typeface="+mn-lt"/>
              <a:cs typeface="+mn-lt"/>
            </a:endParaRPr>
          </a:p>
          <a:p>
            <a:r>
              <a:rPr lang="en-US" sz="2600">
                <a:solidFill>
                  <a:srgbClr val="0D0D0D"/>
                </a:solidFill>
                <a:ea typeface="+mn-lt"/>
                <a:cs typeface="+mn-lt"/>
              </a:rPr>
              <a:t>Have a look at the role of classification processes in rendering populations visible and legible to powerful actors, enabling social sorting and risk assignment.</a:t>
            </a:r>
            <a:endParaRPr lang="en-US" sz="2600"/>
          </a:p>
          <a:p>
            <a:pPr marL="0" indent="0">
              <a:buNone/>
            </a:pPr>
            <a:endParaRPr lang="en-US" sz="2600">
              <a:solidFill>
                <a:srgbClr val="0D0D0D"/>
              </a:solidFill>
              <a:ea typeface="+mn-lt"/>
              <a:cs typeface="+mn-lt"/>
            </a:endParaRPr>
          </a:p>
          <a:p>
            <a:r>
              <a:rPr lang="en-US" sz="2600">
                <a:solidFill>
                  <a:srgbClr val="0D0D0D"/>
                </a:solidFill>
                <a:ea typeface="+mn-lt"/>
                <a:cs typeface="+mn-lt"/>
              </a:rPr>
              <a:t>Reflect on how infrastructural systems enforce particular epistemic frames and distribute power unequally, drawing parallels with Foucauldian frameworks of power assertion and categorization.</a:t>
            </a:r>
            <a:endParaRPr lang="en-US" sz="2600"/>
          </a:p>
          <a:p>
            <a:pPr marL="0" indent="0">
              <a:buNone/>
            </a:pPr>
            <a:endParaRPr lang="en-US" sz="2600"/>
          </a:p>
        </p:txBody>
      </p:sp>
    </p:spTree>
    <p:extLst>
      <p:ext uri="{BB962C8B-B14F-4D97-AF65-F5344CB8AC3E}">
        <p14:creationId xmlns:p14="http://schemas.microsoft.com/office/powerpoint/2010/main" val="1655774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099C7-03C4-BDEA-8C18-69803B4B2AFD}"/>
              </a:ext>
            </a:extLst>
          </p:cNvPr>
          <p:cNvSpPr>
            <a:spLocks noGrp="1"/>
          </p:cNvSpPr>
          <p:nvPr>
            <p:ph type="title"/>
          </p:nvPr>
        </p:nvSpPr>
        <p:spPr/>
        <p:txBody>
          <a:bodyPr>
            <a:normAutofit/>
          </a:bodyPr>
          <a:lstStyle/>
          <a:p>
            <a:r>
              <a:rPr lang="en-US" sz="3000" b="1" dirty="0">
                <a:ea typeface="+mj-lt"/>
                <a:cs typeface="+mj-lt"/>
              </a:rPr>
              <a:t>Platform Economy and State Power</a:t>
            </a:r>
            <a:endParaRPr lang="en-US" sz="3000" dirty="0"/>
          </a:p>
        </p:txBody>
      </p:sp>
      <p:sp>
        <p:nvSpPr>
          <p:cNvPr id="3" name="Content Placeholder 2">
            <a:extLst>
              <a:ext uri="{FF2B5EF4-FFF2-40B4-BE49-F238E27FC236}">
                <a16:creationId xmlns:a16="http://schemas.microsoft.com/office/drawing/2014/main" id="{5D672D27-39A3-56DA-6B2A-ABB3545C9E2C}"/>
              </a:ext>
            </a:extLst>
          </p:cNvPr>
          <p:cNvSpPr>
            <a:spLocks noGrp="1"/>
          </p:cNvSpPr>
          <p:nvPr>
            <p:ph idx="1"/>
          </p:nvPr>
        </p:nvSpPr>
        <p:spPr>
          <a:xfrm>
            <a:off x="677334" y="2160589"/>
            <a:ext cx="8596668" cy="4678490"/>
          </a:xfrm>
        </p:spPr>
        <p:txBody>
          <a:bodyPr vert="horz" lIns="91440" tIns="45720" rIns="91440" bIns="45720" rtlCol="0" anchor="t">
            <a:normAutofit fontScale="85000" lnSpcReduction="10000"/>
          </a:bodyPr>
          <a:lstStyle/>
          <a:p>
            <a:r>
              <a:rPr lang="en-US" sz="2600" dirty="0">
                <a:solidFill>
                  <a:srgbClr val="0D0D0D"/>
                </a:solidFill>
                <a:ea typeface="+mn-lt"/>
                <a:cs typeface="+mn-lt"/>
              </a:rPr>
              <a:t>Analyze the intricate relationship between platform economies and state power, focusing on the ability of platforms to delocalize power and enact their discursive visions.</a:t>
            </a:r>
            <a:endParaRPr lang="en-US" sz="2600" dirty="0"/>
          </a:p>
          <a:p>
            <a:pPr marL="0" indent="0">
              <a:buNone/>
            </a:pPr>
            <a:endParaRPr lang="en-US" sz="2600">
              <a:solidFill>
                <a:srgbClr val="0D0D0D"/>
              </a:solidFill>
              <a:ea typeface="+mn-lt"/>
              <a:cs typeface="+mn-lt"/>
            </a:endParaRPr>
          </a:p>
          <a:p>
            <a:r>
              <a:rPr lang="en-US" sz="2600" dirty="0">
                <a:solidFill>
                  <a:srgbClr val="0D0D0D"/>
                </a:solidFill>
                <a:ea typeface="+mn-lt"/>
                <a:cs typeface="+mn-lt"/>
              </a:rPr>
              <a:t>Investigate the pivotal role of platforms like Meta in shaping Internet infrastructure and controlling the passage of information and communication.</a:t>
            </a:r>
            <a:endParaRPr lang="en-US" sz="2600" dirty="0"/>
          </a:p>
          <a:p>
            <a:pPr marL="0" indent="0">
              <a:buNone/>
            </a:pPr>
            <a:endParaRPr lang="en-US" sz="2600">
              <a:solidFill>
                <a:srgbClr val="0D0D0D"/>
              </a:solidFill>
              <a:ea typeface="+mn-lt"/>
              <a:cs typeface="+mn-lt"/>
            </a:endParaRPr>
          </a:p>
          <a:p>
            <a:r>
              <a:rPr lang="en-US" sz="2600" dirty="0">
                <a:solidFill>
                  <a:srgbClr val="0D0D0D"/>
                </a:solidFill>
                <a:ea typeface="+mn-lt"/>
                <a:cs typeface="+mn-lt"/>
              </a:rPr>
              <a:t>Consider the evolving dynamics of government advertising within platform ecosystems, navigating complex regulatory landscapes and negotiating the balance between public policy objectives and commercial interests.</a:t>
            </a:r>
            <a:endParaRPr lang="en-US" sz="2600" dirty="0"/>
          </a:p>
          <a:p>
            <a:pPr marL="0" indent="0">
              <a:buNone/>
            </a:pPr>
            <a:endParaRPr lang="en-US" sz="2600"/>
          </a:p>
        </p:txBody>
      </p:sp>
    </p:spTree>
    <p:extLst>
      <p:ext uri="{BB962C8B-B14F-4D97-AF65-F5344CB8AC3E}">
        <p14:creationId xmlns:p14="http://schemas.microsoft.com/office/powerpoint/2010/main" val="3931722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EC761-938C-DC67-4407-757C7B5039C3}"/>
              </a:ext>
            </a:extLst>
          </p:cNvPr>
          <p:cNvSpPr>
            <a:spLocks noGrp="1"/>
          </p:cNvSpPr>
          <p:nvPr>
            <p:ph type="title"/>
          </p:nvPr>
        </p:nvSpPr>
        <p:spPr>
          <a:xfrm>
            <a:off x="5536734" y="609600"/>
            <a:ext cx="3737268" cy="1320800"/>
          </a:xfrm>
        </p:spPr>
        <p:txBody>
          <a:bodyPr>
            <a:normAutofit/>
          </a:bodyPr>
          <a:lstStyle/>
          <a:p>
            <a:pPr>
              <a:lnSpc>
                <a:spcPct val="90000"/>
              </a:lnSpc>
            </a:pPr>
            <a:r>
              <a:rPr lang="en-US" sz="2000" b="1">
                <a:ea typeface="+mj-lt"/>
                <a:cs typeface="+mj-lt"/>
              </a:rPr>
              <a:t>Research Questions - Exploring the Intersection of Government Communications and Digital Advertising</a:t>
            </a:r>
            <a:endParaRPr lang="en-US" sz="2000" b="1"/>
          </a:p>
        </p:txBody>
      </p:sp>
      <p:sp>
        <p:nvSpPr>
          <p:cNvPr id="3" name="Content Placeholder 2">
            <a:extLst>
              <a:ext uri="{FF2B5EF4-FFF2-40B4-BE49-F238E27FC236}">
                <a16:creationId xmlns:a16="http://schemas.microsoft.com/office/drawing/2014/main" id="{CB016F87-CAB0-68F0-2D5D-567F08D3B0F4}"/>
              </a:ext>
            </a:extLst>
          </p:cNvPr>
          <p:cNvSpPr>
            <a:spLocks noGrp="1"/>
          </p:cNvSpPr>
          <p:nvPr>
            <p:ph idx="1"/>
          </p:nvPr>
        </p:nvSpPr>
        <p:spPr>
          <a:xfrm>
            <a:off x="5209563" y="2160589"/>
            <a:ext cx="4064439" cy="3880773"/>
          </a:xfrm>
        </p:spPr>
        <p:txBody>
          <a:bodyPr vert="horz" lIns="91440" tIns="45720" rIns="91440" bIns="45720" rtlCol="0">
            <a:normAutofit/>
          </a:bodyPr>
          <a:lstStyle/>
          <a:p>
            <a:pPr>
              <a:lnSpc>
                <a:spcPct val="90000"/>
              </a:lnSpc>
            </a:pPr>
            <a:r>
              <a:rPr lang="en-US">
                <a:ea typeface="+mn-lt"/>
                <a:cs typeface="+mn-lt"/>
              </a:rPr>
              <a:t>Unveil the potential of digital advertising platforms in granting the state novel capabilities for targeted communication and influence.</a:t>
            </a:r>
            <a:endParaRPr lang="en-US"/>
          </a:p>
          <a:p>
            <a:pPr marL="0" indent="0">
              <a:lnSpc>
                <a:spcPct val="90000"/>
              </a:lnSpc>
              <a:buNone/>
            </a:pPr>
            <a:endParaRPr lang="en-US">
              <a:ea typeface="+mn-lt"/>
              <a:cs typeface="+mn-lt"/>
            </a:endParaRPr>
          </a:p>
          <a:p>
            <a:pPr>
              <a:lnSpc>
                <a:spcPct val="90000"/>
              </a:lnSpc>
            </a:pPr>
            <a:r>
              <a:rPr lang="en-US">
                <a:ea typeface="+mn-lt"/>
                <a:cs typeface="+mn-lt"/>
              </a:rPr>
              <a:t>Investigate the concept of "influence government" as an emerging mode of power within U.K. governance, blending strategic marketing practices, behaviorist government frameworks, and digital advertising infrastructures.</a:t>
            </a:r>
            <a:endParaRPr lang="en-US"/>
          </a:p>
        </p:txBody>
      </p:sp>
      <p:pic>
        <p:nvPicPr>
          <p:cNvPr id="5" name="Picture 4" descr="Sphere of mesh and nodes">
            <a:extLst>
              <a:ext uri="{FF2B5EF4-FFF2-40B4-BE49-F238E27FC236}">
                <a16:creationId xmlns:a16="http://schemas.microsoft.com/office/drawing/2014/main" id="{705ECD53-A336-1CA2-322D-5AEE20D960AE}"/>
              </a:ext>
            </a:extLst>
          </p:cNvPr>
          <p:cNvPicPr>
            <a:picLocks noChangeAspect="1"/>
          </p:cNvPicPr>
          <p:nvPr/>
        </p:nvPicPr>
        <p:blipFill rotWithShape="1">
          <a:blip r:embed="rId2"/>
          <a:srcRect l="35361" r="5641" b="3"/>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422636998"/>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CF64F6-7687-E1B8-71C6-CDF63142E20C}"/>
              </a:ext>
            </a:extLst>
          </p:cNvPr>
          <p:cNvSpPr>
            <a:spLocks noGrp="1"/>
          </p:cNvSpPr>
          <p:nvPr>
            <p:ph idx="1"/>
          </p:nvPr>
        </p:nvSpPr>
        <p:spPr>
          <a:xfrm>
            <a:off x="838200" y="587376"/>
            <a:ext cx="10515600" cy="6137273"/>
          </a:xfrm>
        </p:spPr>
        <p:txBody>
          <a:bodyPr vert="horz" lIns="91440" tIns="45720" rIns="91440" bIns="45720" rtlCol="0" anchor="t">
            <a:noAutofit/>
          </a:bodyPr>
          <a:lstStyle/>
          <a:p>
            <a:pPr marL="0" indent="0">
              <a:buNone/>
            </a:pPr>
            <a:r>
              <a:rPr lang="en-US" sz="3000" b="1">
                <a:solidFill>
                  <a:schemeClr val="accent1"/>
                </a:solidFill>
                <a:latin typeface="Aptos"/>
                <a:cs typeface="Arial"/>
              </a:rPr>
              <a:t>Pose key research questions to guide the exploration:</a:t>
            </a:r>
            <a:endParaRPr lang="en-US">
              <a:solidFill>
                <a:schemeClr val="accent1"/>
              </a:solidFill>
            </a:endParaRPr>
          </a:p>
          <a:p>
            <a:pPr marL="0" indent="0">
              <a:buNone/>
            </a:pPr>
            <a:endParaRPr lang="en-US" sz="2200">
              <a:solidFill>
                <a:srgbClr val="0D0D0D"/>
              </a:solidFill>
              <a:latin typeface="Aptos"/>
              <a:cs typeface="Arial"/>
            </a:endParaRPr>
          </a:p>
          <a:p>
            <a:pPr lvl="1"/>
            <a:r>
              <a:rPr lang="en-US" sz="2300">
                <a:solidFill>
                  <a:srgbClr val="0D0D0D"/>
                </a:solidFill>
                <a:latin typeface="Aptos"/>
                <a:cs typeface="Arial"/>
              </a:rPr>
              <a:t>To what extent are government bodies utilizing Meta advertising, and what themes do their campaigns emphasize?</a:t>
            </a:r>
          </a:p>
          <a:p>
            <a:pPr marL="457200" lvl="1" indent="0">
              <a:buNone/>
            </a:pPr>
            <a:endParaRPr lang="en-US" sz="2300">
              <a:solidFill>
                <a:srgbClr val="0D0D0D"/>
              </a:solidFill>
              <a:latin typeface="Aptos"/>
              <a:cs typeface="Arial"/>
            </a:endParaRPr>
          </a:p>
          <a:p>
            <a:pPr lvl="1"/>
            <a:r>
              <a:rPr lang="en-US" sz="2300">
                <a:solidFill>
                  <a:srgbClr val="0D0D0D"/>
                </a:solidFill>
                <a:latin typeface="Aptos"/>
                <a:cs typeface="Arial"/>
              </a:rPr>
              <a:t>How are public sector entities leveraging targeted advertising tools to reach specific segments of the population?</a:t>
            </a:r>
          </a:p>
          <a:p>
            <a:pPr lvl="1"/>
            <a:endParaRPr lang="en-US" sz="2300">
              <a:solidFill>
                <a:srgbClr val="0D0D0D"/>
              </a:solidFill>
              <a:latin typeface="Aptos"/>
              <a:cs typeface="Arial"/>
            </a:endParaRPr>
          </a:p>
          <a:p>
            <a:pPr lvl="1"/>
            <a:r>
              <a:rPr lang="en-US" sz="2300">
                <a:solidFill>
                  <a:srgbClr val="0D0D0D"/>
                </a:solidFill>
                <a:latin typeface="Aptos"/>
                <a:cs typeface="Arial"/>
              </a:rPr>
              <a:t>What modes of government power do these campaigns represent, considering both their targeting strategies and content?</a:t>
            </a:r>
          </a:p>
          <a:p>
            <a:pPr lvl="1"/>
            <a:endParaRPr lang="en-US" sz="2300">
              <a:solidFill>
                <a:srgbClr val="0D0D0D"/>
              </a:solidFill>
              <a:latin typeface="Aptos"/>
              <a:cs typeface="Arial"/>
            </a:endParaRPr>
          </a:p>
          <a:p>
            <a:pPr lvl="1"/>
            <a:r>
              <a:rPr lang="en-US" sz="2300">
                <a:solidFill>
                  <a:srgbClr val="0D0D0D"/>
                </a:solidFill>
                <a:latin typeface="Aptos"/>
                <a:cs typeface="Arial"/>
              </a:rPr>
              <a:t>How do the material features of the platform shape government actions in this space, including available categories, defaults, policies, and rationalities?</a:t>
            </a:r>
            <a:endParaRPr lang="en-US" sz="2300">
              <a:latin typeface="Aptos"/>
              <a:cs typeface="Arial"/>
            </a:endParaRPr>
          </a:p>
          <a:p>
            <a:pPr marL="0" indent="0">
              <a:buNone/>
            </a:pPr>
            <a:endParaRPr lang="en-US" sz="2600">
              <a:solidFill>
                <a:srgbClr val="0D0D0D"/>
              </a:solidFill>
              <a:latin typeface="Aptos"/>
              <a:cs typeface="Arial"/>
            </a:endParaRPr>
          </a:p>
          <a:p>
            <a:endParaRPr lang="en-US" sz="2600"/>
          </a:p>
        </p:txBody>
      </p:sp>
    </p:spTree>
    <p:extLst>
      <p:ext uri="{BB962C8B-B14F-4D97-AF65-F5344CB8AC3E}">
        <p14:creationId xmlns:p14="http://schemas.microsoft.com/office/powerpoint/2010/main" val="2733078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D0727-8FFB-ACCD-68E7-465CE7DA029B}"/>
              </a:ext>
            </a:extLst>
          </p:cNvPr>
          <p:cNvSpPr>
            <a:spLocks noGrp="1"/>
          </p:cNvSpPr>
          <p:nvPr>
            <p:ph type="title"/>
          </p:nvPr>
        </p:nvSpPr>
        <p:spPr/>
        <p:txBody>
          <a:bodyPr>
            <a:normAutofit/>
          </a:bodyPr>
          <a:lstStyle/>
          <a:p>
            <a:r>
              <a:rPr lang="en-US" sz="3000" b="1">
                <a:ea typeface="+mj-lt"/>
                <a:cs typeface="+mj-lt"/>
              </a:rPr>
              <a:t>The Meta Ad Library: Infrastructure and Methods</a:t>
            </a:r>
            <a:endParaRPr lang="en-US" sz="3000"/>
          </a:p>
        </p:txBody>
      </p:sp>
      <p:sp>
        <p:nvSpPr>
          <p:cNvPr id="3" name="Content Placeholder 2">
            <a:extLst>
              <a:ext uri="{FF2B5EF4-FFF2-40B4-BE49-F238E27FC236}">
                <a16:creationId xmlns:a16="http://schemas.microsoft.com/office/drawing/2014/main" id="{2F1A4D3D-719D-12EE-C941-5D5FDF89E901}"/>
              </a:ext>
            </a:extLst>
          </p:cNvPr>
          <p:cNvSpPr>
            <a:spLocks noGrp="1"/>
          </p:cNvSpPr>
          <p:nvPr>
            <p:ph idx="1"/>
          </p:nvPr>
        </p:nvSpPr>
        <p:spPr>
          <a:xfrm>
            <a:off x="838200" y="1718470"/>
            <a:ext cx="10515600" cy="4863305"/>
          </a:xfrm>
        </p:spPr>
        <p:txBody>
          <a:bodyPr vert="horz" lIns="91440" tIns="45720" rIns="91440" bIns="45720" rtlCol="0" anchor="t">
            <a:noAutofit/>
          </a:bodyPr>
          <a:lstStyle/>
          <a:p>
            <a:pPr marL="342900" indent="-342900"/>
            <a:r>
              <a:rPr lang="en-US" sz="2300">
                <a:solidFill>
                  <a:srgbClr val="0D0D0D"/>
                </a:solidFill>
                <a:ea typeface="+mn-lt"/>
                <a:cs typeface="+mn-lt"/>
              </a:rPr>
              <a:t>Historical context: Policy changes driven by concerns over the political impact of targeted advertising, leading to the introduction of transparency measures by major platforms like Facebook, Twitter, and Google.</a:t>
            </a:r>
            <a:endParaRPr lang="en-US" sz="2300">
              <a:solidFill>
                <a:srgbClr val="000000"/>
              </a:solidFill>
              <a:ea typeface="+mn-lt"/>
              <a:cs typeface="+mn-lt"/>
            </a:endParaRPr>
          </a:p>
          <a:p>
            <a:r>
              <a:rPr lang="en-US" sz="2300">
                <a:solidFill>
                  <a:srgbClr val="0D0D0D"/>
                </a:solidFill>
                <a:ea typeface="+mn-lt"/>
                <a:cs typeface="+mn-lt"/>
              </a:rPr>
              <a:t>Meta's response: Implementation of registration requirements for advertisers, validation of government agencies, and ongoing efforts to expand the scope of registered entities.</a:t>
            </a:r>
            <a:endParaRPr lang="en-US" sz="2300">
              <a:solidFill>
                <a:srgbClr val="000000"/>
              </a:solidFill>
              <a:ea typeface="+mn-lt"/>
              <a:cs typeface="+mn-lt"/>
            </a:endParaRPr>
          </a:p>
          <a:p>
            <a:r>
              <a:rPr lang="en-US" sz="2300">
                <a:solidFill>
                  <a:srgbClr val="0D0D0D"/>
                </a:solidFill>
                <a:ea typeface="+mn-lt"/>
                <a:cs typeface="+mn-lt"/>
              </a:rPr>
              <a:t>Use of Meta's advertising services by government bodies, encompassing messaging tools like WhatsApp, Pages, and paid advertising for citizen engagement and policy goals.</a:t>
            </a:r>
            <a:endParaRPr lang="en-US" sz="2300">
              <a:solidFill>
                <a:srgbClr val="000000"/>
              </a:solidFill>
              <a:ea typeface="+mn-lt"/>
              <a:cs typeface="+mn-lt"/>
            </a:endParaRPr>
          </a:p>
          <a:p>
            <a:r>
              <a:rPr lang="en-US" sz="2300">
                <a:solidFill>
                  <a:srgbClr val="0D0D0D"/>
                </a:solidFill>
                <a:ea typeface="+mn-lt"/>
                <a:cs typeface="+mn-lt"/>
              </a:rPr>
              <a:t>Regulatory framework governing advertising behavior, including sector-specific regulations for electoral, political, and social ads.</a:t>
            </a:r>
            <a:endParaRPr lang="en-US" sz="2300">
              <a:solidFill>
                <a:srgbClr val="000000"/>
              </a:solidFill>
              <a:ea typeface="+mn-lt"/>
              <a:cs typeface="+mn-lt"/>
            </a:endParaRPr>
          </a:p>
          <a:p>
            <a:pPr marL="0" indent="0">
              <a:buNone/>
            </a:pPr>
            <a:endParaRPr lang="en-US" sz="2300">
              <a:solidFill>
                <a:srgbClr val="000000"/>
              </a:solidFill>
              <a:ea typeface="+mn-lt"/>
              <a:cs typeface="+mn-lt"/>
            </a:endParaRPr>
          </a:p>
        </p:txBody>
      </p:sp>
    </p:spTree>
    <p:extLst>
      <p:ext uri="{BB962C8B-B14F-4D97-AF65-F5344CB8AC3E}">
        <p14:creationId xmlns:p14="http://schemas.microsoft.com/office/powerpoint/2010/main" val="384920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41748-AF66-5278-B1B2-593E17706AE0}"/>
              </a:ext>
            </a:extLst>
          </p:cNvPr>
          <p:cNvSpPr>
            <a:spLocks noGrp="1"/>
          </p:cNvSpPr>
          <p:nvPr>
            <p:ph type="title"/>
          </p:nvPr>
        </p:nvSpPr>
        <p:spPr>
          <a:xfrm>
            <a:off x="2849562" y="609600"/>
            <a:ext cx="6424440" cy="594519"/>
          </a:xfrm>
        </p:spPr>
        <p:txBody>
          <a:bodyPr>
            <a:normAutofit fontScale="90000"/>
          </a:bodyPr>
          <a:lstStyle/>
          <a:p>
            <a:r>
              <a:rPr lang="en-US" b="1">
                <a:ea typeface="+mj-lt"/>
                <a:cs typeface="+mj-lt"/>
              </a:rPr>
              <a:t>Data Analysis Method</a:t>
            </a:r>
            <a:endParaRPr lang="en-US"/>
          </a:p>
        </p:txBody>
      </p:sp>
      <p:pic>
        <p:nvPicPr>
          <p:cNvPr id="5" name="Picture 4" descr="Financial graphs on a dark display">
            <a:extLst>
              <a:ext uri="{FF2B5EF4-FFF2-40B4-BE49-F238E27FC236}">
                <a16:creationId xmlns:a16="http://schemas.microsoft.com/office/drawing/2014/main" id="{95A74AA3-1684-5776-418E-2C9369587319}"/>
              </a:ext>
            </a:extLst>
          </p:cNvPr>
          <p:cNvPicPr>
            <a:picLocks noChangeAspect="1"/>
          </p:cNvPicPr>
          <p:nvPr/>
        </p:nvPicPr>
        <p:blipFill rotWithShape="1">
          <a:blip r:embed="rId2"/>
          <a:srcRect l="38842" t="9091" r="38539" b="1"/>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9" name="Isosceles Triangle 8">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97EDBDFF-5FD3-3CDD-3093-9C016AD66C03}"/>
              </a:ext>
            </a:extLst>
          </p:cNvPr>
          <p:cNvSpPr>
            <a:spLocks noGrp="1"/>
          </p:cNvSpPr>
          <p:nvPr>
            <p:ph idx="1"/>
          </p:nvPr>
        </p:nvSpPr>
        <p:spPr>
          <a:xfrm>
            <a:off x="2849562" y="1538444"/>
            <a:ext cx="6424440" cy="4900977"/>
          </a:xfrm>
        </p:spPr>
        <p:txBody>
          <a:bodyPr vert="horz" lIns="91440" tIns="45720" rIns="91440" bIns="45720" rtlCol="0" anchor="t">
            <a:normAutofit/>
          </a:bodyPr>
          <a:lstStyle/>
          <a:p>
            <a:pPr>
              <a:lnSpc>
                <a:spcPct val="90000"/>
              </a:lnSpc>
            </a:pPr>
            <a:r>
              <a:rPr lang="en-US" sz="2000" dirty="0">
                <a:ea typeface="+mn-lt"/>
                <a:cs typeface="+mn-lt"/>
              </a:rPr>
              <a:t>Methodology Overview: Monthly sweeps from Jan to Jun 2023 curated a dataset of 15,325 adverts from 363 advertisers.</a:t>
            </a:r>
            <a:endParaRPr lang="en-US" sz="2000" dirty="0"/>
          </a:p>
          <a:p>
            <a:pPr marL="0" indent="0">
              <a:lnSpc>
                <a:spcPct val="90000"/>
              </a:lnSpc>
              <a:buNone/>
            </a:pPr>
            <a:endParaRPr lang="en-US" sz="2000" dirty="0">
              <a:ea typeface="+mn-lt"/>
              <a:cs typeface="+mn-lt"/>
            </a:endParaRPr>
          </a:p>
          <a:p>
            <a:pPr>
              <a:lnSpc>
                <a:spcPct val="90000"/>
              </a:lnSpc>
            </a:pPr>
            <a:r>
              <a:rPr lang="en-US" sz="2000" dirty="0">
                <a:ea typeface="+mn-lt"/>
                <a:cs typeface="+mn-lt"/>
              </a:rPr>
              <a:t>Analysis Approach: Qualitative analysis avoids misleading quantitative claims, utilizing case studies to compare targeting strategies.</a:t>
            </a:r>
            <a:endParaRPr lang="en-US" sz="2000" dirty="0"/>
          </a:p>
          <a:p>
            <a:pPr marL="0" indent="0">
              <a:lnSpc>
                <a:spcPct val="90000"/>
              </a:lnSpc>
              <a:buNone/>
            </a:pPr>
            <a:endParaRPr lang="en-US" sz="2000" dirty="0">
              <a:ea typeface="+mn-lt"/>
              <a:cs typeface="+mn-lt"/>
            </a:endParaRPr>
          </a:p>
          <a:p>
            <a:pPr>
              <a:lnSpc>
                <a:spcPct val="90000"/>
              </a:lnSpc>
            </a:pPr>
            <a:r>
              <a:rPr lang="en-US" sz="2000" dirty="0">
                <a:ea typeface="+mn-lt"/>
                <a:cs typeface="+mn-lt"/>
              </a:rPr>
              <a:t>Variable Collection: Administrative, audience, and targeting data variables inform the analysis.</a:t>
            </a:r>
            <a:endParaRPr lang="en-US" sz="2000" dirty="0"/>
          </a:p>
          <a:p>
            <a:pPr marL="0" indent="0">
              <a:lnSpc>
                <a:spcPct val="90000"/>
              </a:lnSpc>
              <a:buNone/>
            </a:pPr>
            <a:endParaRPr lang="en-US" sz="2000" dirty="0">
              <a:ea typeface="+mn-lt"/>
              <a:cs typeface="+mn-lt"/>
            </a:endParaRPr>
          </a:p>
          <a:p>
            <a:pPr>
              <a:lnSpc>
                <a:spcPct val="90000"/>
              </a:lnSpc>
            </a:pPr>
            <a:r>
              <a:rPr lang="en-US" sz="2000" dirty="0">
                <a:ea typeface="+mn-lt"/>
                <a:cs typeface="+mn-lt"/>
              </a:rPr>
              <a:t>Team Collaboration: Interdisciplinary collaboration ensures thorough data processing and qualitative examination.</a:t>
            </a:r>
            <a:endParaRPr lang="en-US" sz="2000" dirty="0"/>
          </a:p>
          <a:p>
            <a:pPr marL="0" indent="0">
              <a:lnSpc>
                <a:spcPct val="90000"/>
              </a:lnSpc>
              <a:buNone/>
            </a:pPr>
            <a:endParaRPr lang="en-US" sz="2000" dirty="0"/>
          </a:p>
        </p:txBody>
      </p:sp>
    </p:spTree>
    <p:extLst>
      <p:ext uri="{BB962C8B-B14F-4D97-AF65-F5344CB8AC3E}">
        <p14:creationId xmlns:p14="http://schemas.microsoft.com/office/powerpoint/2010/main" val="2609451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4137FD34-7C3B-4FCA-4975-863E4203D904}"/>
              </a:ext>
            </a:extLst>
          </p:cNvPr>
          <p:cNvPicPr>
            <a:picLocks noChangeAspect="1"/>
          </p:cNvPicPr>
          <p:nvPr/>
        </p:nvPicPr>
        <p:blipFill rotWithShape="1">
          <a:blip r:embed="rId2">
            <a:duotone>
              <a:prstClr val="black"/>
              <a:schemeClr val="tx2">
                <a:tint val="45000"/>
                <a:satMod val="400000"/>
              </a:schemeClr>
            </a:duotone>
            <a:alphaModFix amt="40000"/>
          </a:blip>
          <a:srcRect t="7865" b="7865"/>
          <a:stretch/>
        </p:blipFill>
        <p:spPr>
          <a:xfrm>
            <a:off x="20" y="10"/>
            <a:ext cx="12191980" cy="6857990"/>
          </a:xfrm>
          <a:prstGeom prst="rect">
            <a:avLst/>
          </a:prstGeom>
        </p:spPr>
      </p:pic>
      <p:sp>
        <p:nvSpPr>
          <p:cNvPr id="2" name="Title 1">
            <a:extLst>
              <a:ext uri="{FF2B5EF4-FFF2-40B4-BE49-F238E27FC236}">
                <a16:creationId xmlns:a16="http://schemas.microsoft.com/office/drawing/2014/main" id="{C7A19F64-7C04-2D38-DAA3-3D3EA1E25DA0}"/>
              </a:ext>
            </a:extLst>
          </p:cNvPr>
          <p:cNvSpPr>
            <a:spLocks noGrp="1"/>
          </p:cNvSpPr>
          <p:nvPr>
            <p:ph type="title"/>
          </p:nvPr>
        </p:nvSpPr>
        <p:spPr>
          <a:xfrm>
            <a:off x="677334" y="609600"/>
            <a:ext cx="8596668" cy="1320800"/>
          </a:xfrm>
        </p:spPr>
        <p:txBody>
          <a:bodyPr>
            <a:normAutofit/>
          </a:bodyPr>
          <a:lstStyle/>
          <a:p>
            <a:r>
              <a:rPr lang="en-US" b="1"/>
              <a:t>Insights from Meta Dataset</a:t>
            </a:r>
          </a:p>
        </p:txBody>
      </p:sp>
      <p:sp>
        <p:nvSpPr>
          <p:cNvPr id="3" name="Content Placeholder 2">
            <a:extLst>
              <a:ext uri="{FF2B5EF4-FFF2-40B4-BE49-F238E27FC236}">
                <a16:creationId xmlns:a16="http://schemas.microsoft.com/office/drawing/2014/main" id="{6FFB7723-3D18-115A-572C-9C977DF8B666}"/>
              </a:ext>
            </a:extLst>
          </p:cNvPr>
          <p:cNvSpPr>
            <a:spLocks noGrp="1"/>
          </p:cNvSpPr>
          <p:nvPr>
            <p:ph idx="1"/>
          </p:nvPr>
        </p:nvSpPr>
        <p:spPr>
          <a:xfrm>
            <a:off x="558272" y="2041527"/>
            <a:ext cx="8715730" cy="4154616"/>
          </a:xfrm>
        </p:spPr>
        <p:txBody>
          <a:bodyPr vert="horz" lIns="91440" tIns="45720" rIns="91440" bIns="45720" rtlCol="0" anchor="t">
            <a:normAutofit lnSpcReduction="10000"/>
          </a:bodyPr>
          <a:lstStyle/>
          <a:p>
            <a:pPr marL="0" indent="0">
              <a:spcBef>
                <a:spcPct val="0"/>
              </a:spcBef>
              <a:buNone/>
            </a:pPr>
            <a:r>
              <a:rPr lang="en-US" sz="2000" b="1" dirty="0">
                <a:solidFill>
                  <a:srgbClr val="FFFFFF"/>
                </a:solidFill>
                <a:latin typeface="Arial"/>
                <a:cs typeface="Arial"/>
              </a:rPr>
              <a:t>Overview:</a:t>
            </a:r>
          </a:p>
          <a:p>
            <a:pPr marL="342900" lvl="1" indent="-342900">
              <a:spcBef>
                <a:spcPts val="0"/>
              </a:spcBef>
            </a:pPr>
            <a:r>
              <a:rPr lang="en-US" sz="1800" dirty="0">
                <a:solidFill>
                  <a:srgbClr val="FFFFFF"/>
                </a:solidFill>
                <a:latin typeface="Arial"/>
                <a:cs typeface="Arial"/>
              </a:rPr>
              <a:t>Analysis of 15,325 UK government adverts over 2 years from diverse entities.</a:t>
            </a:r>
          </a:p>
          <a:p>
            <a:pPr marL="285750" lvl="1" indent="-285750">
              <a:spcBef>
                <a:spcPts val="0"/>
              </a:spcBef>
            </a:pPr>
            <a:r>
              <a:rPr lang="en-US" sz="1800" dirty="0">
                <a:solidFill>
                  <a:srgbClr val="FFFFFF"/>
                </a:solidFill>
                <a:latin typeface="Arial"/>
                <a:cs typeface="Arial"/>
              </a:rPr>
              <a:t>Variety of strategies observed, from traditional to sophisticated digital targeting.</a:t>
            </a:r>
          </a:p>
          <a:p>
            <a:pPr marL="0" lvl="1" indent="0">
              <a:spcBef>
                <a:spcPts val="0"/>
              </a:spcBef>
              <a:buNone/>
            </a:pPr>
            <a:endParaRPr lang="en-US">
              <a:solidFill>
                <a:srgbClr val="FFFFFF"/>
              </a:solidFill>
              <a:latin typeface="Arial"/>
              <a:cs typeface="Arial"/>
            </a:endParaRPr>
          </a:p>
          <a:p>
            <a:pPr marL="0" indent="0">
              <a:spcBef>
                <a:spcPct val="0"/>
              </a:spcBef>
              <a:buNone/>
            </a:pPr>
            <a:r>
              <a:rPr lang="en-US" sz="2000" b="1" dirty="0">
                <a:solidFill>
                  <a:srgbClr val="FFFFFF"/>
                </a:solidFill>
                <a:latin typeface="Arial"/>
                <a:cs typeface="Arial"/>
              </a:rPr>
              <a:t>Communication Goals:</a:t>
            </a:r>
          </a:p>
          <a:p>
            <a:pPr marL="342900" lvl="1" indent="-342900">
              <a:spcBef>
                <a:spcPts val="0"/>
              </a:spcBef>
            </a:pPr>
            <a:r>
              <a:rPr lang="en-US" sz="1800" dirty="0">
                <a:solidFill>
                  <a:srgbClr val="FFFFFF"/>
                </a:solidFill>
                <a:latin typeface="Arial"/>
                <a:cs typeface="Arial"/>
              </a:rPr>
              <a:t>Goals include information transmission, propaganda, information gathering, narrative shaping, behavior change, and territory enforcement.</a:t>
            </a:r>
          </a:p>
          <a:p>
            <a:pPr marL="0" lvl="1" indent="0">
              <a:spcBef>
                <a:spcPts val="0"/>
              </a:spcBef>
              <a:buNone/>
            </a:pPr>
            <a:endParaRPr lang="en-US">
              <a:solidFill>
                <a:srgbClr val="FFFFFF"/>
              </a:solidFill>
              <a:latin typeface="Arial"/>
              <a:cs typeface="Arial"/>
            </a:endParaRPr>
          </a:p>
          <a:p>
            <a:pPr marL="0" indent="0">
              <a:spcBef>
                <a:spcPct val="0"/>
              </a:spcBef>
              <a:buNone/>
            </a:pPr>
            <a:r>
              <a:rPr lang="en-US" sz="2000" b="1" dirty="0">
                <a:solidFill>
                  <a:srgbClr val="FFFFFF"/>
                </a:solidFill>
                <a:latin typeface="Arial"/>
                <a:cs typeface="Arial"/>
              </a:rPr>
              <a:t>Topic Diversity:</a:t>
            </a:r>
          </a:p>
          <a:p>
            <a:pPr marL="342900" lvl="1" indent="-342900">
              <a:spcBef>
                <a:spcPts val="0"/>
              </a:spcBef>
            </a:pPr>
            <a:r>
              <a:rPr lang="en-US" sz="1800" dirty="0">
                <a:solidFill>
                  <a:srgbClr val="FFFFFF"/>
                </a:solidFill>
                <a:latin typeface="Arial"/>
                <a:cs typeface="Arial"/>
              </a:rPr>
              <a:t>Wide range of topics covered, with concentrations in health, law enforcement, and online safety.</a:t>
            </a:r>
          </a:p>
          <a:p>
            <a:pPr marL="0" lvl="1" indent="0">
              <a:spcBef>
                <a:spcPts val="0"/>
              </a:spcBef>
              <a:buNone/>
            </a:pPr>
            <a:endParaRPr lang="en-US">
              <a:solidFill>
                <a:srgbClr val="FFFFFF"/>
              </a:solidFill>
              <a:latin typeface="Arial"/>
              <a:cs typeface="Arial"/>
            </a:endParaRPr>
          </a:p>
          <a:p>
            <a:pPr marL="0" indent="0">
              <a:spcBef>
                <a:spcPct val="0"/>
              </a:spcBef>
              <a:buNone/>
            </a:pPr>
            <a:r>
              <a:rPr lang="en-US" sz="2000" b="1" dirty="0">
                <a:solidFill>
                  <a:srgbClr val="FFFFFF"/>
                </a:solidFill>
                <a:latin typeface="Arial"/>
                <a:cs typeface="Arial"/>
              </a:rPr>
              <a:t>Strategic Priorities:</a:t>
            </a:r>
          </a:p>
          <a:p>
            <a:pPr marL="342900" lvl="1" indent="-342900">
              <a:spcBef>
                <a:spcPts val="0"/>
              </a:spcBef>
            </a:pPr>
            <a:r>
              <a:rPr lang="en-US" sz="1800" dirty="0">
                <a:solidFill>
                  <a:srgbClr val="FFFFFF"/>
                </a:solidFill>
                <a:latin typeface="Arial"/>
                <a:cs typeface="Arial"/>
              </a:rPr>
              <a:t>Campaigns align with strategic priorities, leveraging digital platforms for targeted interventions.</a:t>
            </a:r>
          </a:p>
          <a:p>
            <a:endParaRPr lang="en-US">
              <a:solidFill>
                <a:srgbClr val="FFFFFF"/>
              </a:solidFill>
              <a:latin typeface="Aptos" panose="020B0004020202020204"/>
              <a:cs typeface="Segoe UI"/>
            </a:endParaRPr>
          </a:p>
        </p:txBody>
      </p:sp>
    </p:spTree>
    <p:extLst>
      <p:ext uri="{BB962C8B-B14F-4D97-AF65-F5344CB8AC3E}">
        <p14:creationId xmlns:p14="http://schemas.microsoft.com/office/powerpoint/2010/main" val="4260451025"/>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83FFE-8250-97FE-31D1-9BBF3DF44DB4}"/>
              </a:ext>
            </a:extLst>
          </p:cNvPr>
          <p:cNvSpPr>
            <a:spLocks noGrp="1"/>
          </p:cNvSpPr>
          <p:nvPr>
            <p:ph type="title"/>
          </p:nvPr>
        </p:nvSpPr>
        <p:spPr>
          <a:xfrm>
            <a:off x="677334" y="609600"/>
            <a:ext cx="8596668" cy="665957"/>
          </a:xfrm>
        </p:spPr>
        <p:txBody>
          <a:bodyPr>
            <a:normAutofit/>
          </a:bodyPr>
          <a:lstStyle/>
          <a:p>
            <a:r>
              <a:rPr lang="en-US" sz="3000" b="1">
                <a:ea typeface="+mj-lt"/>
                <a:cs typeface="+mj-lt"/>
              </a:rPr>
              <a:t>Six Main Targeting Approaches</a:t>
            </a:r>
            <a:endParaRPr lang="en-US" sz="3000" b="1"/>
          </a:p>
        </p:txBody>
      </p:sp>
      <p:sp>
        <p:nvSpPr>
          <p:cNvPr id="3" name="Content Placeholder 2">
            <a:extLst>
              <a:ext uri="{FF2B5EF4-FFF2-40B4-BE49-F238E27FC236}">
                <a16:creationId xmlns:a16="http://schemas.microsoft.com/office/drawing/2014/main" id="{70165985-8681-311D-6D09-ED00CC440F17}"/>
              </a:ext>
            </a:extLst>
          </p:cNvPr>
          <p:cNvSpPr>
            <a:spLocks noGrp="1"/>
          </p:cNvSpPr>
          <p:nvPr>
            <p:ph idx="1"/>
          </p:nvPr>
        </p:nvSpPr>
        <p:spPr>
          <a:xfrm>
            <a:off x="677334" y="1446214"/>
            <a:ext cx="8596668" cy="5249991"/>
          </a:xfrm>
        </p:spPr>
        <p:txBody>
          <a:bodyPr vert="horz" lIns="91440" tIns="45720" rIns="91440" bIns="45720" rtlCol="0" anchor="t">
            <a:normAutofit lnSpcReduction="10000"/>
          </a:bodyPr>
          <a:lstStyle/>
          <a:p>
            <a:r>
              <a:rPr lang="en-US" sz="2400" b="1">
                <a:ea typeface="+mn-lt"/>
                <a:cs typeface="+mn-lt"/>
              </a:rPr>
              <a:t>Demographic Targeting</a:t>
            </a:r>
            <a:r>
              <a:rPr lang="en-US" sz="2400">
                <a:solidFill>
                  <a:srgbClr val="0D0D0D"/>
                </a:solidFill>
                <a:ea typeface="+mn-lt"/>
                <a:cs typeface="+mn-lt"/>
              </a:rPr>
              <a:t>: Utilizes age and gender segmentation for broad national campaigns.</a:t>
            </a:r>
            <a:endParaRPr lang="en-US" sz="2400"/>
          </a:p>
          <a:p>
            <a:r>
              <a:rPr lang="en-US" sz="2400" b="1">
                <a:ea typeface="+mn-lt"/>
                <a:cs typeface="+mn-lt"/>
              </a:rPr>
              <a:t>Location-Based Targeting</a:t>
            </a:r>
            <a:r>
              <a:rPr lang="en-US" sz="2400">
                <a:solidFill>
                  <a:srgbClr val="0D0D0D"/>
                </a:solidFill>
                <a:ea typeface="+mn-lt"/>
                <a:cs typeface="+mn-lt"/>
              </a:rPr>
              <a:t>: Segments audiences by geographic areas, such as cities or postcode districts.</a:t>
            </a:r>
            <a:endParaRPr lang="en-US" sz="2400"/>
          </a:p>
          <a:p>
            <a:r>
              <a:rPr lang="en-US" sz="2400" b="1">
                <a:ea typeface="+mn-lt"/>
                <a:cs typeface="+mn-lt"/>
              </a:rPr>
              <a:t>Basic Interest-Based Targeting</a:t>
            </a:r>
            <a:r>
              <a:rPr lang="en-US" sz="2400">
                <a:solidFill>
                  <a:srgbClr val="0D0D0D"/>
                </a:solidFill>
                <a:ea typeface="+mn-lt"/>
                <a:cs typeface="+mn-lt"/>
              </a:rPr>
              <a:t>: Targets specific demographic communities, like parents or the unemployed, using interest categories.</a:t>
            </a:r>
            <a:endParaRPr lang="en-US" sz="2400"/>
          </a:p>
          <a:p>
            <a:r>
              <a:rPr lang="en-US" sz="2400" b="1">
                <a:ea typeface="+mn-lt"/>
                <a:cs typeface="+mn-lt"/>
              </a:rPr>
              <a:t>Patchwork Profiles - Interests and Behaviors</a:t>
            </a:r>
            <a:r>
              <a:rPr lang="en-US" sz="2400">
                <a:solidFill>
                  <a:srgbClr val="0D0D0D"/>
                </a:solidFill>
                <a:ea typeface="+mn-lt"/>
                <a:cs typeface="+mn-lt"/>
              </a:rPr>
              <a:t>: Combines interest sub-categories to create complex profiles when direct sensitive category targeting is disallowed.</a:t>
            </a:r>
            <a:endParaRPr lang="en-US" sz="2400"/>
          </a:p>
          <a:p>
            <a:r>
              <a:rPr lang="en-US" sz="2400" b="1">
                <a:ea typeface="+mn-lt"/>
                <a:cs typeface="+mn-lt"/>
              </a:rPr>
              <a:t>Patchwork Profiles - Locations</a:t>
            </a:r>
            <a:r>
              <a:rPr lang="en-US" sz="2400">
                <a:solidFill>
                  <a:srgbClr val="0D0D0D"/>
                </a:solidFill>
                <a:ea typeface="+mn-lt"/>
                <a:cs typeface="+mn-lt"/>
              </a:rPr>
              <a:t>: Uses location data, like postcode, to approximate protected categories such as ethnicity.</a:t>
            </a:r>
            <a:endParaRPr lang="en-US" sz="2400"/>
          </a:p>
          <a:p>
            <a:pPr marL="0" indent="0">
              <a:buNone/>
            </a:pPr>
            <a:endParaRPr lang="en-US" sz="2400"/>
          </a:p>
        </p:txBody>
      </p:sp>
    </p:spTree>
    <p:extLst>
      <p:ext uri="{BB962C8B-B14F-4D97-AF65-F5344CB8AC3E}">
        <p14:creationId xmlns:p14="http://schemas.microsoft.com/office/powerpoint/2010/main" val="3550545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C5C5C-879B-0F71-942E-8F8B12FB2FFC}"/>
              </a:ext>
            </a:extLst>
          </p:cNvPr>
          <p:cNvSpPr>
            <a:spLocks noGrp="1"/>
          </p:cNvSpPr>
          <p:nvPr>
            <p:ph type="title"/>
          </p:nvPr>
        </p:nvSpPr>
        <p:spPr/>
        <p:txBody>
          <a:bodyPr/>
          <a:lstStyle/>
          <a:p>
            <a:r>
              <a:rPr lang="en-US" sz="3000" b="1"/>
              <a:t>Some examples of targeting</a:t>
            </a:r>
          </a:p>
        </p:txBody>
      </p:sp>
      <p:sp>
        <p:nvSpPr>
          <p:cNvPr id="3" name="Content Placeholder 2">
            <a:extLst>
              <a:ext uri="{FF2B5EF4-FFF2-40B4-BE49-F238E27FC236}">
                <a16:creationId xmlns:a16="http://schemas.microsoft.com/office/drawing/2014/main" id="{C07EEFE9-9516-A22C-6344-5F89DCC9F6CA}"/>
              </a:ext>
            </a:extLst>
          </p:cNvPr>
          <p:cNvSpPr>
            <a:spLocks noGrp="1"/>
          </p:cNvSpPr>
          <p:nvPr>
            <p:ph idx="1"/>
          </p:nvPr>
        </p:nvSpPr>
        <p:spPr/>
        <p:txBody>
          <a:bodyPr vert="horz" lIns="91440" tIns="45720" rIns="91440" bIns="45720" rtlCol="0" anchor="t">
            <a:normAutofit/>
          </a:bodyPr>
          <a:lstStyle/>
          <a:p>
            <a:r>
              <a:rPr lang="en-US" sz="2400" b="1">
                <a:ea typeface="+mn-lt"/>
                <a:cs typeface="+mn-lt"/>
              </a:rPr>
              <a:t>Demographic Targeting</a:t>
            </a:r>
            <a:r>
              <a:rPr lang="en-US" sz="2400">
                <a:solidFill>
                  <a:srgbClr val="0D0D0D"/>
                </a:solidFill>
                <a:ea typeface="+mn-lt"/>
                <a:cs typeface="+mn-lt"/>
              </a:rPr>
              <a:t>: Campaign targeting young adult men in England and Wales for Violence Against Women and Girls.</a:t>
            </a:r>
            <a:endParaRPr lang="en-US" sz="2400"/>
          </a:p>
          <a:p>
            <a:pPr marL="0" indent="0">
              <a:buNone/>
            </a:pPr>
            <a:endParaRPr lang="en-US" sz="2400">
              <a:solidFill>
                <a:srgbClr val="0D0D0D"/>
              </a:solidFill>
              <a:ea typeface="+mn-lt"/>
              <a:cs typeface="+mn-lt"/>
            </a:endParaRPr>
          </a:p>
          <a:p>
            <a:r>
              <a:rPr lang="en-US" sz="2400" b="1">
                <a:ea typeface="+mn-lt"/>
                <a:cs typeface="+mn-lt"/>
              </a:rPr>
              <a:t>Location-Based Targeting</a:t>
            </a:r>
            <a:r>
              <a:rPr lang="en-US" sz="2400">
                <a:solidFill>
                  <a:srgbClr val="0D0D0D"/>
                </a:solidFill>
                <a:ea typeface="+mn-lt"/>
                <a:cs typeface="+mn-lt"/>
              </a:rPr>
              <a:t>: Heat banks campaign in Manchester targeting elderly people in specific areas.</a:t>
            </a:r>
            <a:endParaRPr lang="en-US" sz="2400"/>
          </a:p>
          <a:p>
            <a:pPr marL="0" indent="0">
              <a:buNone/>
            </a:pPr>
            <a:endParaRPr lang="en-US" sz="2400">
              <a:solidFill>
                <a:srgbClr val="0D0D0D"/>
              </a:solidFill>
              <a:ea typeface="+mn-lt"/>
              <a:cs typeface="+mn-lt"/>
            </a:endParaRPr>
          </a:p>
          <a:p>
            <a:r>
              <a:rPr lang="en-US" sz="2400" b="1">
                <a:ea typeface="+mn-lt"/>
                <a:cs typeface="+mn-lt"/>
              </a:rPr>
              <a:t>Interest-Based Targeting</a:t>
            </a:r>
            <a:r>
              <a:rPr lang="en-US" sz="2400">
                <a:solidFill>
                  <a:srgbClr val="0D0D0D"/>
                </a:solidFill>
                <a:ea typeface="+mn-lt"/>
                <a:cs typeface="+mn-lt"/>
              </a:rPr>
              <a:t>: Campaign encouraging complaints about sub-standard social housing targeted at parents who are unemployed.</a:t>
            </a:r>
            <a:endParaRPr lang="en-US" sz="2400"/>
          </a:p>
          <a:p>
            <a:endParaRPr lang="en-US" sz="2400"/>
          </a:p>
        </p:txBody>
      </p:sp>
    </p:spTree>
    <p:extLst>
      <p:ext uri="{BB962C8B-B14F-4D97-AF65-F5344CB8AC3E}">
        <p14:creationId xmlns:p14="http://schemas.microsoft.com/office/powerpoint/2010/main" val="1672131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DE8DE2B-61C1-46D5-BEB8-521321C182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E012C92A-B902-4B69-BDCF-CCA3021FCB4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2BDBC14-42A0-4182-BFBA-0751F6350C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902DC474-5BCC-4188-ACDC-AD63E6B18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7B427019-8592-4032-931B-4F27104C9D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1D6E2CEA-A5BB-4CF7-B907-AE4DBF6748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78D09D5A-29CC-4B32-9CE1-72E607558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6DF3A3FC-950B-40B0-923D-0F0BC1A54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BCA0F2E1-CD3D-4521-9CCB-41A5CC6C5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9BA4F16A-21DC-462A-AD37-0A93C8B79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FB75EBDD-038D-4572-A372-114938295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1" name="Rectangle 20">
            <a:extLst>
              <a:ext uri="{FF2B5EF4-FFF2-40B4-BE49-F238E27FC236}">
                <a16:creationId xmlns:a16="http://schemas.microsoft.com/office/drawing/2014/main" id="{21029ED5-F105-4DD2-99C8-1E4422817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2D621E68-BF28-4A1C-B1A2-4E55E139E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4" name="Straight Connector 23">
              <a:extLst>
                <a:ext uri="{FF2B5EF4-FFF2-40B4-BE49-F238E27FC236}">
                  <a16:creationId xmlns:a16="http://schemas.microsoft.com/office/drawing/2014/main" id="{BE8BBE4D-F0DF-49B9-B75A-99DAC53ACA7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E0F07DDC-34A6-46A1-9DE9-2BBE2931A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2CEB2BF9-B8DB-45B9-86EA-D197B5B1A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a:extLst>
                <a:ext uri="{FF2B5EF4-FFF2-40B4-BE49-F238E27FC236}">
                  <a16:creationId xmlns:a16="http://schemas.microsoft.com/office/drawing/2014/main" id="{08B5BB34-3801-4E70-A981-FE007635E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38432A75-2CEB-463C-A8F2-ABB50A79F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E7E850B8-C050-4597-8BEB-113FEC9A27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24ACC798-9CEC-4B6F-A8DD-F8E6FCCCF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1D58A8C6-1294-4CD9-89BC-F1E981A5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Isosceles Triangle 31">
              <a:extLst>
                <a:ext uri="{FF2B5EF4-FFF2-40B4-BE49-F238E27FC236}">
                  <a16:creationId xmlns:a16="http://schemas.microsoft.com/office/drawing/2014/main" id="{F32F2ED6-6143-46C4-A641-72D42732B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34" name="Rectangle 33">
            <a:extLst>
              <a:ext uri="{FF2B5EF4-FFF2-40B4-BE49-F238E27FC236}">
                <a16:creationId xmlns:a16="http://schemas.microsoft.com/office/drawing/2014/main" id="{5C9652B3-A450-4ED6-8FBF-F536BA60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screenshot of a phone&#10;&#10;Description automatically generated">
            <a:extLst>
              <a:ext uri="{FF2B5EF4-FFF2-40B4-BE49-F238E27FC236}">
                <a16:creationId xmlns:a16="http://schemas.microsoft.com/office/drawing/2014/main" id="{8BBE83F6-C496-BBA7-AB25-6AB95C3FAB0C}"/>
              </a:ext>
            </a:extLst>
          </p:cNvPr>
          <p:cNvPicPr>
            <a:picLocks noGrp="1" noChangeAspect="1"/>
          </p:cNvPicPr>
          <p:nvPr>
            <p:ph idx="1"/>
          </p:nvPr>
        </p:nvPicPr>
        <p:blipFill>
          <a:blip r:embed="rId2"/>
          <a:stretch>
            <a:fillRect/>
          </a:stretch>
        </p:blipFill>
        <p:spPr>
          <a:xfrm>
            <a:off x="475106" y="479094"/>
            <a:ext cx="11239498" cy="5898355"/>
          </a:xfrm>
        </p:spPr>
      </p:pic>
    </p:spTree>
    <p:extLst>
      <p:ext uri="{BB962C8B-B14F-4D97-AF65-F5344CB8AC3E}">
        <p14:creationId xmlns:p14="http://schemas.microsoft.com/office/powerpoint/2010/main" val="1381350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FC8F1-068C-D2BB-0950-F773DCBD3432}"/>
              </a:ext>
            </a:extLst>
          </p:cNvPr>
          <p:cNvSpPr>
            <a:spLocks noGrp="1"/>
          </p:cNvSpPr>
          <p:nvPr>
            <p:ph type="title"/>
          </p:nvPr>
        </p:nvSpPr>
        <p:spPr>
          <a:xfrm>
            <a:off x="5536734" y="609600"/>
            <a:ext cx="3737268" cy="1320800"/>
          </a:xfrm>
        </p:spPr>
        <p:txBody>
          <a:bodyPr>
            <a:normAutofit/>
          </a:bodyPr>
          <a:lstStyle/>
          <a:p>
            <a:pPr>
              <a:lnSpc>
                <a:spcPct val="90000"/>
              </a:lnSpc>
            </a:pPr>
            <a:r>
              <a:rPr lang="en-US" sz="2800" b="1">
                <a:ea typeface="+mj-lt"/>
                <a:cs typeface="+mj-lt"/>
              </a:rPr>
              <a:t>(Re)constructing Muslim Communities through Meta</a:t>
            </a:r>
            <a:endParaRPr lang="en-US" sz="2800"/>
          </a:p>
        </p:txBody>
      </p:sp>
      <p:sp>
        <p:nvSpPr>
          <p:cNvPr id="3" name="Content Placeholder 2">
            <a:extLst>
              <a:ext uri="{FF2B5EF4-FFF2-40B4-BE49-F238E27FC236}">
                <a16:creationId xmlns:a16="http://schemas.microsoft.com/office/drawing/2014/main" id="{CD02A243-545E-265F-BCD6-788BBDCE9878}"/>
              </a:ext>
            </a:extLst>
          </p:cNvPr>
          <p:cNvSpPr>
            <a:spLocks noGrp="1"/>
          </p:cNvSpPr>
          <p:nvPr>
            <p:ph idx="1"/>
          </p:nvPr>
        </p:nvSpPr>
        <p:spPr>
          <a:xfrm>
            <a:off x="5209563" y="2160589"/>
            <a:ext cx="4064439" cy="3880773"/>
          </a:xfrm>
        </p:spPr>
        <p:txBody>
          <a:bodyPr vert="horz" lIns="91440" tIns="45720" rIns="91440" bIns="45720" rtlCol="0">
            <a:normAutofit/>
          </a:bodyPr>
          <a:lstStyle/>
          <a:p>
            <a:pPr marL="342900" indent="-342900">
              <a:lnSpc>
                <a:spcPct val="90000"/>
              </a:lnSpc>
            </a:pPr>
            <a:r>
              <a:rPr lang="en-US" sz="1500" b="1">
                <a:ea typeface="+mn-lt"/>
                <a:cs typeface="+mn-lt"/>
              </a:rPr>
              <a:t>Objective</a:t>
            </a:r>
            <a:r>
              <a:rPr lang="en-US" sz="1500">
                <a:ea typeface="+mn-lt"/>
                <a:cs typeface="+mn-lt"/>
              </a:rPr>
              <a:t>: Examine how the state reconstructs social groups, like Muslim communities, despite Meta's policy against direct religious targeting.</a:t>
            </a:r>
          </a:p>
          <a:p>
            <a:pPr marL="342900" indent="-342900">
              <a:lnSpc>
                <a:spcPct val="90000"/>
              </a:lnSpc>
            </a:pPr>
            <a:r>
              <a:rPr lang="en-US" sz="1500" b="1">
                <a:ea typeface="+mn-lt"/>
                <a:cs typeface="+mn-lt"/>
              </a:rPr>
              <a:t>Comparison of Targeting Profiles</a:t>
            </a:r>
            <a:r>
              <a:rPr lang="en-US" sz="1500">
                <a:ea typeface="+mn-lt"/>
                <a:cs typeface="+mn-lt"/>
              </a:rPr>
              <a:t>:</a:t>
            </a:r>
            <a:endParaRPr lang="en-US" sz="1500"/>
          </a:p>
          <a:p>
            <a:pPr lvl="2">
              <a:lnSpc>
                <a:spcPct val="90000"/>
              </a:lnSpc>
            </a:pPr>
            <a:r>
              <a:rPr lang="en-US" sz="1500" b="1">
                <a:ea typeface="+mn-lt"/>
                <a:cs typeface="+mn-lt"/>
              </a:rPr>
              <a:t>U.K. vs. Scottish Government</a:t>
            </a:r>
            <a:r>
              <a:rPr lang="en-US" sz="1500">
                <a:ea typeface="+mn-lt"/>
                <a:cs typeface="+mn-lt"/>
              </a:rPr>
              <a:t>: Different approaches; U.K. focuses on diaspora identities, while Scotland targets solely Muslim audience.</a:t>
            </a:r>
            <a:endParaRPr lang="en-US" sz="1500"/>
          </a:p>
          <a:p>
            <a:pPr lvl="2">
              <a:lnSpc>
                <a:spcPct val="90000"/>
              </a:lnSpc>
            </a:pPr>
            <a:r>
              <a:rPr lang="en-US" sz="1500" b="1">
                <a:ea typeface="+mn-lt"/>
                <a:cs typeface="+mn-lt"/>
              </a:rPr>
              <a:t>Local Councils</a:t>
            </a:r>
            <a:r>
              <a:rPr lang="en-US" sz="1500">
                <a:ea typeface="+mn-lt"/>
                <a:cs typeface="+mn-lt"/>
              </a:rPr>
              <a:t>: Diverse strategies addressing theology, culture, and vaccine hesitancy.</a:t>
            </a:r>
            <a:endParaRPr lang="en-US" sz="1500"/>
          </a:p>
          <a:p>
            <a:pPr lvl="2">
              <a:lnSpc>
                <a:spcPct val="90000"/>
              </a:lnSpc>
            </a:pPr>
            <a:r>
              <a:rPr lang="en-US" sz="1500" b="1">
                <a:ea typeface="+mn-lt"/>
                <a:cs typeface="+mn-lt"/>
              </a:rPr>
              <a:t>National Health Service (NHS)</a:t>
            </a:r>
            <a:r>
              <a:rPr lang="en-US" sz="1500">
                <a:ea typeface="+mn-lt"/>
                <a:cs typeface="+mn-lt"/>
              </a:rPr>
              <a:t>: NHS campaigns integrate Muslim identity within broader healthcare contexts.</a:t>
            </a:r>
            <a:endParaRPr lang="en-US" sz="1500">
              <a:latin typeface="Aptos"/>
              <a:ea typeface="+mn-lt"/>
              <a:cs typeface="Arial"/>
            </a:endParaRPr>
          </a:p>
          <a:p>
            <a:pPr marL="1257300" lvl="2" indent="-342900">
              <a:lnSpc>
                <a:spcPct val="90000"/>
              </a:lnSpc>
            </a:pPr>
            <a:endParaRPr lang="en-US" sz="1500">
              <a:latin typeface="Trebuchet MS" panose="020B0603020202020204"/>
              <a:cs typeface="Arial"/>
            </a:endParaRPr>
          </a:p>
          <a:p>
            <a:pPr indent="-342900">
              <a:lnSpc>
                <a:spcPct val="90000"/>
              </a:lnSpc>
            </a:pPr>
            <a:endParaRPr lang="en-US" sz="1500"/>
          </a:p>
        </p:txBody>
      </p:sp>
      <p:pic>
        <p:nvPicPr>
          <p:cNvPr id="5" name="Picture 4" descr="Rear-view of rows of people watching a film in a theater">
            <a:extLst>
              <a:ext uri="{FF2B5EF4-FFF2-40B4-BE49-F238E27FC236}">
                <a16:creationId xmlns:a16="http://schemas.microsoft.com/office/drawing/2014/main" id="{B964F3BD-A776-0D57-7591-09B06DE488F4}"/>
              </a:ext>
            </a:extLst>
          </p:cNvPr>
          <p:cNvPicPr>
            <a:picLocks noChangeAspect="1"/>
          </p:cNvPicPr>
          <p:nvPr/>
        </p:nvPicPr>
        <p:blipFill rotWithShape="1">
          <a:blip r:embed="rId2"/>
          <a:srcRect l="16238" r="31329" b="-4"/>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4537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EA65C-12F2-A67D-0870-79D91827EAF5}"/>
              </a:ext>
            </a:extLst>
          </p:cNvPr>
          <p:cNvSpPr>
            <a:spLocks noGrp="1"/>
          </p:cNvSpPr>
          <p:nvPr>
            <p:ph type="title"/>
          </p:nvPr>
        </p:nvSpPr>
        <p:spPr/>
        <p:txBody>
          <a:bodyPr>
            <a:normAutofit/>
          </a:bodyPr>
          <a:lstStyle/>
          <a:p>
            <a:r>
              <a:rPr lang="en-US" sz="3000" b="1"/>
              <a:t>Conclusion</a:t>
            </a:r>
          </a:p>
        </p:txBody>
      </p:sp>
      <p:sp>
        <p:nvSpPr>
          <p:cNvPr id="3" name="Content Placeholder 2">
            <a:extLst>
              <a:ext uri="{FF2B5EF4-FFF2-40B4-BE49-F238E27FC236}">
                <a16:creationId xmlns:a16="http://schemas.microsoft.com/office/drawing/2014/main" id="{68A26314-E9AA-EFE6-2245-A83250310D86}"/>
              </a:ext>
            </a:extLst>
          </p:cNvPr>
          <p:cNvSpPr>
            <a:spLocks noGrp="1"/>
          </p:cNvSpPr>
          <p:nvPr>
            <p:ph idx="1"/>
          </p:nvPr>
        </p:nvSpPr>
        <p:spPr/>
        <p:txBody>
          <a:bodyPr vert="horz" lIns="91440" tIns="45720" rIns="91440" bIns="45720" rtlCol="0" anchor="t">
            <a:normAutofit/>
          </a:bodyPr>
          <a:lstStyle/>
          <a:p>
            <a:pPr marL="0" indent="0">
              <a:buNone/>
            </a:pPr>
            <a:r>
              <a:rPr lang="en-US" sz="2600">
                <a:solidFill>
                  <a:srgbClr val="0D0D0D"/>
                </a:solidFill>
                <a:ea typeface="+mn-lt"/>
                <a:cs typeface="+mn-lt"/>
              </a:rPr>
              <a:t>In summary, this research sheds light on how governments utilize targeted ads to exert influence over citizens on digital platforms. While showcasing diverse governance models, the study underscores the importance of data transparency and accountability. Despite sophisticated targeting techniques, the effectiveness of these ads remains uncertain. Overall, governments aim to assert control over the digital landscape through these systems.</a:t>
            </a:r>
            <a:endParaRPr lang="en-US" sz="2600"/>
          </a:p>
        </p:txBody>
      </p:sp>
    </p:spTree>
    <p:extLst>
      <p:ext uri="{BB962C8B-B14F-4D97-AF65-F5344CB8AC3E}">
        <p14:creationId xmlns:p14="http://schemas.microsoft.com/office/powerpoint/2010/main" val="217578653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20</Slides>
  <Notes>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Facet</vt:lpstr>
      <vt:lpstr>Influence government, platform power and the patchwork profile</vt:lpstr>
      <vt:lpstr>Abstract</vt:lpstr>
      <vt:lpstr>Introduction</vt:lpstr>
      <vt:lpstr>Government Communications and Behavioral Governance</vt:lpstr>
      <vt:lpstr>Evolution of Communication Channels</vt:lpstr>
      <vt:lpstr>PowerPoint Presentation</vt:lpstr>
      <vt:lpstr>Social Media and Advertising Ecosystem</vt:lpstr>
      <vt:lpstr>Targeted Advertising on Meta Platforms</vt:lpstr>
      <vt:lpstr>Power and Justice in Datafication</vt:lpstr>
      <vt:lpstr>Platform Economy and State Power</vt:lpstr>
      <vt:lpstr>Research Questions - Exploring the Intersection of Government Communications and Digital Advertising</vt:lpstr>
      <vt:lpstr>PowerPoint Presentation</vt:lpstr>
      <vt:lpstr>The Meta Ad Library: Infrastructure and Methods</vt:lpstr>
      <vt:lpstr>Data Analysis Method</vt:lpstr>
      <vt:lpstr>Insights from Meta Dataset</vt:lpstr>
      <vt:lpstr>Six Main Targeting Approaches</vt:lpstr>
      <vt:lpstr>Some examples of targeting</vt:lpstr>
      <vt:lpstr>PowerPoint Presentation</vt:lpstr>
      <vt:lpstr>(Re)constructing Muslim Communities through Meta</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55</cp:revision>
  <dcterms:created xsi:type="dcterms:W3CDTF">2024-03-25T11:56:30Z</dcterms:created>
  <dcterms:modified xsi:type="dcterms:W3CDTF">2024-04-15T11:34:27Z</dcterms:modified>
</cp:coreProperties>
</file>