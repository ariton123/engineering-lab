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258" r:id="rId4"/>
    <p:sldId id="259" r:id="rId5"/>
    <p:sldId id="260" r:id="rId6"/>
    <p:sldId id="261" r:id="rId7"/>
    <p:sldId id="262" r:id="rId8"/>
    <p:sldId id="267" r:id="rId9"/>
    <p:sldId id="268" r:id="rId10"/>
    <p:sldId id="265" r:id="rId11"/>
    <p:sldId id="264"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FD0345-3EA5-0A17-7FB4-978FAD478B0B}" v="251" dt="2024-04-29T11:55:17.039"/>
    <p1510:client id="{49E5F087-C964-2F87-553C-19A436EC8C2C}" v="356" dt="2024-04-29T09:41:11.913"/>
    <p1510:client id="{4EEF7256-386A-A245-3385-5584B6ADF594}" v="2" dt="2024-04-29T11:18:44.7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53A25E-97F4-439F-B473-E02DA931E92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51B6CBC-1FD9-4B57-A180-AB057E85C20B}">
      <dgm:prSet/>
      <dgm:spPr/>
      <dgm:t>
        <a:bodyPr/>
        <a:lstStyle/>
        <a:p>
          <a:pPr>
            <a:lnSpc>
              <a:spcPct val="100000"/>
            </a:lnSpc>
          </a:pPr>
          <a:r>
            <a:rPr lang="en-US" b="1"/>
            <a:t>Technology Connector:</a:t>
          </a:r>
          <a:r>
            <a:rPr lang="en-US"/>
            <a:t> Develop a digital marketplace tool for efficient employee exchange.</a:t>
          </a:r>
        </a:p>
      </dgm:t>
    </dgm:pt>
    <dgm:pt modelId="{5D2B73FB-8081-4F65-81D1-BCE764F6246F}" type="parTrans" cxnId="{E4A4E107-D26E-42F2-AE83-C2EC141BDDD6}">
      <dgm:prSet/>
      <dgm:spPr/>
      <dgm:t>
        <a:bodyPr/>
        <a:lstStyle/>
        <a:p>
          <a:endParaRPr lang="en-US"/>
        </a:p>
      </dgm:t>
    </dgm:pt>
    <dgm:pt modelId="{8736A4F6-3276-4FAC-9499-6667C7F9B1A4}" type="sibTrans" cxnId="{E4A4E107-D26E-42F2-AE83-C2EC141BDDD6}">
      <dgm:prSet/>
      <dgm:spPr/>
      <dgm:t>
        <a:bodyPr/>
        <a:lstStyle/>
        <a:p>
          <a:pPr>
            <a:lnSpc>
              <a:spcPct val="100000"/>
            </a:lnSpc>
          </a:pPr>
          <a:endParaRPr lang="en-US"/>
        </a:p>
      </dgm:t>
    </dgm:pt>
    <dgm:pt modelId="{4C8EA93B-A2A5-4FA1-A4BE-94D470FECA45}">
      <dgm:prSet/>
      <dgm:spPr/>
      <dgm:t>
        <a:bodyPr/>
        <a:lstStyle/>
        <a:p>
          <a:pPr>
            <a:lnSpc>
              <a:spcPct val="100000"/>
            </a:lnSpc>
          </a:pPr>
          <a:r>
            <a:rPr lang="en-US" b="1"/>
            <a:t>Governance Framework:</a:t>
          </a:r>
          <a:r>
            <a:rPr lang="en-US"/>
            <a:t> Establish policies and agreements to ensure fair and secure transactions.</a:t>
          </a:r>
        </a:p>
      </dgm:t>
    </dgm:pt>
    <dgm:pt modelId="{5370A96C-F494-44CE-BE37-27B53102668D}" type="parTrans" cxnId="{174E9491-05D1-464E-972D-9724E789A0CB}">
      <dgm:prSet/>
      <dgm:spPr/>
      <dgm:t>
        <a:bodyPr/>
        <a:lstStyle/>
        <a:p>
          <a:endParaRPr lang="en-US"/>
        </a:p>
      </dgm:t>
    </dgm:pt>
    <dgm:pt modelId="{449A2B32-23C1-4497-87BE-40130B7A5365}" type="sibTrans" cxnId="{174E9491-05D1-464E-972D-9724E789A0CB}">
      <dgm:prSet/>
      <dgm:spPr/>
      <dgm:t>
        <a:bodyPr/>
        <a:lstStyle/>
        <a:p>
          <a:pPr>
            <a:lnSpc>
              <a:spcPct val="100000"/>
            </a:lnSpc>
          </a:pPr>
          <a:endParaRPr lang="en-US"/>
        </a:p>
      </dgm:t>
    </dgm:pt>
    <dgm:pt modelId="{70C6897A-F7F4-4CA7-B892-414639C3C6D1}">
      <dgm:prSet/>
      <dgm:spPr/>
      <dgm:t>
        <a:bodyPr/>
        <a:lstStyle/>
        <a:p>
          <a:pPr>
            <a:lnSpc>
              <a:spcPct val="100000"/>
            </a:lnSpc>
          </a:pPr>
          <a:r>
            <a:rPr lang="en-US" b="1"/>
            <a:t>Performance and Feedback Mechanisms:</a:t>
          </a:r>
          <a:r>
            <a:rPr lang="en-US"/>
            <a:t> Implement systems for evaluating employee performance and facilitating knowledge transfer.</a:t>
          </a:r>
        </a:p>
      </dgm:t>
    </dgm:pt>
    <dgm:pt modelId="{39AAC879-3889-4216-A9FD-260C5638043A}" type="parTrans" cxnId="{94815341-A725-41CB-8FA7-34FCD669E9D6}">
      <dgm:prSet/>
      <dgm:spPr/>
      <dgm:t>
        <a:bodyPr/>
        <a:lstStyle/>
        <a:p>
          <a:endParaRPr lang="en-US"/>
        </a:p>
      </dgm:t>
    </dgm:pt>
    <dgm:pt modelId="{0DF01B9C-74EE-4DBC-8D42-AA4B531FCEF8}" type="sibTrans" cxnId="{94815341-A725-41CB-8FA7-34FCD669E9D6}">
      <dgm:prSet/>
      <dgm:spPr/>
      <dgm:t>
        <a:bodyPr/>
        <a:lstStyle/>
        <a:p>
          <a:pPr>
            <a:lnSpc>
              <a:spcPct val="100000"/>
            </a:lnSpc>
          </a:pPr>
          <a:endParaRPr lang="en-US"/>
        </a:p>
      </dgm:t>
    </dgm:pt>
    <dgm:pt modelId="{E9A5BB88-94E3-4FBB-A522-7A2D359EE32D}">
      <dgm:prSet/>
      <dgm:spPr/>
      <dgm:t>
        <a:bodyPr/>
        <a:lstStyle/>
        <a:p>
          <a:pPr>
            <a:lnSpc>
              <a:spcPct val="100000"/>
            </a:lnSpc>
          </a:pPr>
          <a:r>
            <a:rPr lang="en-US" b="1"/>
            <a:t>Cultural and Ethical Considerations:</a:t>
          </a:r>
          <a:r>
            <a:rPr lang="en-US"/>
            <a:t> Address potential challenges related to corporate culture, confidentiality, and employee welfare.</a:t>
          </a:r>
        </a:p>
      </dgm:t>
    </dgm:pt>
    <dgm:pt modelId="{5F3795DE-AB6E-463D-8F9C-FD9AE2C057B3}" type="parTrans" cxnId="{8D94B811-02B5-473D-8C9B-7764116E3884}">
      <dgm:prSet/>
      <dgm:spPr/>
      <dgm:t>
        <a:bodyPr/>
        <a:lstStyle/>
        <a:p>
          <a:endParaRPr lang="en-US"/>
        </a:p>
      </dgm:t>
    </dgm:pt>
    <dgm:pt modelId="{75297570-8D46-4C4E-AD95-89227B0B0F67}" type="sibTrans" cxnId="{8D94B811-02B5-473D-8C9B-7764116E3884}">
      <dgm:prSet/>
      <dgm:spPr/>
      <dgm:t>
        <a:bodyPr/>
        <a:lstStyle/>
        <a:p>
          <a:endParaRPr lang="en-US"/>
        </a:p>
      </dgm:t>
    </dgm:pt>
    <dgm:pt modelId="{BAB7956A-3D04-4E37-9BA8-F2C597F49D78}" type="pres">
      <dgm:prSet presAssocID="{FB53A25E-97F4-439F-B473-E02DA931E921}" presName="root" presStyleCnt="0">
        <dgm:presLayoutVars>
          <dgm:dir/>
          <dgm:resizeHandles val="exact"/>
        </dgm:presLayoutVars>
      </dgm:prSet>
      <dgm:spPr/>
    </dgm:pt>
    <dgm:pt modelId="{627BA11E-B27D-4B73-99AB-CBDD129BF316}" type="pres">
      <dgm:prSet presAssocID="{FB53A25E-97F4-439F-B473-E02DA931E921}" presName="container" presStyleCnt="0">
        <dgm:presLayoutVars>
          <dgm:dir/>
          <dgm:resizeHandles val="exact"/>
        </dgm:presLayoutVars>
      </dgm:prSet>
      <dgm:spPr/>
    </dgm:pt>
    <dgm:pt modelId="{C68353B9-2CE1-472A-8C78-DB4D08B2449F}" type="pres">
      <dgm:prSet presAssocID="{A51B6CBC-1FD9-4B57-A180-AB057E85C20B}" presName="compNode" presStyleCnt="0"/>
      <dgm:spPr/>
    </dgm:pt>
    <dgm:pt modelId="{431B6AB6-D74B-4411-A1FD-04AF711341AE}" type="pres">
      <dgm:prSet presAssocID="{A51B6CBC-1FD9-4B57-A180-AB057E85C20B}" presName="iconBgRect" presStyleLbl="bgShp" presStyleIdx="0" presStyleCnt="4"/>
      <dgm:spPr/>
    </dgm:pt>
    <dgm:pt modelId="{FB53EB53-D2DB-45D5-B7D3-ADA1B58E7FD1}" type="pres">
      <dgm:prSet presAssocID="{A51B6CBC-1FD9-4B57-A180-AB057E85C20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30B16354-274F-4B51-9944-BE6DB8BC6B77}" type="pres">
      <dgm:prSet presAssocID="{A51B6CBC-1FD9-4B57-A180-AB057E85C20B}" presName="spaceRect" presStyleCnt="0"/>
      <dgm:spPr/>
    </dgm:pt>
    <dgm:pt modelId="{0D1C3BCF-3067-4D4A-BDA4-BE5281C39247}" type="pres">
      <dgm:prSet presAssocID="{A51B6CBC-1FD9-4B57-A180-AB057E85C20B}" presName="textRect" presStyleLbl="revTx" presStyleIdx="0" presStyleCnt="4">
        <dgm:presLayoutVars>
          <dgm:chMax val="1"/>
          <dgm:chPref val="1"/>
        </dgm:presLayoutVars>
      </dgm:prSet>
      <dgm:spPr/>
    </dgm:pt>
    <dgm:pt modelId="{A575FA31-1A9C-441E-A8D9-BC0F3E3A060B}" type="pres">
      <dgm:prSet presAssocID="{8736A4F6-3276-4FAC-9499-6667C7F9B1A4}" presName="sibTrans" presStyleLbl="sibTrans2D1" presStyleIdx="0" presStyleCnt="0"/>
      <dgm:spPr/>
    </dgm:pt>
    <dgm:pt modelId="{DA682CEA-1F4D-4D56-A298-E41C5CC05D5A}" type="pres">
      <dgm:prSet presAssocID="{4C8EA93B-A2A5-4FA1-A4BE-94D470FECA45}" presName="compNode" presStyleCnt="0"/>
      <dgm:spPr/>
    </dgm:pt>
    <dgm:pt modelId="{5E11E6FF-AB44-4724-9E9C-5EC27C242BE2}" type="pres">
      <dgm:prSet presAssocID="{4C8EA93B-A2A5-4FA1-A4BE-94D470FECA45}" presName="iconBgRect" presStyleLbl="bgShp" presStyleIdx="1" presStyleCnt="4"/>
      <dgm:spPr/>
    </dgm:pt>
    <dgm:pt modelId="{DFD29713-0055-44BE-9943-D7470AC2D0D8}" type="pres">
      <dgm:prSet presAssocID="{4C8EA93B-A2A5-4FA1-A4BE-94D470FECA4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ntract"/>
        </a:ext>
      </dgm:extLst>
    </dgm:pt>
    <dgm:pt modelId="{4455FCE6-0052-4ACD-880B-34BBE63D8D36}" type="pres">
      <dgm:prSet presAssocID="{4C8EA93B-A2A5-4FA1-A4BE-94D470FECA45}" presName="spaceRect" presStyleCnt="0"/>
      <dgm:spPr/>
    </dgm:pt>
    <dgm:pt modelId="{3328065B-49F0-413F-9D82-DC815B9135C7}" type="pres">
      <dgm:prSet presAssocID="{4C8EA93B-A2A5-4FA1-A4BE-94D470FECA45}" presName="textRect" presStyleLbl="revTx" presStyleIdx="1" presStyleCnt="4">
        <dgm:presLayoutVars>
          <dgm:chMax val="1"/>
          <dgm:chPref val="1"/>
        </dgm:presLayoutVars>
      </dgm:prSet>
      <dgm:spPr/>
    </dgm:pt>
    <dgm:pt modelId="{6BC7A9C9-6CC3-44D3-AD6A-A0D186B992EB}" type="pres">
      <dgm:prSet presAssocID="{449A2B32-23C1-4497-87BE-40130B7A5365}" presName="sibTrans" presStyleLbl="sibTrans2D1" presStyleIdx="0" presStyleCnt="0"/>
      <dgm:spPr/>
    </dgm:pt>
    <dgm:pt modelId="{845F59F1-EA4D-4F36-B484-E2293FEE8DAF}" type="pres">
      <dgm:prSet presAssocID="{70C6897A-F7F4-4CA7-B892-414639C3C6D1}" presName="compNode" presStyleCnt="0"/>
      <dgm:spPr/>
    </dgm:pt>
    <dgm:pt modelId="{C233414A-A03F-432C-BFBD-057553D7122D}" type="pres">
      <dgm:prSet presAssocID="{70C6897A-F7F4-4CA7-B892-414639C3C6D1}" presName="iconBgRect" presStyleLbl="bgShp" presStyleIdx="2" presStyleCnt="4"/>
      <dgm:spPr/>
    </dgm:pt>
    <dgm:pt modelId="{6BB4189A-B468-4C53-849C-4B6872284FD9}" type="pres">
      <dgm:prSet presAssocID="{70C6897A-F7F4-4CA7-B892-414639C3C6D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33EBB38F-B58B-41FF-BD6B-90A561000E91}" type="pres">
      <dgm:prSet presAssocID="{70C6897A-F7F4-4CA7-B892-414639C3C6D1}" presName="spaceRect" presStyleCnt="0"/>
      <dgm:spPr/>
    </dgm:pt>
    <dgm:pt modelId="{3132F8BC-53B7-4E01-8574-0D2B9CBA8E43}" type="pres">
      <dgm:prSet presAssocID="{70C6897A-F7F4-4CA7-B892-414639C3C6D1}" presName="textRect" presStyleLbl="revTx" presStyleIdx="2" presStyleCnt="4">
        <dgm:presLayoutVars>
          <dgm:chMax val="1"/>
          <dgm:chPref val="1"/>
        </dgm:presLayoutVars>
      </dgm:prSet>
      <dgm:spPr/>
    </dgm:pt>
    <dgm:pt modelId="{638390F4-0B76-4A26-B3A2-7910F2C2D8F8}" type="pres">
      <dgm:prSet presAssocID="{0DF01B9C-74EE-4DBC-8D42-AA4B531FCEF8}" presName="sibTrans" presStyleLbl="sibTrans2D1" presStyleIdx="0" presStyleCnt="0"/>
      <dgm:spPr/>
    </dgm:pt>
    <dgm:pt modelId="{69E9DD1B-4F3D-4AD6-9E7F-8490C15A07E2}" type="pres">
      <dgm:prSet presAssocID="{E9A5BB88-94E3-4FBB-A522-7A2D359EE32D}" presName="compNode" presStyleCnt="0"/>
      <dgm:spPr/>
    </dgm:pt>
    <dgm:pt modelId="{5D1C2244-4459-4CEF-BD20-665EE3FF4DB8}" type="pres">
      <dgm:prSet presAssocID="{E9A5BB88-94E3-4FBB-A522-7A2D359EE32D}" presName="iconBgRect" presStyleLbl="bgShp" presStyleIdx="3" presStyleCnt="4"/>
      <dgm:spPr/>
    </dgm:pt>
    <dgm:pt modelId="{58B40B68-4F63-475A-B7F1-FBCF01F9D172}" type="pres">
      <dgm:prSet presAssocID="{E9A5BB88-94E3-4FBB-A522-7A2D359EE32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ierarchy"/>
        </a:ext>
      </dgm:extLst>
    </dgm:pt>
    <dgm:pt modelId="{2290FC1D-C004-4A21-B4C8-20851448596A}" type="pres">
      <dgm:prSet presAssocID="{E9A5BB88-94E3-4FBB-A522-7A2D359EE32D}" presName="spaceRect" presStyleCnt="0"/>
      <dgm:spPr/>
    </dgm:pt>
    <dgm:pt modelId="{D3E5E970-2CC8-4080-9349-19B26B64DBA5}" type="pres">
      <dgm:prSet presAssocID="{E9A5BB88-94E3-4FBB-A522-7A2D359EE32D}" presName="textRect" presStyleLbl="revTx" presStyleIdx="3" presStyleCnt="4">
        <dgm:presLayoutVars>
          <dgm:chMax val="1"/>
          <dgm:chPref val="1"/>
        </dgm:presLayoutVars>
      </dgm:prSet>
      <dgm:spPr/>
    </dgm:pt>
  </dgm:ptLst>
  <dgm:cxnLst>
    <dgm:cxn modelId="{E4A4E107-D26E-42F2-AE83-C2EC141BDDD6}" srcId="{FB53A25E-97F4-439F-B473-E02DA931E921}" destId="{A51B6CBC-1FD9-4B57-A180-AB057E85C20B}" srcOrd="0" destOrd="0" parTransId="{5D2B73FB-8081-4F65-81D1-BCE764F6246F}" sibTransId="{8736A4F6-3276-4FAC-9499-6667C7F9B1A4}"/>
    <dgm:cxn modelId="{8D94B811-02B5-473D-8C9B-7764116E3884}" srcId="{FB53A25E-97F4-439F-B473-E02DA931E921}" destId="{E9A5BB88-94E3-4FBB-A522-7A2D359EE32D}" srcOrd="3" destOrd="0" parTransId="{5F3795DE-AB6E-463D-8F9C-FD9AE2C057B3}" sibTransId="{75297570-8D46-4C4E-AD95-89227B0B0F67}"/>
    <dgm:cxn modelId="{4D79EF12-12D2-4372-AD73-49EEFC10CB1B}" type="presOf" srcId="{FB53A25E-97F4-439F-B473-E02DA931E921}" destId="{BAB7956A-3D04-4E37-9BA8-F2C597F49D78}" srcOrd="0" destOrd="0" presId="urn:microsoft.com/office/officeart/2018/2/layout/IconCircleList"/>
    <dgm:cxn modelId="{FD243919-BB47-4B86-8357-A6C666AC1D1E}" type="presOf" srcId="{449A2B32-23C1-4497-87BE-40130B7A5365}" destId="{6BC7A9C9-6CC3-44D3-AD6A-A0D186B992EB}" srcOrd="0" destOrd="0" presId="urn:microsoft.com/office/officeart/2018/2/layout/IconCircleList"/>
    <dgm:cxn modelId="{9BD04F3C-2818-41A0-8BF0-2568E81016EA}" type="presOf" srcId="{0DF01B9C-74EE-4DBC-8D42-AA4B531FCEF8}" destId="{638390F4-0B76-4A26-B3A2-7910F2C2D8F8}" srcOrd="0" destOrd="0" presId="urn:microsoft.com/office/officeart/2018/2/layout/IconCircleList"/>
    <dgm:cxn modelId="{94815341-A725-41CB-8FA7-34FCD669E9D6}" srcId="{FB53A25E-97F4-439F-B473-E02DA931E921}" destId="{70C6897A-F7F4-4CA7-B892-414639C3C6D1}" srcOrd="2" destOrd="0" parTransId="{39AAC879-3889-4216-A9FD-260C5638043A}" sibTransId="{0DF01B9C-74EE-4DBC-8D42-AA4B531FCEF8}"/>
    <dgm:cxn modelId="{A6C1436B-BE68-4108-9879-52138747865A}" type="presOf" srcId="{8736A4F6-3276-4FAC-9499-6667C7F9B1A4}" destId="{A575FA31-1A9C-441E-A8D9-BC0F3E3A060B}" srcOrd="0" destOrd="0" presId="urn:microsoft.com/office/officeart/2018/2/layout/IconCircleList"/>
    <dgm:cxn modelId="{D77CEC70-222F-4D2E-9FA8-BEDA599FDCAB}" type="presOf" srcId="{4C8EA93B-A2A5-4FA1-A4BE-94D470FECA45}" destId="{3328065B-49F0-413F-9D82-DC815B9135C7}" srcOrd="0" destOrd="0" presId="urn:microsoft.com/office/officeart/2018/2/layout/IconCircleList"/>
    <dgm:cxn modelId="{8D7F7587-03DD-4F73-B31D-F33EF459A1A2}" type="presOf" srcId="{A51B6CBC-1FD9-4B57-A180-AB057E85C20B}" destId="{0D1C3BCF-3067-4D4A-BDA4-BE5281C39247}" srcOrd="0" destOrd="0" presId="urn:microsoft.com/office/officeart/2018/2/layout/IconCircleList"/>
    <dgm:cxn modelId="{174E9491-05D1-464E-972D-9724E789A0CB}" srcId="{FB53A25E-97F4-439F-B473-E02DA931E921}" destId="{4C8EA93B-A2A5-4FA1-A4BE-94D470FECA45}" srcOrd="1" destOrd="0" parTransId="{5370A96C-F494-44CE-BE37-27B53102668D}" sibTransId="{449A2B32-23C1-4497-87BE-40130B7A5365}"/>
    <dgm:cxn modelId="{BA2F12A2-C805-475D-A2ED-5BDC3456527D}" type="presOf" srcId="{E9A5BB88-94E3-4FBB-A522-7A2D359EE32D}" destId="{D3E5E970-2CC8-4080-9349-19B26B64DBA5}" srcOrd="0" destOrd="0" presId="urn:microsoft.com/office/officeart/2018/2/layout/IconCircleList"/>
    <dgm:cxn modelId="{21A162F8-D3C6-4852-B413-91BF5DC8DA6E}" type="presOf" srcId="{70C6897A-F7F4-4CA7-B892-414639C3C6D1}" destId="{3132F8BC-53B7-4E01-8574-0D2B9CBA8E43}" srcOrd="0" destOrd="0" presId="urn:microsoft.com/office/officeart/2018/2/layout/IconCircleList"/>
    <dgm:cxn modelId="{1884A17F-DE9D-444C-9DE9-B811EDEAFAE4}" type="presParOf" srcId="{BAB7956A-3D04-4E37-9BA8-F2C597F49D78}" destId="{627BA11E-B27D-4B73-99AB-CBDD129BF316}" srcOrd="0" destOrd="0" presId="urn:microsoft.com/office/officeart/2018/2/layout/IconCircleList"/>
    <dgm:cxn modelId="{FF7CE644-AE19-494D-AF22-CE580399F8A4}" type="presParOf" srcId="{627BA11E-B27D-4B73-99AB-CBDD129BF316}" destId="{C68353B9-2CE1-472A-8C78-DB4D08B2449F}" srcOrd="0" destOrd="0" presId="urn:microsoft.com/office/officeart/2018/2/layout/IconCircleList"/>
    <dgm:cxn modelId="{0645C7C3-DD9B-483F-BE2B-2A22F6D3C6AE}" type="presParOf" srcId="{C68353B9-2CE1-472A-8C78-DB4D08B2449F}" destId="{431B6AB6-D74B-4411-A1FD-04AF711341AE}" srcOrd="0" destOrd="0" presId="urn:microsoft.com/office/officeart/2018/2/layout/IconCircleList"/>
    <dgm:cxn modelId="{FE0E9F98-E2E6-411E-95CA-CE631EC9BF23}" type="presParOf" srcId="{C68353B9-2CE1-472A-8C78-DB4D08B2449F}" destId="{FB53EB53-D2DB-45D5-B7D3-ADA1B58E7FD1}" srcOrd="1" destOrd="0" presId="urn:microsoft.com/office/officeart/2018/2/layout/IconCircleList"/>
    <dgm:cxn modelId="{F95F0D4D-A857-44A1-B138-E8DD54E8F5B9}" type="presParOf" srcId="{C68353B9-2CE1-472A-8C78-DB4D08B2449F}" destId="{30B16354-274F-4B51-9944-BE6DB8BC6B77}" srcOrd="2" destOrd="0" presId="urn:microsoft.com/office/officeart/2018/2/layout/IconCircleList"/>
    <dgm:cxn modelId="{17FC579B-26CB-4D0C-A963-060A54004459}" type="presParOf" srcId="{C68353B9-2CE1-472A-8C78-DB4D08B2449F}" destId="{0D1C3BCF-3067-4D4A-BDA4-BE5281C39247}" srcOrd="3" destOrd="0" presId="urn:microsoft.com/office/officeart/2018/2/layout/IconCircleList"/>
    <dgm:cxn modelId="{96D2D85D-676B-45DA-B883-5E4F49FF93F8}" type="presParOf" srcId="{627BA11E-B27D-4B73-99AB-CBDD129BF316}" destId="{A575FA31-1A9C-441E-A8D9-BC0F3E3A060B}" srcOrd="1" destOrd="0" presId="urn:microsoft.com/office/officeart/2018/2/layout/IconCircleList"/>
    <dgm:cxn modelId="{B11AFD52-5587-4569-9824-82483B106853}" type="presParOf" srcId="{627BA11E-B27D-4B73-99AB-CBDD129BF316}" destId="{DA682CEA-1F4D-4D56-A298-E41C5CC05D5A}" srcOrd="2" destOrd="0" presId="urn:microsoft.com/office/officeart/2018/2/layout/IconCircleList"/>
    <dgm:cxn modelId="{EAE6120F-E974-4046-95D4-2840160A672D}" type="presParOf" srcId="{DA682CEA-1F4D-4D56-A298-E41C5CC05D5A}" destId="{5E11E6FF-AB44-4724-9E9C-5EC27C242BE2}" srcOrd="0" destOrd="0" presId="urn:microsoft.com/office/officeart/2018/2/layout/IconCircleList"/>
    <dgm:cxn modelId="{FA8AF3FB-161F-406B-8A37-6C009304183B}" type="presParOf" srcId="{DA682CEA-1F4D-4D56-A298-E41C5CC05D5A}" destId="{DFD29713-0055-44BE-9943-D7470AC2D0D8}" srcOrd="1" destOrd="0" presId="urn:microsoft.com/office/officeart/2018/2/layout/IconCircleList"/>
    <dgm:cxn modelId="{BC7CDDCE-3332-4F5F-B8A1-22F412C471A9}" type="presParOf" srcId="{DA682CEA-1F4D-4D56-A298-E41C5CC05D5A}" destId="{4455FCE6-0052-4ACD-880B-34BBE63D8D36}" srcOrd="2" destOrd="0" presId="urn:microsoft.com/office/officeart/2018/2/layout/IconCircleList"/>
    <dgm:cxn modelId="{EF5F02F4-C43F-4D2C-9D5E-B747ED0411D3}" type="presParOf" srcId="{DA682CEA-1F4D-4D56-A298-E41C5CC05D5A}" destId="{3328065B-49F0-413F-9D82-DC815B9135C7}" srcOrd="3" destOrd="0" presId="urn:microsoft.com/office/officeart/2018/2/layout/IconCircleList"/>
    <dgm:cxn modelId="{AB470273-DB95-4FC0-B0F9-6E623D346242}" type="presParOf" srcId="{627BA11E-B27D-4B73-99AB-CBDD129BF316}" destId="{6BC7A9C9-6CC3-44D3-AD6A-A0D186B992EB}" srcOrd="3" destOrd="0" presId="urn:microsoft.com/office/officeart/2018/2/layout/IconCircleList"/>
    <dgm:cxn modelId="{D16B2456-234E-48E8-BA6A-F321D4A44689}" type="presParOf" srcId="{627BA11E-B27D-4B73-99AB-CBDD129BF316}" destId="{845F59F1-EA4D-4F36-B484-E2293FEE8DAF}" srcOrd="4" destOrd="0" presId="urn:microsoft.com/office/officeart/2018/2/layout/IconCircleList"/>
    <dgm:cxn modelId="{04A62039-43ED-48A3-8342-320F42183061}" type="presParOf" srcId="{845F59F1-EA4D-4F36-B484-E2293FEE8DAF}" destId="{C233414A-A03F-432C-BFBD-057553D7122D}" srcOrd="0" destOrd="0" presId="urn:microsoft.com/office/officeart/2018/2/layout/IconCircleList"/>
    <dgm:cxn modelId="{2794C40C-73AB-4863-A76E-11B59536B186}" type="presParOf" srcId="{845F59F1-EA4D-4F36-B484-E2293FEE8DAF}" destId="{6BB4189A-B468-4C53-849C-4B6872284FD9}" srcOrd="1" destOrd="0" presId="urn:microsoft.com/office/officeart/2018/2/layout/IconCircleList"/>
    <dgm:cxn modelId="{AD2BCF2D-7959-4DBE-92DE-87727727C19A}" type="presParOf" srcId="{845F59F1-EA4D-4F36-B484-E2293FEE8DAF}" destId="{33EBB38F-B58B-41FF-BD6B-90A561000E91}" srcOrd="2" destOrd="0" presId="urn:microsoft.com/office/officeart/2018/2/layout/IconCircleList"/>
    <dgm:cxn modelId="{375CE7AA-C1B3-4EF7-B70C-3A93C73AF74C}" type="presParOf" srcId="{845F59F1-EA4D-4F36-B484-E2293FEE8DAF}" destId="{3132F8BC-53B7-4E01-8574-0D2B9CBA8E43}" srcOrd="3" destOrd="0" presId="urn:microsoft.com/office/officeart/2018/2/layout/IconCircleList"/>
    <dgm:cxn modelId="{895D3D30-C13F-4D7A-B938-4E361220DE8A}" type="presParOf" srcId="{627BA11E-B27D-4B73-99AB-CBDD129BF316}" destId="{638390F4-0B76-4A26-B3A2-7910F2C2D8F8}" srcOrd="5" destOrd="0" presId="urn:microsoft.com/office/officeart/2018/2/layout/IconCircleList"/>
    <dgm:cxn modelId="{C6F53ECD-41E4-4DB1-A3BB-AE32113E9D97}" type="presParOf" srcId="{627BA11E-B27D-4B73-99AB-CBDD129BF316}" destId="{69E9DD1B-4F3D-4AD6-9E7F-8490C15A07E2}" srcOrd="6" destOrd="0" presId="urn:microsoft.com/office/officeart/2018/2/layout/IconCircleList"/>
    <dgm:cxn modelId="{F3C4EF1E-793A-4815-A603-79AC6136DFB6}" type="presParOf" srcId="{69E9DD1B-4F3D-4AD6-9E7F-8490C15A07E2}" destId="{5D1C2244-4459-4CEF-BD20-665EE3FF4DB8}" srcOrd="0" destOrd="0" presId="urn:microsoft.com/office/officeart/2018/2/layout/IconCircleList"/>
    <dgm:cxn modelId="{8E7FB345-4F31-48AA-BE9A-9301718D8458}" type="presParOf" srcId="{69E9DD1B-4F3D-4AD6-9E7F-8490C15A07E2}" destId="{58B40B68-4F63-475A-B7F1-FBCF01F9D172}" srcOrd="1" destOrd="0" presId="urn:microsoft.com/office/officeart/2018/2/layout/IconCircleList"/>
    <dgm:cxn modelId="{D56C2774-8A40-4B71-86EF-05956927CF08}" type="presParOf" srcId="{69E9DD1B-4F3D-4AD6-9E7F-8490C15A07E2}" destId="{2290FC1D-C004-4A21-B4C8-20851448596A}" srcOrd="2" destOrd="0" presId="urn:microsoft.com/office/officeart/2018/2/layout/IconCircleList"/>
    <dgm:cxn modelId="{591737F7-E637-4A4D-B679-39AA78E0571D}" type="presParOf" srcId="{69E9DD1B-4F3D-4AD6-9E7F-8490C15A07E2}" destId="{D3E5E970-2CC8-4080-9349-19B26B64DBA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12BFD9-5DF5-4E1B-9745-1694B59F7A9A}"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1B59B43B-8F42-47B5-8011-ECAD98617C72}">
      <dgm:prSet/>
      <dgm:spPr/>
      <dgm:t>
        <a:bodyPr/>
        <a:lstStyle/>
        <a:p>
          <a:r>
            <a:rPr lang="en-US" b="1"/>
            <a:t>Legal Issues:</a:t>
          </a:r>
          <a:r>
            <a:rPr lang="en-US"/>
            <a:t> Ensuring compliance with labor laws, data privacy regulations, and contractual agreements can be complex, especially across different jurisdictions. Legal expertise is essential to navigate these challenges effectively.</a:t>
          </a:r>
        </a:p>
      </dgm:t>
    </dgm:pt>
    <dgm:pt modelId="{863E6558-66B5-419D-9482-CF13E2072DB5}" type="parTrans" cxnId="{4EB1ADB9-BA2C-4EDA-9B6B-AE04BBEE5149}">
      <dgm:prSet/>
      <dgm:spPr/>
      <dgm:t>
        <a:bodyPr/>
        <a:lstStyle/>
        <a:p>
          <a:endParaRPr lang="en-US"/>
        </a:p>
      </dgm:t>
    </dgm:pt>
    <dgm:pt modelId="{A30F5E42-9B9C-4DAD-94F0-DDD1DCCFB386}" type="sibTrans" cxnId="{4EB1ADB9-BA2C-4EDA-9B6B-AE04BBEE5149}">
      <dgm:prSet/>
      <dgm:spPr/>
      <dgm:t>
        <a:bodyPr/>
        <a:lstStyle/>
        <a:p>
          <a:endParaRPr lang="en-US"/>
        </a:p>
      </dgm:t>
    </dgm:pt>
    <dgm:pt modelId="{F2EF6940-2EC9-4F24-9661-2BD32F2C15CD}">
      <dgm:prSet/>
      <dgm:spPr/>
      <dgm:t>
        <a:bodyPr/>
        <a:lstStyle/>
        <a:p>
          <a:r>
            <a:rPr lang="en-US" b="1"/>
            <a:t>Ethical Concerns:</a:t>
          </a:r>
          <a:r>
            <a:rPr lang="en-US"/>
            <a:t> Addressing employee consent, transparency, and fair treatment is crucial to uphold ethical standards. Additionally, potential conflicts of interest and impacts on company culture must be carefully managed.</a:t>
          </a:r>
        </a:p>
      </dgm:t>
    </dgm:pt>
    <dgm:pt modelId="{9D070E0B-22A5-424E-B808-7723FF741900}" type="parTrans" cxnId="{19220153-5591-41F7-A64A-D8C01E44D9D5}">
      <dgm:prSet/>
      <dgm:spPr/>
      <dgm:t>
        <a:bodyPr/>
        <a:lstStyle/>
        <a:p>
          <a:endParaRPr lang="en-US"/>
        </a:p>
      </dgm:t>
    </dgm:pt>
    <dgm:pt modelId="{15BC6A19-DA00-41E2-BBDD-94C0FA139C6B}" type="sibTrans" cxnId="{19220153-5591-41F7-A64A-D8C01E44D9D5}">
      <dgm:prSet/>
      <dgm:spPr/>
      <dgm:t>
        <a:bodyPr/>
        <a:lstStyle/>
        <a:p>
          <a:endParaRPr lang="en-US"/>
        </a:p>
      </dgm:t>
    </dgm:pt>
    <dgm:pt modelId="{E2EFA67B-FC54-44EE-B0BC-7C03B6F1274E}">
      <dgm:prSet/>
      <dgm:spPr/>
      <dgm:t>
        <a:bodyPr/>
        <a:lstStyle/>
        <a:p>
          <a:r>
            <a:rPr lang="en-US" b="1"/>
            <a:t>Operational Challenges:</a:t>
          </a:r>
          <a:r>
            <a:rPr lang="en-US"/>
            <a:t> Technical issues in system integration, quality control of leased employees, and dispute resolution processes can arise. Platform security and scalability are also critical considerations for smooth project operations.</a:t>
          </a:r>
        </a:p>
      </dgm:t>
    </dgm:pt>
    <dgm:pt modelId="{B9F2CB07-32A5-4051-B76A-68B9F7887BAF}" type="parTrans" cxnId="{C2E2049C-4438-418A-B912-F39A0ED6F629}">
      <dgm:prSet/>
      <dgm:spPr/>
      <dgm:t>
        <a:bodyPr/>
        <a:lstStyle/>
        <a:p>
          <a:endParaRPr lang="en-US"/>
        </a:p>
      </dgm:t>
    </dgm:pt>
    <dgm:pt modelId="{58066D58-0A6A-48B7-991D-5FD9341C3014}" type="sibTrans" cxnId="{C2E2049C-4438-418A-B912-F39A0ED6F629}">
      <dgm:prSet/>
      <dgm:spPr/>
      <dgm:t>
        <a:bodyPr/>
        <a:lstStyle/>
        <a:p>
          <a:endParaRPr lang="en-US"/>
        </a:p>
      </dgm:t>
    </dgm:pt>
    <dgm:pt modelId="{C01E5C65-049D-4192-AABB-72765F729FAD}" type="pres">
      <dgm:prSet presAssocID="{4312BFD9-5DF5-4E1B-9745-1694B59F7A9A}" presName="vert0" presStyleCnt="0">
        <dgm:presLayoutVars>
          <dgm:dir/>
          <dgm:animOne val="branch"/>
          <dgm:animLvl val="lvl"/>
        </dgm:presLayoutVars>
      </dgm:prSet>
      <dgm:spPr/>
    </dgm:pt>
    <dgm:pt modelId="{44E08B87-EBF9-4D15-A088-54E7537B0ED9}" type="pres">
      <dgm:prSet presAssocID="{1B59B43B-8F42-47B5-8011-ECAD98617C72}" presName="thickLine" presStyleLbl="alignNode1" presStyleIdx="0" presStyleCnt="3"/>
      <dgm:spPr/>
    </dgm:pt>
    <dgm:pt modelId="{3EFE4052-8967-45A2-A8FF-EA8A0839E2A6}" type="pres">
      <dgm:prSet presAssocID="{1B59B43B-8F42-47B5-8011-ECAD98617C72}" presName="horz1" presStyleCnt="0"/>
      <dgm:spPr/>
    </dgm:pt>
    <dgm:pt modelId="{0D0C68BE-88AF-40B5-ABAA-AB53E663CAB2}" type="pres">
      <dgm:prSet presAssocID="{1B59B43B-8F42-47B5-8011-ECAD98617C72}" presName="tx1" presStyleLbl="revTx" presStyleIdx="0" presStyleCnt="3"/>
      <dgm:spPr/>
    </dgm:pt>
    <dgm:pt modelId="{15A98EB8-94D5-4F42-B471-221261C05548}" type="pres">
      <dgm:prSet presAssocID="{1B59B43B-8F42-47B5-8011-ECAD98617C72}" presName="vert1" presStyleCnt="0"/>
      <dgm:spPr/>
    </dgm:pt>
    <dgm:pt modelId="{5E49A235-659F-4F47-AB3C-53EB5C53BF42}" type="pres">
      <dgm:prSet presAssocID="{F2EF6940-2EC9-4F24-9661-2BD32F2C15CD}" presName="thickLine" presStyleLbl="alignNode1" presStyleIdx="1" presStyleCnt="3"/>
      <dgm:spPr/>
    </dgm:pt>
    <dgm:pt modelId="{3EF4184C-CF0B-4653-87CF-7926D4A8ADC9}" type="pres">
      <dgm:prSet presAssocID="{F2EF6940-2EC9-4F24-9661-2BD32F2C15CD}" presName="horz1" presStyleCnt="0"/>
      <dgm:spPr/>
    </dgm:pt>
    <dgm:pt modelId="{6B9DA8D2-48CA-48DC-BAF0-555804FDA840}" type="pres">
      <dgm:prSet presAssocID="{F2EF6940-2EC9-4F24-9661-2BD32F2C15CD}" presName="tx1" presStyleLbl="revTx" presStyleIdx="1" presStyleCnt="3"/>
      <dgm:spPr/>
    </dgm:pt>
    <dgm:pt modelId="{69B04273-A704-4EEA-B926-4A24B4302D36}" type="pres">
      <dgm:prSet presAssocID="{F2EF6940-2EC9-4F24-9661-2BD32F2C15CD}" presName="vert1" presStyleCnt="0"/>
      <dgm:spPr/>
    </dgm:pt>
    <dgm:pt modelId="{8BFA633C-CE3B-4CFF-AA94-A5745DBE524C}" type="pres">
      <dgm:prSet presAssocID="{E2EFA67B-FC54-44EE-B0BC-7C03B6F1274E}" presName="thickLine" presStyleLbl="alignNode1" presStyleIdx="2" presStyleCnt="3"/>
      <dgm:spPr/>
    </dgm:pt>
    <dgm:pt modelId="{1775EC61-4E1A-4001-92AB-5F129DA840AC}" type="pres">
      <dgm:prSet presAssocID="{E2EFA67B-FC54-44EE-B0BC-7C03B6F1274E}" presName="horz1" presStyleCnt="0"/>
      <dgm:spPr/>
    </dgm:pt>
    <dgm:pt modelId="{5964F184-B820-4C64-832D-FECC972DFDDB}" type="pres">
      <dgm:prSet presAssocID="{E2EFA67B-FC54-44EE-B0BC-7C03B6F1274E}" presName="tx1" presStyleLbl="revTx" presStyleIdx="2" presStyleCnt="3"/>
      <dgm:spPr/>
    </dgm:pt>
    <dgm:pt modelId="{591A5633-55EA-41AA-8F79-A1138EDB3EE7}" type="pres">
      <dgm:prSet presAssocID="{E2EFA67B-FC54-44EE-B0BC-7C03B6F1274E}" presName="vert1" presStyleCnt="0"/>
      <dgm:spPr/>
    </dgm:pt>
  </dgm:ptLst>
  <dgm:cxnLst>
    <dgm:cxn modelId="{19220153-5591-41F7-A64A-D8C01E44D9D5}" srcId="{4312BFD9-5DF5-4E1B-9745-1694B59F7A9A}" destId="{F2EF6940-2EC9-4F24-9661-2BD32F2C15CD}" srcOrd="1" destOrd="0" parTransId="{9D070E0B-22A5-424E-B808-7723FF741900}" sibTransId="{15BC6A19-DA00-41E2-BBDD-94C0FA139C6B}"/>
    <dgm:cxn modelId="{AB5EDF5A-B91B-461D-B278-0FED76F52737}" type="presOf" srcId="{F2EF6940-2EC9-4F24-9661-2BD32F2C15CD}" destId="{6B9DA8D2-48CA-48DC-BAF0-555804FDA840}" srcOrd="0" destOrd="0" presId="urn:microsoft.com/office/officeart/2008/layout/LinedList"/>
    <dgm:cxn modelId="{C2E2049C-4438-418A-B912-F39A0ED6F629}" srcId="{4312BFD9-5DF5-4E1B-9745-1694B59F7A9A}" destId="{E2EFA67B-FC54-44EE-B0BC-7C03B6F1274E}" srcOrd="2" destOrd="0" parTransId="{B9F2CB07-32A5-4051-B76A-68B9F7887BAF}" sibTransId="{58066D58-0A6A-48B7-991D-5FD9341C3014}"/>
    <dgm:cxn modelId="{4EB1ADB9-BA2C-4EDA-9B6B-AE04BBEE5149}" srcId="{4312BFD9-5DF5-4E1B-9745-1694B59F7A9A}" destId="{1B59B43B-8F42-47B5-8011-ECAD98617C72}" srcOrd="0" destOrd="0" parTransId="{863E6558-66B5-419D-9482-CF13E2072DB5}" sibTransId="{A30F5E42-9B9C-4DAD-94F0-DDD1DCCFB386}"/>
    <dgm:cxn modelId="{2B0E88BB-F506-4A31-98E9-AB98A78E1F83}" type="presOf" srcId="{E2EFA67B-FC54-44EE-B0BC-7C03B6F1274E}" destId="{5964F184-B820-4C64-832D-FECC972DFDDB}" srcOrd="0" destOrd="0" presId="urn:microsoft.com/office/officeart/2008/layout/LinedList"/>
    <dgm:cxn modelId="{BC0537BD-3808-418F-8CCA-69F8F3255AB9}" type="presOf" srcId="{1B59B43B-8F42-47B5-8011-ECAD98617C72}" destId="{0D0C68BE-88AF-40B5-ABAA-AB53E663CAB2}" srcOrd="0" destOrd="0" presId="urn:microsoft.com/office/officeart/2008/layout/LinedList"/>
    <dgm:cxn modelId="{F6C798E0-8E34-4E9D-9AC2-7F0D083CA000}" type="presOf" srcId="{4312BFD9-5DF5-4E1B-9745-1694B59F7A9A}" destId="{C01E5C65-049D-4192-AABB-72765F729FAD}" srcOrd="0" destOrd="0" presId="urn:microsoft.com/office/officeart/2008/layout/LinedList"/>
    <dgm:cxn modelId="{0CA9CE08-49B4-499B-8CCD-35C9F10C73B2}" type="presParOf" srcId="{C01E5C65-049D-4192-AABB-72765F729FAD}" destId="{44E08B87-EBF9-4D15-A088-54E7537B0ED9}" srcOrd="0" destOrd="0" presId="urn:microsoft.com/office/officeart/2008/layout/LinedList"/>
    <dgm:cxn modelId="{968CB176-66A4-4C83-B8F6-7CA0C8629B3E}" type="presParOf" srcId="{C01E5C65-049D-4192-AABB-72765F729FAD}" destId="{3EFE4052-8967-45A2-A8FF-EA8A0839E2A6}" srcOrd="1" destOrd="0" presId="urn:microsoft.com/office/officeart/2008/layout/LinedList"/>
    <dgm:cxn modelId="{6209C487-46B5-4307-B11B-3A5F8F42E09E}" type="presParOf" srcId="{3EFE4052-8967-45A2-A8FF-EA8A0839E2A6}" destId="{0D0C68BE-88AF-40B5-ABAA-AB53E663CAB2}" srcOrd="0" destOrd="0" presId="urn:microsoft.com/office/officeart/2008/layout/LinedList"/>
    <dgm:cxn modelId="{3DF89F7F-F5C0-4A35-BD59-68D9A33B0206}" type="presParOf" srcId="{3EFE4052-8967-45A2-A8FF-EA8A0839E2A6}" destId="{15A98EB8-94D5-4F42-B471-221261C05548}" srcOrd="1" destOrd="0" presId="urn:microsoft.com/office/officeart/2008/layout/LinedList"/>
    <dgm:cxn modelId="{F191245B-FA34-4726-97AD-3384EA36708E}" type="presParOf" srcId="{C01E5C65-049D-4192-AABB-72765F729FAD}" destId="{5E49A235-659F-4F47-AB3C-53EB5C53BF42}" srcOrd="2" destOrd="0" presId="urn:microsoft.com/office/officeart/2008/layout/LinedList"/>
    <dgm:cxn modelId="{6FFDBE02-2FD3-4021-807C-17E4826BF851}" type="presParOf" srcId="{C01E5C65-049D-4192-AABB-72765F729FAD}" destId="{3EF4184C-CF0B-4653-87CF-7926D4A8ADC9}" srcOrd="3" destOrd="0" presId="urn:microsoft.com/office/officeart/2008/layout/LinedList"/>
    <dgm:cxn modelId="{91F7584D-84C0-433F-9762-3BF18B587554}" type="presParOf" srcId="{3EF4184C-CF0B-4653-87CF-7926D4A8ADC9}" destId="{6B9DA8D2-48CA-48DC-BAF0-555804FDA840}" srcOrd="0" destOrd="0" presId="urn:microsoft.com/office/officeart/2008/layout/LinedList"/>
    <dgm:cxn modelId="{A73462B9-F796-414D-A187-BCD736663EE5}" type="presParOf" srcId="{3EF4184C-CF0B-4653-87CF-7926D4A8ADC9}" destId="{69B04273-A704-4EEA-B926-4A24B4302D36}" srcOrd="1" destOrd="0" presId="urn:microsoft.com/office/officeart/2008/layout/LinedList"/>
    <dgm:cxn modelId="{C2D0AD0E-D374-4C35-892D-CC9FFEAF1432}" type="presParOf" srcId="{C01E5C65-049D-4192-AABB-72765F729FAD}" destId="{8BFA633C-CE3B-4CFF-AA94-A5745DBE524C}" srcOrd="4" destOrd="0" presId="urn:microsoft.com/office/officeart/2008/layout/LinedList"/>
    <dgm:cxn modelId="{ED6C9E72-93D1-42E3-93FA-73F42F629F54}" type="presParOf" srcId="{C01E5C65-049D-4192-AABB-72765F729FAD}" destId="{1775EC61-4E1A-4001-92AB-5F129DA840AC}" srcOrd="5" destOrd="0" presId="urn:microsoft.com/office/officeart/2008/layout/LinedList"/>
    <dgm:cxn modelId="{343A7C2B-B470-4C40-8AC0-90842E5C4989}" type="presParOf" srcId="{1775EC61-4E1A-4001-92AB-5F129DA840AC}" destId="{5964F184-B820-4C64-832D-FECC972DFDDB}" srcOrd="0" destOrd="0" presId="urn:microsoft.com/office/officeart/2008/layout/LinedList"/>
    <dgm:cxn modelId="{ECF978B4-B7E7-4934-BB52-0DE6D2E32235}" type="presParOf" srcId="{1775EC61-4E1A-4001-92AB-5F129DA840AC}" destId="{591A5633-55EA-41AA-8F79-A1138EDB3EE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F8FED7-4A56-4C5E-BD91-4116B5E1CED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FDC49F-6737-485C-86FE-1A70A190834B}">
      <dgm:prSet/>
      <dgm:spPr/>
      <dgm:t>
        <a:bodyPr/>
        <a:lstStyle/>
        <a:p>
          <a:pPr>
            <a:lnSpc>
              <a:spcPct val="100000"/>
            </a:lnSpc>
          </a:pPr>
          <a:r>
            <a:rPr lang="en-US" b="1" dirty="0"/>
            <a:t>Legal Compliance:</a:t>
          </a:r>
          <a:r>
            <a:rPr lang="en-US" dirty="0"/>
            <a:t> Ensuring adherence to labor laws and regulations is paramount in our project. This includes compliance with employment standards, worker rights, and benefits entitlements, as well as data privacy regulations such as GDPR or CCPA.</a:t>
          </a:r>
        </a:p>
      </dgm:t>
    </dgm:pt>
    <dgm:pt modelId="{35AF94DE-6D97-42D7-B885-0CB2F004F6C5}" type="parTrans" cxnId="{3AC785C8-0EFB-40D3-A78C-C4F1B6B393A1}">
      <dgm:prSet/>
      <dgm:spPr/>
      <dgm:t>
        <a:bodyPr/>
        <a:lstStyle/>
        <a:p>
          <a:endParaRPr lang="en-US"/>
        </a:p>
      </dgm:t>
    </dgm:pt>
    <dgm:pt modelId="{579C9052-B231-4208-8E16-2728785D6113}" type="sibTrans" cxnId="{3AC785C8-0EFB-40D3-A78C-C4F1B6B393A1}">
      <dgm:prSet/>
      <dgm:spPr/>
      <dgm:t>
        <a:bodyPr/>
        <a:lstStyle/>
        <a:p>
          <a:endParaRPr lang="en-US"/>
        </a:p>
      </dgm:t>
    </dgm:pt>
    <dgm:pt modelId="{B4550087-0DD9-4136-BA40-87B1364664FC}">
      <dgm:prSet/>
      <dgm:spPr/>
      <dgm:t>
        <a:bodyPr/>
        <a:lstStyle/>
        <a:p>
          <a:pPr>
            <a:lnSpc>
              <a:spcPct val="100000"/>
            </a:lnSpc>
          </a:pPr>
          <a:r>
            <a:rPr lang="en-US" b="1" dirty="0"/>
            <a:t>Contractual Agreements:</a:t>
          </a:r>
          <a:r>
            <a:rPr lang="en-US" dirty="0"/>
            <a:t> The project involves multiple contractual layers between ERP providers, leasing companies, and employees. These contracts must be legally sound and reflect agreed-upon terms to avoid disputes and liability issues.</a:t>
          </a:r>
        </a:p>
      </dgm:t>
    </dgm:pt>
    <dgm:pt modelId="{9BADB3A8-893A-416A-AFF1-C62814212928}" type="parTrans" cxnId="{D834AD62-B8DD-4C49-A309-DE9DC49A9F0B}">
      <dgm:prSet/>
      <dgm:spPr/>
      <dgm:t>
        <a:bodyPr/>
        <a:lstStyle/>
        <a:p>
          <a:endParaRPr lang="en-US"/>
        </a:p>
      </dgm:t>
    </dgm:pt>
    <dgm:pt modelId="{26BD375C-4A30-40BC-8B7A-EF9FAC1B08EF}" type="sibTrans" cxnId="{D834AD62-B8DD-4C49-A309-DE9DC49A9F0B}">
      <dgm:prSet/>
      <dgm:spPr/>
      <dgm:t>
        <a:bodyPr/>
        <a:lstStyle/>
        <a:p>
          <a:endParaRPr lang="en-US"/>
        </a:p>
      </dgm:t>
    </dgm:pt>
    <dgm:pt modelId="{CC9E0F2A-4018-4F39-997E-C364A4D87633}">
      <dgm:prSet/>
      <dgm:spPr/>
      <dgm:t>
        <a:bodyPr/>
        <a:lstStyle/>
        <a:p>
          <a:pPr>
            <a:lnSpc>
              <a:spcPct val="100000"/>
            </a:lnSpc>
          </a:pPr>
          <a:r>
            <a:rPr lang="en-US" b="1" dirty="0"/>
            <a:t>Intellectual Property Rights:</a:t>
          </a:r>
          <a:r>
            <a:rPr lang="en-US" dirty="0"/>
            <a:t> Addressing ownership of intellectual property created during the lease period is crucial. Clear provisions in leasing agreements can mitigate potential conflicts regarding the ownership of created assets.</a:t>
          </a:r>
        </a:p>
      </dgm:t>
    </dgm:pt>
    <dgm:pt modelId="{9147557E-DB94-4146-AC21-17B4CBD81F6F}" type="parTrans" cxnId="{0D8B9939-8C2E-48D4-81D5-B4FC7B43E4CB}">
      <dgm:prSet/>
      <dgm:spPr/>
      <dgm:t>
        <a:bodyPr/>
        <a:lstStyle/>
        <a:p>
          <a:endParaRPr lang="en-US"/>
        </a:p>
      </dgm:t>
    </dgm:pt>
    <dgm:pt modelId="{EB186913-4158-4874-BE13-EDDCAF3B9D4F}" type="sibTrans" cxnId="{0D8B9939-8C2E-48D4-81D5-B4FC7B43E4CB}">
      <dgm:prSet/>
      <dgm:spPr/>
      <dgm:t>
        <a:bodyPr/>
        <a:lstStyle/>
        <a:p>
          <a:endParaRPr lang="en-US"/>
        </a:p>
      </dgm:t>
    </dgm:pt>
    <dgm:pt modelId="{54552031-E32B-4D8D-8BCF-1993272C0698}">
      <dgm:prSet/>
      <dgm:spPr/>
      <dgm:t>
        <a:bodyPr/>
        <a:lstStyle/>
        <a:p>
          <a:pPr>
            <a:lnSpc>
              <a:spcPct val="100000"/>
            </a:lnSpc>
          </a:pPr>
          <a:r>
            <a:rPr lang="en-US" b="1" dirty="0"/>
            <a:t>Project Alignment with Laws:</a:t>
          </a:r>
          <a:r>
            <a:rPr lang="en-US" dirty="0"/>
            <a:t> Our project design prioritizes compliance with legal regulations at every stage. From the development of governance frameworks to the implementation of digital contracts, we ensure that all aspects of the project meet legal standards and obligations.</a:t>
          </a:r>
        </a:p>
      </dgm:t>
    </dgm:pt>
    <dgm:pt modelId="{5A1E4B70-78A1-4DC6-B0D2-4E31390A7B0D}" type="parTrans" cxnId="{B7375168-FE63-47C0-BFDC-81F0D31EB88D}">
      <dgm:prSet/>
      <dgm:spPr/>
      <dgm:t>
        <a:bodyPr/>
        <a:lstStyle/>
        <a:p>
          <a:endParaRPr lang="en-US"/>
        </a:p>
      </dgm:t>
    </dgm:pt>
    <dgm:pt modelId="{27A878D3-2357-49C0-A058-BF4E39594259}" type="sibTrans" cxnId="{B7375168-FE63-47C0-BFDC-81F0D31EB88D}">
      <dgm:prSet/>
      <dgm:spPr/>
      <dgm:t>
        <a:bodyPr/>
        <a:lstStyle/>
        <a:p>
          <a:endParaRPr lang="en-US"/>
        </a:p>
      </dgm:t>
    </dgm:pt>
    <dgm:pt modelId="{611C6EFB-FD8F-47A4-B3E9-8E341621D9B1}" type="pres">
      <dgm:prSet presAssocID="{00F8FED7-4A56-4C5E-BD91-4116B5E1CED6}" presName="root" presStyleCnt="0">
        <dgm:presLayoutVars>
          <dgm:dir/>
          <dgm:resizeHandles val="exact"/>
        </dgm:presLayoutVars>
      </dgm:prSet>
      <dgm:spPr/>
    </dgm:pt>
    <dgm:pt modelId="{B2E3FC0C-AAE2-47F5-AC78-68261A690BCE}" type="pres">
      <dgm:prSet presAssocID="{17FDC49F-6737-485C-86FE-1A70A190834B}" presName="compNode" presStyleCnt="0"/>
      <dgm:spPr/>
    </dgm:pt>
    <dgm:pt modelId="{0CC7652A-5C15-44CF-9D11-11212AE67D4A}" type="pres">
      <dgm:prSet presAssocID="{17FDC49F-6737-485C-86FE-1A70A190834B}" presName="bgRect" presStyleLbl="bgShp" presStyleIdx="0" presStyleCnt="4"/>
      <dgm:spPr/>
    </dgm:pt>
    <dgm:pt modelId="{2AE3203C-87E8-45A1-8FD3-E77898BFB8A3}" type="pres">
      <dgm:prSet presAssocID="{17FDC49F-6737-485C-86FE-1A70A19083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05DAEF2B-5E3D-4C2B-8F9C-66EFD7BD5209}" type="pres">
      <dgm:prSet presAssocID="{17FDC49F-6737-485C-86FE-1A70A190834B}" presName="spaceRect" presStyleCnt="0"/>
      <dgm:spPr/>
    </dgm:pt>
    <dgm:pt modelId="{584CA4A5-5DB5-47AD-9BE6-2FF8DD3C962B}" type="pres">
      <dgm:prSet presAssocID="{17FDC49F-6737-485C-86FE-1A70A190834B}" presName="parTx" presStyleLbl="revTx" presStyleIdx="0" presStyleCnt="4">
        <dgm:presLayoutVars>
          <dgm:chMax val="0"/>
          <dgm:chPref val="0"/>
        </dgm:presLayoutVars>
      </dgm:prSet>
      <dgm:spPr/>
    </dgm:pt>
    <dgm:pt modelId="{8B6AD7B9-96BE-4164-BB1E-6471CB23C20C}" type="pres">
      <dgm:prSet presAssocID="{579C9052-B231-4208-8E16-2728785D6113}" presName="sibTrans" presStyleCnt="0"/>
      <dgm:spPr/>
    </dgm:pt>
    <dgm:pt modelId="{A16472CE-74BF-4CAA-B15A-B19B196D0BC4}" type="pres">
      <dgm:prSet presAssocID="{B4550087-0DD9-4136-BA40-87B1364664FC}" presName="compNode" presStyleCnt="0"/>
      <dgm:spPr/>
    </dgm:pt>
    <dgm:pt modelId="{E5BD6D73-63C3-4877-9900-C58F496D2A23}" type="pres">
      <dgm:prSet presAssocID="{B4550087-0DD9-4136-BA40-87B1364664FC}" presName="bgRect" presStyleLbl="bgShp" presStyleIdx="1" presStyleCnt="4"/>
      <dgm:spPr/>
    </dgm:pt>
    <dgm:pt modelId="{FBDD042F-0D5C-4D1F-B69C-B26E15664E19}" type="pres">
      <dgm:prSet presAssocID="{B4550087-0DD9-4136-BA40-87B1364664F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tract"/>
        </a:ext>
      </dgm:extLst>
    </dgm:pt>
    <dgm:pt modelId="{BD44CC2E-98EE-4BB1-8028-565E7FE40956}" type="pres">
      <dgm:prSet presAssocID="{B4550087-0DD9-4136-BA40-87B1364664FC}" presName="spaceRect" presStyleCnt="0"/>
      <dgm:spPr/>
    </dgm:pt>
    <dgm:pt modelId="{5F677D9A-E361-4A48-89FE-4116E8B8AE5B}" type="pres">
      <dgm:prSet presAssocID="{B4550087-0DD9-4136-BA40-87B1364664FC}" presName="parTx" presStyleLbl="revTx" presStyleIdx="1" presStyleCnt="4">
        <dgm:presLayoutVars>
          <dgm:chMax val="0"/>
          <dgm:chPref val="0"/>
        </dgm:presLayoutVars>
      </dgm:prSet>
      <dgm:spPr/>
    </dgm:pt>
    <dgm:pt modelId="{70719E18-40A6-4824-9606-F31A223671E3}" type="pres">
      <dgm:prSet presAssocID="{26BD375C-4A30-40BC-8B7A-EF9FAC1B08EF}" presName="sibTrans" presStyleCnt="0"/>
      <dgm:spPr/>
    </dgm:pt>
    <dgm:pt modelId="{4E947B4F-CE54-41A8-8159-A44F810D4C1E}" type="pres">
      <dgm:prSet presAssocID="{CC9E0F2A-4018-4F39-997E-C364A4D87633}" presName="compNode" presStyleCnt="0"/>
      <dgm:spPr/>
    </dgm:pt>
    <dgm:pt modelId="{0F722430-A3D1-4844-B0EE-DBD494EECA8E}" type="pres">
      <dgm:prSet presAssocID="{CC9E0F2A-4018-4F39-997E-C364A4D87633}" presName="bgRect" presStyleLbl="bgShp" presStyleIdx="2" presStyleCnt="4"/>
      <dgm:spPr/>
    </dgm:pt>
    <dgm:pt modelId="{54ECB225-7ED4-4086-9A5E-89E105E9BA67}" type="pres">
      <dgm:prSet presAssocID="{CC9E0F2A-4018-4F39-997E-C364A4D8763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C3ABD2B4-6462-4E3C-84E6-CAD702F8C71C}" type="pres">
      <dgm:prSet presAssocID="{CC9E0F2A-4018-4F39-997E-C364A4D87633}" presName="spaceRect" presStyleCnt="0"/>
      <dgm:spPr/>
    </dgm:pt>
    <dgm:pt modelId="{4BE3AD4F-CAF2-4F8B-ABAC-C59474945E43}" type="pres">
      <dgm:prSet presAssocID="{CC9E0F2A-4018-4F39-997E-C364A4D87633}" presName="parTx" presStyleLbl="revTx" presStyleIdx="2" presStyleCnt="4">
        <dgm:presLayoutVars>
          <dgm:chMax val="0"/>
          <dgm:chPref val="0"/>
        </dgm:presLayoutVars>
      </dgm:prSet>
      <dgm:spPr/>
    </dgm:pt>
    <dgm:pt modelId="{AAA8B138-DEB6-4120-8201-3FF951E1CA17}" type="pres">
      <dgm:prSet presAssocID="{EB186913-4158-4874-BE13-EDDCAF3B9D4F}" presName="sibTrans" presStyleCnt="0"/>
      <dgm:spPr/>
    </dgm:pt>
    <dgm:pt modelId="{156514B0-3080-4720-913D-59C161391BAB}" type="pres">
      <dgm:prSet presAssocID="{54552031-E32B-4D8D-8BCF-1993272C0698}" presName="compNode" presStyleCnt="0"/>
      <dgm:spPr/>
    </dgm:pt>
    <dgm:pt modelId="{5683982E-DB6A-47D8-A8AA-41A3705C2A02}" type="pres">
      <dgm:prSet presAssocID="{54552031-E32B-4D8D-8BCF-1993272C0698}" presName="bgRect" presStyleLbl="bgShp" presStyleIdx="3" presStyleCnt="4"/>
      <dgm:spPr/>
    </dgm:pt>
    <dgm:pt modelId="{62502D4A-4D20-4F82-A7BE-36984C59CCF3}" type="pres">
      <dgm:prSet presAssocID="{54552031-E32B-4D8D-8BCF-1993272C069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eeting"/>
        </a:ext>
      </dgm:extLst>
    </dgm:pt>
    <dgm:pt modelId="{D5A031F3-28FB-4B20-9069-CCBA27C2E42F}" type="pres">
      <dgm:prSet presAssocID="{54552031-E32B-4D8D-8BCF-1993272C0698}" presName="spaceRect" presStyleCnt="0"/>
      <dgm:spPr/>
    </dgm:pt>
    <dgm:pt modelId="{3D56693C-F531-49FC-89E1-D07E66741AD0}" type="pres">
      <dgm:prSet presAssocID="{54552031-E32B-4D8D-8BCF-1993272C0698}" presName="parTx" presStyleLbl="revTx" presStyleIdx="3" presStyleCnt="4">
        <dgm:presLayoutVars>
          <dgm:chMax val="0"/>
          <dgm:chPref val="0"/>
        </dgm:presLayoutVars>
      </dgm:prSet>
      <dgm:spPr/>
    </dgm:pt>
  </dgm:ptLst>
  <dgm:cxnLst>
    <dgm:cxn modelId="{0D8B9939-8C2E-48D4-81D5-B4FC7B43E4CB}" srcId="{00F8FED7-4A56-4C5E-BD91-4116B5E1CED6}" destId="{CC9E0F2A-4018-4F39-997E-C364A4D87633}" srcOrd="2" destOrd="0" parTransId="{9147557E-DB94-4146-AC21-17B4CBD81F6F}" sibTransId="{EB186913-4158-4874-BE13-EDDCAF3B9D4F}"/>
    <dgm:cxn modelId="{739C3C42-579B-4BCF-9311-FE785502E0CE}" type="presOf" srcId="{B4550087-0DD9-4136-BA40-87B1364664FC}" destId="{5F677D9A-E361-4A48-89FE-4116E8B8AE5B}" srcOrd="0" destOrd="0" presId="urn:microsoft.com/office/officeart/2018/2/layout/IconVerticalSolidList"/>
    <dgm:cxn modelId="{D834AD62-B8DD-4C49-A309-DE9DC49A9F0B}" srcId="{00F8FED7-4A56-4C5E-BD91-4116B5E1CED6}" destId="{B4550087-0DD9-4136-BA40-87B1364664FC}" srcOrd="1" destOrd="0" parTransId="{9BADB3A8-893A-416A-AFF1-C62814212928}" sibTransId="{26BD375C-4A30-40BC-8B7A-EF9FAC1B08EF}"/>
    <dgm:cxn modelId="{B7375168-FE63-47C0-BFDC-81F0D31EB88D}" srcId="{00F8FED7-4A56-4C5E-BD91-4116B5E1CED6}" destId="{54552031-E32B-4D8D-8BCF-1993272C0698}" srcOrd="3" destOrd="0" parTransId="{5A1E4B70-78A1-4DC6-B0D2-4E31390A7B0D}" sibTransId="{27A878D3-2357-49C0-A058-BF4E39594259}"/>
    <dgm:cxn modelId="{B322C255-C868-4D55-B730-621F8E4E810F}" type="presOf" srcId="{17FDC49F-6737-485C-86FE-1A70A190834B}" destId="{584CA4A5-5DB5-47AD-9BE6-2FF8DD3C962B}" srcOrd="0" destOrd="0" presId="urn:microsoft.com/office/officeart/2018/2/layout/IconVerticalSolidList"/>
    <dgm:cxn modelId="{08B587A8-E137-481E-A376-B9F58FE55A4A}" type="presOf" srcId="{54552031-E32B-4D8D-8BCF-1993272C0698}" destId="{3D56693C-F531-49FC-89E1-D07E66741AD0}" srcOrd="0" destOrd="0" presId="urn:microsoft.com/office/officeart/2018/2/layout/IconVerticalSolidList"/>
    <dgm:cxn modelId="{B3EE74AA-5718-47D2-ADB3-10B28AA45DF5}" type="presOf" srcId="{00F8FED7-4A56-4C5E-BD91-4116B5E1CED6}" destId="{611C6EFB-FD8F-47A4-B3E9-8E341621D9B1}" srcOrd="0" destOrd="0" presId="urn:microsoft.com/office/officeart/2018/2/layout/IconVerticalSolidList"/>
    <dgm:cxn modelId="{3AC785C8-0EFB-40D3-A78C-C4F1B6B393A1}" srcId="{00F8FED7-4A56-4C5E-BD91-4116B5E1CED6}" destId="{17FDC49F-6737-485C-86FE-1A70A190834B}" srcOrd="0" destOrd="0" parTransId="{35AF94DE-6D97-42D7-B885-0CB2F004F6C5}" sibTransId="{579C9052-B231-4208-8E16-2728785D6113}"/>
    <dgm:cxn modelId="{FDADA9D7-128D-4E05-B1C7-CCF5B2034428}" type="presOf" srcId="{CC9E0F2A-4018-4F39-997E-C364A4D87633}" destId="{4BE3AD4F-CAF2-4F8B-ABAC-C59474945E43}" srcOrd="0" destOrd="0" presId="urn:microsoft.com/office/officeart/2018/2/layout/IconVerticalSolidList"/>
    <dgm:cxn modelId="{E99A6FDC-AECE-48CC-A922-94778B61B6E8}" type="presParOf" srcId="{611C6EFB-FD8F-47A4-B3E9-8E341621D9B1}" destId="{B2E3FC0C-AAE2-47F5-AC78-68261A690BCE}" srcOrd="0" destOrd="0" presId="urn:microsoft.com/office/officeart/2018/2/layout/IconVerticalSolidList"/>
    <dgm:cxn modelId="{F67888F4-49E4-418C-9234-63E568FB98DA}" type="presParOf" srcId="{B2E3FC0C-AAE2-47F5-AC78-68261A690BCE}" destId="{0CC7652A-5C15-44CF-9D11-11212AE67D4A}" srcOrd="0" destOrd="0" presId="urn:microsoft.com/office/officeart/2018/2/layout/IconVerticalSolidList"/>
    <dgm:cxn modelId="{B0CB2EB9-2B22-428A-B511-6EB4A6AE849E}" type="presParOf" srcId="{B2E3FC0C-AAE2-47F5-AC78-68261A690BCE}" destId="{2AE3203C-87E8-45A1-8FD3-E77898BFB8A3}" srcOrd="1" destOrd="0" presId="urn:microsoft.com/office/officeart/2018/2/layout/IconVerticalSolidList"/>
    <dgm:cxn modelId="{6514A6CA-7690-437B-B051-B47A4294B854}" type="presParOf" srcId="{B2E3FC0C-AAE2-47F5-AC78-68261A690BCE}" destId="{05DAEF2B-5E3D-4C2B-8F9C-66EFD7BD5209}" srcOrd="2" destOrd="0" presId="urn:microsoft.com/office/officeart/2018/2/layout/IconVerticalSolidList"/>
    <dgm:cxn modelId="{9FC975DF-EA8A-4174-BA23-564F581E8B81}" type="presParOf" srcId="{B2E3FC0C-AAE2-47F5-AC78-68261A690BCE}" destId="{584CA4A5-5DB5-47AD-9BE6-2FF8DD3C962B}" srcOrd="3" destOrd="0" presId="urn:microsoft.com/office/officeart/2018/2/layout/IconVerticalSolidList"/>
    <dgm:cxn modelId="{6C15A379-20C2-4889-85A2-925A5AC09484}" type="presParOf" srcId="{611C6EFB-FD8F-47A4-B3E9-8E341621D9B1}" destId="{8B6AD7B9-96BE-4164-BB1E-6471CB23C20C}" srcOrd="1" destOrd="0" presId="urn:microsoft.com/office/officeart/2018/2/layout/IconVerticalSolidList"/>
    <dgm:cxn modelId="{355F751A-C78B-4ECF-B3B1-07CB6D69592D}" type="presParOf" srcId="{611C6EFB-FD8F-47A4-B3E9-8E341621D9B1}" destId="{A16472CE-74BF-4CAA-B15A-B19B196D0BC4}" srcOrd="2" destOrd="0" presId="urn:microsoft.com/office/officeart/2018/2/layout/IconVerticalSolidList"/>
    <dgm:cxn modelId="{0FFF1A5C-9953-4357-A8C3-99A6C99FFC21}" type="presParOf" srcId="{A16472CE-74BF-4CAA-B15A-B19B196D0BC4}" destId="{E5BD6D73-63C3-4877-9900-C58F496D2A23}" srcOrd="0" destOrd="0" presId="urn:microsoft.com/office/officeart/2018/2/layout/IconVerticalSolidList"/>
    <dgm:cxn modelId="{1781A0D6-CF61-4728-ABC7-ACA5633CD1DE}" type="presParOf" srcId="{A16472CE-74BF-4CAA-B15A-B19B196D0BC4}" destId="{FBDD042F-0D5C-4D1F-B69C-B26E15664E19}" srcOrd="1" destOrd="0" presId="urn:microsoft.com/office/officeart/2018/2/layout/IconVerticalSolidList"/>
    <dgm:cxn modelId="{5EBA0BDA-B2D1-403C-8C5F-4AEC5B411C76}" type="presParOf" srcId="{A16472CE-74BF-4CAA-B15A-B19B196D0BC4}" destId="{BD44CC2E-98EE-4BB1-8028-565E7FE40956}" srcOrd="2" destOrd="0" presId="urn:microsoft.com/office/officeart/2018/2/layout/IconVerticalSolidList"/>
    <dgm:cxn modelId="{68D8E6E8-1D2C-45C6-B5B5-016A04958869}" type="presParOf" srcId="{A16472CE-74BF-4CAA-B15A-B19B196D0BC4}" destId="{5F677D9A-E361-4A48-89FE-4116E8B8AE5B}" srcOrd="3" destOrd="0" presId="urn:microsoft.com/office/officeart/2018/2/layout/IconVerticalSolidList"/>
    <dgm:cxn modelId="{9BA211FC-33F6-425C-8D38-1FC39EDD0955}" type="presParOf" srcId="{611C6EFB-FD8F-47A4-B3E9-8E341621D9B1}" destId="{70719E18-40A6-4824-9606-F31A223671E3}" srcOrd="3" destOrd="0" presId="urn:microsoft.com/office/officeart/2018/2/layout/IconVerticalSolidList"/>
    <dgm:cxn modelId="{9775FFE7-00CF-4087-8767-01C7F354B87C}" type="presParOf" srcId="{611C6EFB-FD8F-47A4-B3E9-8E341621D9B1}" destId="{4E947B4F-CE54-41A8-8159-A44F810D4C1E}" srcOrd="4" destOrd="0" presId="urn:microsoft.com/office/officeart/2018/2/layout/IconVerticalSolidList"/>
    <dgm:cxn modelId="{A9DA1CD8-DABF-4619-8597-129E054249FD}" type="presParOf" srcId="{4E947B4F-CE54-41A8-8159-A44F810D4C1E}" destId="{0F722430-A3D1-4844-B0EE-DBD494EECA8E}" srcOrd="0" destOrd="0" presId="urn:microsoft.com/office/officeart/2018/2/layout/IconVerticalSolidList"/>
    <dgm:cxn modelId="{31F4F127-A8FC-48FE-A5E4-14670461738A}" type="presParOf" srcId="{4E947B4F-CE54-41A8-8159-A44F810D4C1E}" destId="{54ECB225-7ED4-4086-9A5E-89E105E9BA67}" srcOrd="1" destOrd="0" presId="urn:microsoft.com/office/officeart/2018/2/layout/IconVerticalSolidList"/>
    <dgm:cxn modelId="{0D61BFB8-933D-4582-9BF7-BDD9C63978CA}" type="presParOf" srcId="{4E947B4F-CE54-41A8-8159-A44F810D4C1E}" destId="{C3ABD2B4-6462-4E3C-84E6-CAD702F8C71C}" srcOrd="2" destOrd="0" presId="urn:microsoft.com/office/officeart/2018/2/layout/IconVerticalSolidList"/>
    <dgm:cxn modelId="{BD36DCA9-BD2C-4A77-B8DE-AF97829B4161}" type="presParOf" srcId="{4E947B4F-CE54-41A8-8159-A44F810D4C1E}" destId="{4BE3AD4F-CAF2-4F8B-ABAC-C59474945E43}" srcOrd="3" destOrd="0" presId="urn:microsoft.com/office/officeart/2018/2/layout/IconVerticalSolidList"/>
    <dgm:cxn modelId="{5B7A41A9-8DA0-4850-B9BA-4D6005DE27CC}" type="presParOf" srcId="{611C6EFB-FD8F-47A4-B3E9-8E341621D9B1}" destId="{AAA8B138-DEB6-4120-8201-3FF951E1CA17}" srcOrd="5" destOrd="0" presId="urn:microsoft.com/office/officeart/2018/2/layout/IconVerticalSolidList"/>
    <dgm:cxn modelId="{598283E0-32DF-49C3-B329-8C67E4378BCB}" type="presParOf" srcId="{611C6EFB-FD8F-47A4-B3E9-8E341621D9B1}" destId="{156514B0-3080-4720-913D-59C161391BAB}" srcOrd="6" destOrd="0" presId="urn:microsoft.com/office/officeart/2018/2/layout/IconVerticalSolidList"/>
    <dgm:cxn modelId="{BC015DFA-DB10-46F9-B5F0-8E1E25C6ECE7}" type="presParOf" srcId="{156514B0-3080-4720-913D-59C161391BAB}" destId="{5683982E-DB6A-47D8-A8AA-41A3705C2A02}" srcOrd="0" destOrd="0" presId="urn:microsoft.com/office/officeart/2018/2/layout/IconVerticalSolidList"/>
    <dgm:cxn modelId="{E6A56CB1-F381-446D-AA16-59247C743D0E}" type="presParOf" srcId="{156514B0-3080-4720-913D-59C161391BAB}" destId="{62502D4A-4D20-4F82-A7BE-36984C59CCF3}" srcOrd="1" destOrd="0" presId="urn:microsoft.com/office/officeart/2018/2/layout/IconVerticalSolidList"/>
    <dgm:cxn modelId="{F468C7AB-5E94-4AC4-A4A1-B7FF5545BEF6}" type="presParOf" srcId="{156514B0-3080-4720-913D-59C161391BAB}" destId="{D5A031F3-28FB-4B20-9069-CCBA27C2E42F}" srcOrd="2" destOrd="0" presId="urn:microsoft.com/office/officeart/2018/2/layout/IconVerticalSolidList"/>
    <dgm:cxn modelId="{C11B45B4-4EF1-42C5-B35B-F3F54A4B2D20}" type="presParOf" srcId="{156514B0-3080-4720-913D-59C161391BAB}" destId="{3D56693C-F531-49FC-89E1-D07E66741AD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1B6AB6-D74B-4411-A1FD-04AF711341AE}">
      <dsp:nvSpPr>
        <dsp:cNvPr id="0" name=""/>
        <dsp:cNvSpPr/>
      </dsp:nvSpPr>
      <dsp:spPr>
        <a:xfrm>
          <a:off x="212335" y="428648"/>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53EB53-D2DB-45D5-B7D3-ADA1B58E7FD1}">
      <dsp:nvSpPr>
        <dsp:cNvPr id="0" name=""/>
        <dsp:cNvSpPr/>
      </dsp:nvSpPr>
      <dsp:spPr>
        <a:xfrm>
          <a:off x="492877" y="709190"/>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1C3BCF-3067-4D4A-BDA4-BE5281C39247}">
      <dsp:nvSpPr>
        <dsp:cNvPr id="0" name=""/>
        <dsp:cNvSpPr/>
      </dsp:nvSpPr>
      <dsp:spPr>
        <a:xfrm>
          <a:off x="1834517" y="42864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b="1" kern="1200"/>
            <a:t>Technology Connector:</a:t>
          </a:r>
          <a:r>
            <a:rPr lang="en-US" sz="2200" kern="1200"/>
            <a:t> Develop a digital marketplace tool for efficient employee exchange.</a:t>
          </a:r>
        </a:p>
      </dsp:txBody>
      <dsp:txXfrm>
        <a:off x="1834517" y="428648"/>
        <a:ext cx="3148942" cy="1335915"/>
      </dsp:txXfrm>
    </dsp:sp>
    <dsp:sp modelId="{5E11E6FF-AB44-4724-9E9C-5EC27C242BE2}">
      <dsp:nvSpPr>
        <dsp:cNvPr id="0" name=""/>
        <dsp:cNvSpPr/>
      </dsp:nvSpPr>
      <dsp:spPr>
        <a:xfrm>
          <a:off x="5532139" y="428648"/>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D29713-0055-44BE-9943-D7470AC2D0D8}">
      <dsp:nvSpPr>
        <dsp:cNvPr id="0" name=""/>
        <dsp:cNvSpPr/>
      </dsp:nvSpPr>
      <dsp:spPr>
        <a:xfrm>
          <a:off x="5812681" y="709190"/>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28065B-49F0-413F-9D82-DC815B9135C7}">
      <dsp:nvSpPr>
        <dsp:cNvPr id="0" name=""/>
        <dsp:cNvSpPr/>
      </dsp:nvSpPr>
      <dsp:spPr>
        <a:xfrm>
          <a:off x="7154322" y="42864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b="1" kern="1200"/>
            <a:t>Governance Framework:</a:t>
          </a:r>
          <a:r>
            <a:rPr lang="en-US" sz="2200" kern="1200"/>
            <a:t> Establish policies and agreements to ensure fair and secure transactions.</a:t>
          </a:r>
        </a:p>
      </dsp:txBody>
      <dsp:txXfrm>
        <a:off x="7154322" y="428648"/>
        <a:ext cx="3148942" cy="1335915"/>
      </dsp:txXfrm>
    </dsp:sp>
    <dsp:sp modelId="{C233414A-A03F-432C-BFBD-057553D7122D}">
      <dsp:nvSpPr>
        <dsp:cNvPr id="0" name=""/>
        <dsp:cNvSpPr/>
      </dsp:nvSpPr>
      <dsp:spPr>
        <a:xfrm>
          <a:off x="212335" y="2487396"/>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B4189A-B468-4C53-849C-4B6872284FD9}">
      <dsp:nvSpPr>
        <dsp:cNvPr id="0" name=""/>
        <dsp:cNvSpPr/>
      </dsp:nvSpPr>
      <dsp:spPr>
        <a:xfrm>
          <a:off x="492877" y="2767938"/>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32F8BC-53B7-4E01-8574-0D2B9CBA8E43}">
      <dsp:nvSpPr>
        <dsp:cNvPr id="0" name=""/>
        <dsp:cNvSpPr/>
      </dsp:nvSpPr>
      <dsp:spPr>
        <a:xfrm>
          <a:off x="1834517" y="2487396"/>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b="1" kern="1200"/>
            <a:t>Performance and Feedback Mechanisms:</a:t>
          </a:r>
          <a:r>
            <a:rPr lang="en-US" sz="2200" kern="1200"/>
            <a:t> Implement systems for evaluating employee performance and facilitating knowledge transfer.</a:t>
          </a:r>
        </a:p>
      </dsp:txBody>
      <dsp:txXfrm>
        <a:off x="1834517" y="2487396"/>
        <a:ext cx="3148942" cy="1335915"/>
      </dsp:txXfrm>
    </dsp:sp>
    <dsp:sp modelId="{5D1C2244-4459-4CEF-BD20-665EE3FF4DB8}">
      <dsp:nvSpPr>
        <dsp:cNvPr id="0" name=""/>
        <dsp:cNvSpPr/>
      </dsp:nvSpPr>
      <dsp:spPr>
        <a:xfrm>
          <a:off x="5532139" y="2487396"/>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B40B68-4F63-475A-B7F1-FBCF01F9D172}">
      <dsp:nvSpPr>
        <dsp:cNvPr id="0" name=""/>
        <dsp:cNvSpPr/>
      </dsp:nvSpPr>
      <dsp:spPr>
        <a:xfrm>
          <a:off x="5812681" y="2767938"/>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E5E970-2CC8-4080-9349-19B26B64DBA5}">
      <dsp:nvSpPr>
        <dsp:cNvPr id="0" name=""/>
        <dsp:cNvSpPr/>
      </dsp:nvSpPr>
      <dsp:spPr>
        <a:xfrm>
          <a:off x="7154322" y="2487396"/>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b="1" kern="1200"/>
            <a:t>Cultural and Ethical Considerations:</a:t>
          </a:r>
          <a:r>
            <a:rPr lang="en-US" sz="2200" kern="1200"/>
            <a:t> Address potential challenges related to corporate culture, confidentiality, and employee welfare.</a:t>
          </a:r>
        </a:p>
      </dsp:txBody>
      <dsp:txXfrm>
        <a:off x="7154322" y="2487396"/>
        <a:ext cx="3148942" cy="1335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08B87-EBF9-4D15-A088-54E7537B0ED9}">
      <dsp:nvSpPr>
        <dsp:cNvPr id="0" name=""/>
        <dsp:cNvSpPr/>
      </dsp:nvSpPr>
      <dsp:spPr>
        <a:xfrm>
          <a:off x="0" y="2703"/>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0C68BE-88AF-40B5-ABAA-AB53E663CAB2}">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1" kern="1200"/>
            <a:t>Legal Issues:</a:t>
          </a:r>
          <a:r>
            <a:rPr lang="en-US" sz="2900" kern="1200"/>
            <a:t> Ensuring compliance with labor laws, data privacy regulations, and contractual agreements can be complex, especially across different jurisdictions. Legal expertise is essential to navigate these challenges effectively.</a:t>
          </a:r>
        </a:p>
      </dsp:txBody>
      <dsp:txXfrm>
        <a:off x="0" y="2703"/>
        <a:ext cx="6900512" cy="1843578"/>
      </dsp:txXfrm>
    </dsp:sp>
    <dsp:sp modelId="{5E49A235-659F-4F47-AB3C-53EB5C53BF42}">
      <dsp:nvSpPr>
        <dsp:cNvPr id="0" name=""/>
        <dsp:cNvSpPr/>
      </dsp:nvSpPr>
      <dsp:spPr>
        <a:xfrm>
          <a:off x="0" y="1846281"/>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9DA8D2-48CA-48DC-BAF0-555804FDA840}">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1" kern="1200"/>
            <a:t>Ethical Concerns:</a:t>
          </a:r>
          <a:r>
            <a:rPr lang="en-US" sz="2900" kern="1200"/>
            <a:t> Addressing employee consent, transparency, and fair treatment is crucial to uphold ethical standards. Additionally, potential conflicts of interest and impacts on company culture must be carefully managed.</a:t>
          </a:r>
        </a:p>
      </dsp:txBody>
      <dsp:txXfrm>
        <a:off x="0" y="1846281"/>
        <a:ext cx="6900512" cy="1843578"/>
      </dsp:txXfrm>
    </dsp:sp>
    <dsp:sp modelId="{8BFA633C-CE3B-4CFF-AA94-A5745DBE524C}">
      <dsp:nvSpPr>
        <dsp:cNvPr id="0" name=""/>
        <dsp:cNvSpPr/>
      </dsp:nvSpPr>
      <dsp:spPr>
        <a:xfrm>
          <a:off x="0" y="3689859"/>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64F184-B820-4C64-832D-FECC972DFDDB}">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1" kern="1200"/>
            <a:t>Operational Challenges:</a:t>
          </a:r>
          <a:r>
            <a:rPr lang="en-US" sz="2900" kern="1200"/>
            <a:t> Technical issues in system integration, quality control of leased employees, and dispute resolution processes can arise. Platform security and scalability are also critical considerations for smooth project operations.</a:t>
          </a:r>
        </a:p>
      </dsp:txBody>
      <dsp:txXfrm>
        <a:off x="0" y="3689859"/>
        <a:ext cx="6900512" cy="18435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C7652A-5C15-44CF-9D11-11212AE67D4A}">
      <dsp:nvSpPr>
        <dsp:cNvPr id="0" name=""/>
        <dsp:cNvSpPr/>
      </dsp:nvSpPr>
      <dsp:spPr>
        <a:xfrm>
          <a:off x="0" y="2846"/>
          <a:ext cx="8436417" cy="1442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E3203C-87E8-45A1-8FD3-E77898BFB8A3}">
      <dsp:nvSpPr>
        <dsp:cNvPr id="0" name=""/>
        <dsp:cNvSpPr/>
      </dsp:nvSpPr>
      <dsp:spPr>
        <a:xfrm>
          <a:off x="436366" y="327416"/>
          <a:ext cx="793394" cy="7933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4CA4A5-5DB5-47AD-9BE6-2FF8DD3C962B}">
      <dsp:nvSpPr>
        <dsp:cNvPr id="0" name=""/>
        <dsp:cNvSpPr/>
      </dsp:nvSpPr>
      <dsp:spPr>
        <a:xfrm>
          <a:off x="1666127" y="2846"/>
          <a:ext cx="6770289" cy="1442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668" tIns="152668" rIns="152668" bIns="152668" numCol="1" spcCol="1270" anchor="ctr" anchorCtr="0">
          <a:noAutofit/>
        </a:bodyPr>
        <a:lstStyle/>
        <a:p>
          <a:pPr marL="0" lvl="0" indent="0" algn="l" defTabSz="977900">
            <a:lnSpc>
              <a:spcPct val="100000"/>
            </a:lnSpc>
            <a:spcBef>
              <a:spcPct val="0"/>
            </a:spcBef>
            <a:spcAft>
              <a:spcPct val="35000"/>
            </a:spcAft>
            <a:buNone/>
          </a:pPr>
          <a:r>
            <a:rPr lang="en-US" sz="2200" b="1" kern="1200" dirty="0"/>
            <a:t>Legal Compliance:</a:t>
          </a:r>
          <a:r>
            <a:rPr lang="en-US" sz="2200" kern="1200" dirty="0"/>
            <a:t> Ensuring adherence to labor laws and regulations is paramount in our project. This includes compliance with employment standards, worker rights, and benefits entitlements, as well as data privacy regulations such as GDPR or CCPA.</a:t>
          </a:r>
        </a:p>
      </dsp:txBody>
      <dsp:txXfrm>
        <a:off x="1666127" y="2846"/>
        <a:ext cx="6770289" cy="1442534"/>
      </dsp:txXfrm>
    </dsp:sp>
    <dsp:sp modelId="{E5BD6D73-63C3-4877-9900-C58F496D2A23}">
      <dsp:nvSpPr>
        <dsp:cNvPr id="0" name=""/>
        <dsp:cNvSpPr/>
      </dsp:nvSpPr>
      <dsp:spPr>
        <a:xfrm>
          <a:off x="0" y="1806014"/>
          <a:ext cx="8436417" cy="1442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DD042F-0D5C-4D1F-B69C-B26E15664E19}">
      <dsp:nvSpPr>
        <dsp:cNvPr id="0" name=""/>
        <dsp:cNvSpPr/>
      </dsp:nvSpPr>
      <dsp:spPr>
        <a:xfrm>
          <a:off x="436366" y="2130584"/>
          <a:ext cx="793394" cy="7933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677D9A-E361-4A48-89FE-4116E8B8AE5B}">
      <dsp:nvSpPr>
        <dsp:cNvPr id="0" name=""/>
        <dsp:cNvSpPr/>
      </dsp:nvSpPr>
      <dsp:spPr>
        <a:xfrm>
          <a:off x="1666127" y="1806014"/>
          <a:ext cx="6770289" cy="1442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668" tIns="152668" rIns="152668" bIns="152668" numCol="1" spcCol="1270" anchor="ctr" anchorCtr="0">
          <a:noAutofit/>
        </a:bodyPr>
        <a:lstStyle/>
        <a:p>
          <a:pPr marL="0" lvl="0" indent="0" algn="l" defTabSz="977900">
            <a:lnSpc>
              <a:spcPct val="100000"/>
            </a:lnSpc>
            <a:spcBef>
              <a:spcPct val="0"/>
            </a:spcBef>
            <a:spcAft>
              <a:spcPct val="35000"/>
            </a:spcAft>
            <a:buNone/>
          </a:pPr>
          <a:r>
            <a:rPr lang="en-US" sz="2200" b="1" kern="1200" dirty="0"/>
            <a:t>Contractual Agreements:</a:t>
          </a:r>
          <a:r>
            <a:rPr lang="en-US" sz="2200" kern="1200" dirty="0"/>
            <a:t> The project involves multiple contractual layers between ERP providers, leasing companies, and employees. These contracts must be legally sound and reflect agreed-upon terms to avoid disputes and liability issues.</a:t>
          </a:r>
        </a:p>
      </dsp:txBody>
      <dsp:txXfrm>
        <a:off x="1666127" y="1806014"/>
        <a:ext cx="6770289" cy="1442534"/>
      </dsp:txXfrm>
    </dsp:sp>
    <dsp:sp modelId="{0F722430-A3D1-4844-B0EE-DBD494EECA8E}">
      <dsp:nvSpPr>
        <dsp:cNvPr id="0" name=""/>
        <dsp:cNvSpPr/>
      </dsp:nvSpPr>
      <dsp:spPr>
        <a:xfrm>
          <a:off x="0" y="3609182"/>
          <a:ext cx="8436417" cy="1442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ECB225-7ED4-4086-9A5E-89E105E9BA67}">
      <dsp:nvSpPr>
        <dsp:cNvPr id="0" name=""/>
        <dsp:cNvSpPr/>
      </dsp:nvSpPr>
      <dsp:spPr>
        <a:xfrm>
          <a:off x="436366" y="3933753"/>
          <a:ext cx="793394" cy="7933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E3AD4F-CAF2-4F8B-ABAC-C59474945E43}">
      <dsp:nvSpPr>
        <dsp:cNvPr id="0" name=""/>
        <dsp:cNvSpPr/>
      </dsp:nvSpPr>
      <dsp:spPr>
        <a:xfrm>
          <a:off x="1666127" y="3609182"/>
          <a:ext cx="6770289" cy="1442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668" tIns="152668" rIns="152668" bIns="152668" numCol="1" spcCol="1270" anchor="ctr" anchorCtr="0">
          <a:noAutofit/>
        </a:bodyPr>
        <a:lstStyle/>
        <a:p>
          <a:pPr marL="0" lvl="0" indent="0" algn="l" defTabSz="977900">
            <a:lnSpc>
              <a:spcPct val="100000"/>
            </a:lnSpc>
            <a:spcBef>
              <a:spcPct val="0"/>
            </a:spcBef>
            <a:spcAft>
              <a:spcPct val="35000"/>
            </a:spcAft>
            <a:buNone/>
          </a:pPr>
          <a:r>
            <a:rPr lang="en-US" sz="2200" b="1" kern="1200" dirty="0"/>
            <a:t>Intellectual Property Rights:</a:t>
          </a:r>
          <a:r>
            <a:rPr lang="en-US" sz="2200" kern="1200" dirty="0"/>
            <a:t> Addressing ownership of intellectual property created during the lease period is crucial. Clear provisions in leasing agreements can mitigate potential conflicts regarding the ownership of created assets.</a:t>
          </a:r>
        </a:p>
      </dsp:txBody>
      <dsp:txXfrm>
        <a:off x="1666127" y="3609182"/>
        <a:ext cx="6770289" cy="1442534"/>
      </dsp:txXfrm>
    </dsp:sp>
    <dsp:sp modelId="{5683982E-DB6A-47D8-A8AA-41A3705C2A02}">
      <dsp:nvSpPr>
        <dsp:cNvPr id="0" name=""/>
        <dsp:cNvSpPr/>
      </dsp:nvSpPr>
      <dsp:spPr>
        <a:xfrm>
          <a:off x="0" y="5412351"/>
          <a:ext cx="8436417" cy="14425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502D4A-4D20-4F82-A7BE-36984C59CCF3}">
      <dsp:nvSpPr>
        <dsp:cNvPr id="0" name=""/>
        <dsp:cNvSpPr/>
      </dsp:nvSpPr>
      <dsp:spPr>
        <a:xfrm>
          <a:off x="436366" y="5736921"/>
          <a:ext cx="793394" cy="7933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56693C-F531-49FC-89E1-D07E66741AD0}">
      <dsp:nvSpPr>
        <dsp:cNvPr id="0" name=""/>
        <dsp:cNvSpPr/>
      </dsp:nvSpPr>
      <dsp:spPr>
        <a:xfrm>
          <a:off x="1666127" y="5412351"/>
          <a:ext cx="6770289" cy="1442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668" tIns="152668" rIns="152668" bIns="152668" numCol="1" spcCol="1270" anchor="ctr" anchorCtr="0">
          <a:noAutofit/>
        </a:bodyPr>
        <a:lstStyle/>
        <a:p>
          <a:pPr marL="0" lvl="0" indent="0" algn="l" defTabSz="977900">
            <a:lnSpc>
              <a:spcPct val="100000"/>
            </a:lnSpc>
            <a:spcBef>
              <a:spcPct val="0"/>
            </a:spcBef>
            <a:spcAft>
              <a:spcPct val="35000"/>
            </a:spcAft>
            <a:buNone/>
          </a:pPr>
          <a:r>
            <a:rPr lang="en-US" sz="2200" b="1" kern="1200" dirty="0"/>
            <a:t>Project Alignment with Laws:</a:t>
          </a:r>
          <a:r>
            <a:rPr lang="en-US" sz="2200" kern="1200" dirty="0"/>
            <a:t> Our project design prioritizes compliance with legal regulations at every stage. From the development of governance frameworks to the implementation of digital contracts, we ensure that all aspects of the project meet legal standards and obligations.</a:t>
          </a:r>
        </a:p>
      </dsp:txBody>
      <dsp:txXfrm>
        <a:off x="1666127" y="5412351"/>
        <a:ext cx="6770289" cy="144253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9T09:06:27.139"/>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5/20/2024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39794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9846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2701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09675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30267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0912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61002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6760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281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747785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5/20/2024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464333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5/20/2024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48340923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4" r:id="rId6"/>
    <p:sldLayoutId id="2147483729" r:id="rId7"/>
    <p:sldLayoutId id="2147483725" r:id="rId8"/>
    <p:sldLayoutId id="2147483726" r:id="rId9"/>
    <p:sldLayoutId id="2147483727" r:id="rId10"/>
    <p:sldLayoutId id="2147483728"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90338" y="640080"/>
            <a:ext cx="3734014" cy="2018348"/>
          </a:xfrm>
        </p:spPr>
        <p:txBody>
          <a:bodyPr anchor="b">
            <a:normAutofit/>
          </a:bodyPr>
          <a:lstStyle/>
          <a:p>
            <a:pPr>
              <a:lnSpc>
                <a:spcPct val="90000"/>
              </a:lnSpc>
            </a:pPr>
            <a:r>
              <a:rPr lang="en-US" sz="4400" b="1" dirty="0"/>
              <a:t>Design of governance in socio-technical information systems</a:t>
            </a:r>
          </a:p>
        </p:txBody>
      </p:sp>
      <p:sp>
        <p:nvSpPr>
          <p:cNvPr id="3" name="Subtitle 2"/>
          <p:cNvSpPr>
            <a:spLocks noGrp="1"/>
          </p:cNvSpPr>
          <p:nvPr>
            <p:ph type="subTitle" idx="1"/>
          </p:nvPr>
        </p:nvSpPr>
        <p:spPr>
          <a:xfrm>
            <a:off x="890339" y="3623977"/>
            <a:ext cx="3734014" cy="1572768"/>
          </a:xfrm>
        </p:spPr>
        <p:txBody>
          <a:bodyPr vert="horz" lIns="91440" tIns="45720" rIns="91440" bIns="45720" rtlCol="0" anchor="t">
            <a:normAutofit/>
          </a:bodyPr>
          <a:lstStyle/>
          <a:p>
            <a:r>
              <a:rPr lang="en-US" sz="3200" i="1" dirty="0">
                <a:ea typeface="+mn-lt"/>
                <a:cs typeface="+mn-lt"/>
              </a:rPr>
              <a:t>Individual mid-term presentation</a:t>
            </a:r>
          </a:p>
          <a:p>
            <a:endParaRPr lang="en-US"/>
          </a:p>
        </p:txBody>
      </p:sp>
      <p:sp>
        <p:nvSpPr>
          <p:cNvPr id="49"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27432"/>
          </a:xfrm>
          <a:custGeom>
            <a:avLst/>
            <a:gdLst>
              <a:gd name="connsiteX0" fmla="*/ 0 w 3474720"/>
              <a:gd name="connsiteY0" fmla="*/ 0 h 27432"/>
              <a:gd name="connsiteX1" fmla="*/ 660197 w 3474720"/>
              <a:gd name="connsiteY1" fmla="*/ 0 h 27432"/>
              <a:gd name="connsiteX2" fmla="*/ 1355141 w 3474720"/>
              <a:gd name="connsiteY2" fmla="*/ 0 h 27432"/>
              <a:gd name="connsiteX3" fmla="*/ 2084832 w 3474720"/>
              <a:gd name="connsiteY3" fmla="*/ 0 h 27432"/>
              <a:gd name="connsiteX4" fmla="*/ 2814523 w 3474720"/>
              <a:gd name="connsiteY4" fmla="*/ 0 h 27432"/>
              <a:gd name="connsiteX5" fmla="*/ 3474720 w 3474720"/>
              <a:gd name="connsiteY5" fmla="*/ 0 h 27432"/>
              <a:gd name="connsiteX6" fmla="*/ 3474720 w 3474720"/>
              <a:gd name="connsiteY6" fmla="*/ 27432 h 27432"/>
              <a:gd name="connsiteX7" fmla="*/ 2710282 w 3474720"/>
              <a:gd name="connsiteY7" fmla="*/ 27432 h 27432"/>
              <a:gd name="connsiteX8" fmla="*/ 1945843 w 3474720"/>
              <a:gd name="connsiteY8" fmla="*/ 27432 h 27432"/>
              <a:gd name="connsiteX9" fmla="*/ 1250899 w 3474720"/>
              <a:gd name="connsiteY9" fmla="*/ 27432 h 27432"/>
              <a:gd name="connsiteX10" fmla="*/ 0 w 3474720"/>
              <a:gd name="connsiteY10" fmla="*/ 27432 h 27432"/>
              <a:gd name="connsiteX11" fmla="*/ 0 w 347472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FEA017"/>
          </a:solidFill>
          <a:ln w="38100" cap="rnd">
            <a:solidFill>
              <a:srgbClr val="FEA017"/>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Triangular abstract background">
            <a:extLst>
              <a:ext uri="{FF2B5EF4-FFF2-40B4-BE49-F238E27FC236}">
                <a16:creationId xmlns:a16="http://schemas.microsoft.com/office/drawing/2014/main" id="{542CFBF8-FFB4-C214-E6DE-87CE62E3F5F5}"/>
              </a:ext>
            </a:extLst>
          </p:cNvPr>
          <p:cNvPicPr>
            <a:picLocks noChangeAspect="1"/>
          </p:cNvPicPr>
          <p:nvPr/>
        </p:nvPicPr>
        <p:blipFill rotWithShape="1">
          <a:blip r:embed="rId2"/>
          <a:srcRect l="11654" r="21393"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Subtitle 2">
            <a:extLst>
              <a:ext uri="{FF2B5EF4-FFF2-40B4-BE49-F238E27FC236}">
                <a16:creationId xmlns:a16="http://schemas.microsoft.com/office/drawing/2014/main" id="{9B96620B-F2C4-43CB-54AD-69A55106034F}"/>
              </a:ext>
            </a:extLst>
          </p:cNvPr>
          <p:cNvSpPr txBox="1">
            <a:spLocks/>
          </p:cNvSpPr>
          <p:nvPr/>
        </p:nvSpPr>
        <p:spPr>
          <a:xfrm>
            <a:off x="161677" y="6443377"/>
            <a:ext cx="5472326" cy="417864"/>
          </a:xfrm>
          <a:prstGeom prst="rect">
            <a:avLst/>
          </a:prstGeom>
        </p:spPr>
        <p:txBody>
          <a:bodyPr vert="horz" lIns="91440" tIns="45720" rIns="91440" bIns="45720" rtlCol="0" anchor="t">
            <a:no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latin typeface="Aptos"/>
                <a:ea typeface="+mn-lt"/>
                <a:cs typeface="+mn-lt"/>
              </a:rPr>
              <a:t>29.04.2024, University of Neuchatel                        Ariton Verush</a:t>
            </a:r>
            <a:endParaRPr lang="en-US" sz="1600" dirty="0">
              <a:latin typeface="Aptos"/>
            </a:endParaRPr>
          </a:p>
          <a:p>
            <a:endParaRPr lang="en-US" sz="2200"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79E4F2-84C9-7230-7839-8F795FD4C8E4}"/>
              </a:ext>
            </a:extLst>
          </p:cNvPr>
          <p:cNvSpPr>
            <a:spLocks noGrp="1"/>
          </p:cNvSpPr>
          <p:nvPr>
            <p:ph type="title"/>
          </p:nvPr>
        </p:nvSpPr>
        <p:spPr>
          <a:xfrm>
            <a:off x="630936" y="640080"/>
            <a:ext cx="4818888" cy="1481328"/>
          </a:xfrm>
        </p:spPr>
        <p:txBody>
          <a:bodyPr anchor="b">
            <a:normAutofit/>
          </a:bodyPr>
          <a:lstStyle/>
          <a:p>
            <a:pPr>
              <a:lnSpc>
                <a:spcPct val="90000"/>
              </a:lnSpc>
            </a:pPr>
            <a:r>
              <a:rPr lang="en-US" sz="4800"/>
              <a:t>Introduction to shared workforce</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23D222-2225-4940-4DEE-BE8D96CAF6D3}"/>
              </a:ext>
            </a:extLst>
          </p:cNvPr>
          <p:cNvSpPr>
            <a:spLocks noGrp="1"/>
          </p:cNvSpPr>
          <p:nvPr>
            <p:ph idx="1"/>
          </p:nvPr>
        </p:nvSpPr>
        <p:spPr>
          <a:xfrm>
            <a:off x="630936" y="2660904"/>
            <a:ext cx="4818888" cy="3893153"/>
          </a:xfrm>
        </p:spPr>
        <p:txBody>
          <a:bodyPr vert="horz" lIns="91440" tIns="45720" rIns="91440" bIns="45720" rtlCol="0" anchor="t">
            <a:noAutofit/>
          </a:bodyPr>
          <a:lstStyle/>
          <a:p>
            <a:pPr marL="0" indent="0">
              <a:lnSpc>
                <a:spcPct val="100000"/>
              </a:lnSpc>
              <a:buNone/>
            </a:pPr>
            <a:r>
              <a:rPr lang="en-US" sz="2200" dirty="0">
                <a:latin typeface="Aptos"/>
                <a:ea typeface="+mn-lt"/>
                <a:cs typeface="+mn-lt"/>
              </a:rPr>
              <a:t>In today's dynamic market, companies face challenges in balancing their workforce needs. The project explores the concept of sharing employees between companies to address fluctuations in demand and workforce situations. By leveraging a digital marketplace, companies can efficiently exchange skilled workers, even among competitors, benefiting both employers and employees.</a:t>
            </a:r>
            <a:endParaRPr lang="en-US" sz="2200" dirty="0">
              <a:latin typeface="Aptos"/>
            </a:endParaRP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7" name="Graphic 6" descr="Meeting">
            <a:extLst>
              <a:ext uri="{FF2B5EF4-FFF2-40B4-BE49-F238E27FC236}">
                <a16:creationId xmlns:a16="http://schemas.microsoft.com/office/drawing/2014/main" id="{7610571C-E5B2-9171-F3A1-ADEE958306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9048" y="651892"/>
            <a:ext cx="5458968" cy="5911404"/>
          </a:xfrm>
          <a:prstGeom prst="rect">
            <a:avLst/>
          </a:prstGeom>
        </p:spPr>
      </p:pic>
    </p:spTree>
    <p:extLst>
      <p:ext uri="{BB962C8B-B14F-4D97-AF65-F5344CB8AC3E}">
        <p14:creationId xmlns:p14="http://schemas.microsoft.com/office/powerpoint/2010/main" val="272084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7E8C9-5DC5-7F0C-7E5C-0D0A09A6E4DE}"/>
              </a:ext>
            </a:extLst>
          </p:cNvPr>
          <p:cNvSpPr>
            <a:spLocks noGrp="1"/>
          </p:cNvSpPr>
          <p:nvPr>
            <p:ph type="title"/>
          </p:nvPr>
        </p:nvSpPr>
        <p:spPr/>
        <p:txBody>
          <a:bodyPr/>
          <a:lstStyle/>
          <a:p>
            <a:r>
              <a:rPr lang="en-US" dirty="0"/>
              <a:t>ESSENTIAL REQUIREMENTS</a:t>
            </a:r>
          </a:p>
        </p:txBody>
      </p:sp>
      <p:graphicFrame>
        <p:nvGraphicFramePr>
          <p:cNvPr id="16" name="Content Placeholder 2">
            <a:extLst>
              <a:ext uri="{FF2B5EF4-FFF2-40B4-BE49-F238E27FC236}">
                <a16:creationId xmlns:a16="http://schemas.microsoft.com/office/drawing/2014/main" id="{2D0649AF-59CA-5E0D-E1D6-5070C6AF7049}"/>
              </a:ext>
            </a:extLst>
          </p:cNvPr>
          <p:cNvGraphicFramePr>
            <a:graphicFrameLocks noGrp="1"/>
          </p:cNvGraphicFramePr>
          <p:nvPr>
            <p:ph idx="1"/>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5164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1"/>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DA772B0-E635-9347-3BC0-F394E9943530}"/>
              </a:ext>
            </a:extLst>
          </p:cNvPr>
          <p:cNvSpPr>
            <a:spLocks noGrp="1"/>
          </p:cNvSpPr>
          <p:nvPr>
            <p:ph type="title"/>
          </p:nvPr>
        </p:nvSpPr>
        <p:spPr>
          <a:xfrm>
            <a:off x="841246" y="673770"/>
            <a:ext cx="3644489" cy="2414488"/>
          </a:xfrm>
        </p:spPr>
        <p:txBody>
          <a:bodyPr anchor="t">
            <a:normAutofit/>
          </a:bodyPr>
          <a:lstStyle/>
          <a:p>
            <a:r>
              <a:rPr lang="en-US" sz="6600">
                <a:solidFill>
                  <a:schemeClr val="bg1"/>
                </a:solidFill>
              </a:rPr>
              <a:t>STAKEHOLDERS</a:t>
            </a:r>
          </a:p>
        </p:txBody>
      </p:sp>
      <p:sp>
        <p:nvSpPr>
          <p:cNvPr id="16" name="Content Placeholder 2">
            <a:extLst>
              <a:ext uri="{FF2B5EF4-FFF2-40B4-BE49-F238E27FC236}">
                <a16:creationId xmlns:a16="http://schemas.microsoft.com/office/drawing/2014/main" id="{4FD60E1D-DC69-B557-2DC1-43CBCC5B7A9E}"/>
              </a:ext>
            </a:extLst>
          </p:cNvPr>
          <p:cNvSpPr>
            <a:spLocks noGrp="1"/>
          </p:cNvSpPr>
          <p:nvPr>
            <p:ph idx="1"/>
          </p:nvPr>
        </p:nvSpPr>
        <p:spPr>
          <a:xfrm>
            <a:off x="6095999" y="1489533"/>
            <a:ext cx="5254754" cy="4687429"/>
          </a:xfrm>
        </p:spPr>
        <p:txBody>
          <a:bodyPr vert="horz" lIns="91440" tIns="45720" rIns="91440" bIns="45720" rtlCol="0">
            <a:normAutofit/>
          </a:bodyPr>
          <a:lstStyle/>
          <a:p>
            <a:pPr marL="0" indent="0">
              <a:buNone/>
            </a:pPr>
            <a:r>
              <a:rPr lang="en-US">
                <a:latin typeface="Aptos"/>
                <a:ea typeface="+mn-lt"/>
                <a:cs typeface="+mn-lt"/>
              </a:rPr>
              <a:t>Understanding the stakeholders involved is crucial:</a:t>
            </a:r>
            <a:endParaRPr lang="en-US">
              <a:latin typeface="Aptos"/>
            </a:endParaRPr>
          </a:p>
          <a:p>
            <a:r>
              <a:rPr lang="en-US">
                <a:latin typeface="Aptos"/>
                <a:ea typeface="+mn-lt"/>
                <a:cs typeface="+mn-lt"/>
              </a:rPr>
              <a:t>Companies (Lessor)</a:t>
            </a:r>
            <a:endParaRPr lang="en-US">
              <a:latin typeface="Aptos"/>
            </a:endParaRPr>
          </a:p>
          <a:p>
            <a:r>
              <a:rPr lang="en-US">
                <a:latin typeface="Aptos"/>
                <a:ea typeface="+mn-lt"/>
                <a:cs typeface="+mn-lt"/>
              </a:rPr>
              <a:t>Companies (Lessee)</a:t>
            </a:r>
            <a:endParaRPr lang="en-US">
              <a:latin typeface="Aptos"/>
            </a:endParaRPr>
          </a:p>
          <a:p>
            <a:r>
              <a:rPr lang="en-US">
                <a:latin typeface="Aptos"/>
                <a:ea typeface="+mn-lt"/>
                <a:cs typeface="+mn-lt"/>
              </a:rPr>
              <a:t>Employees</a:t>
            </a:r>
            <a:endParaRPr lang="en-US">
              <a:latin typeface="Aptos"/>
            </a:endParaRPr>
          </a:p>
          <a:p>
            <a:r>
              <a:rPr lang="en-US">
                <a:latin typeface="Aptos"/>
                <a:ea typeface="+mn-lt"/>
                <a:cs typeface="+mn-lt"/>
              </a:rPr>
              <a:t>IT Departments/Technology Providers</a:t>
            </a:r>
            <a:endParaRPr lang="en-US">
              <a:latin typeface="Aptos"/>
            </a:endParaRPr>
          </a:p>
          <a:p>
            <a:endParaRPr lang="en-US">
              <a:latin typeface="Aptos"/>
            </a:endParaRPr>
          </a:p>
        </p:txBody>
      </p:sp>
    </p:spTree>
    <p:extLst>
      <p:ext uri="{BB962C8B-B14F-4D97-AF65-F5344CB8AC3E}">
        <p14:creationId xmlns:p14="http://schemas.microsoft.com/office/powerpoint/2010/main" val="1161579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F78CDF-6D56-B1CF-3486-2B7523FC7CF8}"/>
              </a:ext>
            </a:extLst>
          </p:cNvPr>
          <p:cNvSpPr>
            <a:spLocks noGrp="1"/>
          </p:cNvSpPr>
          <p:nvPr>
            <p:ph type="title"/>
          </p:nvPr>
        </p:nvSpPr>
        <p:spPr>
          <a:xfrm>
            <a:off x="4654296" y="329184"/>
            <a:ext cx="6894576" cy="1783080"/>
          </a:xfrm>
        </p:spPr>
        <p:txBody>
          <a:bodyPr anchor="b">
            <a:normAutofit/>
          </a:bodyPr>
          <a:lstStyle/>
          <a:p>
            <a:r>
              <a:rPr lang="en-US" sz="7200"/>
              <a:t>THe components</a:t>
            </a:r>
          </a:p>
        </p:txBody>
      </p:sp>
      <p:pic>
        <p:nvPicPr>
          <p:cNvPr id="5" name="Picture 4" descr="A 3D pattern of ring shapes connected by lines">
            <a:extLst>
              <a:ext uri="{FF2B5EF4-FFF2-40B4-BE49-F238E27FC236}">
                <a16:creationId xmlns:a16="http://schemas.microsoft.com/office/drawing/2014/main" id="{2FF9C615-48C4-B035-939D-908F8D50F41B}"/>
              </a:ext>
            </a:extLst>
          </p:cNvPr>
          <p:cNvPicPr>
            <a:picLocks noChangeAspect="1"/>
          </p:cNvPicPr>
          <p:nvPr/>
        </p:nvPicPr>
        <p:blipFill rotWithShape="1">
          <a:blip r:embed="rId2"/>
          <a:srcRect l="15965" r="50795"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5987B5"/>
          </a:solidFill>
          <a:ln w="38100" cap="rnd">
            <a:solidFill>
              <a:srgbClr val="5987B5"/>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5A92BE-3A90-5904-1F18-FB031153971C}"/>
              </a:ext>
            </a:extLst>
          </p:cNvPr>
          <p:cNvSpPr>
            <a:spLocks noGrp="1"/>
          </p:cNvSpPr>
          <p:nvPr>
            <p:ph idx="1"/>
          </p:nvPr>
        </p:nvSpPr>
        <p:spPr>
          <a:xfrm>
            <a:off x="4654296" y="2706624"/>
            <a:ext cx="6894576" cy="3805332"/>
          </a:xfrm>
        </p:spPr>
        <p:txBody>
          <a:bodyPr vert="horz" lIns="91440" tIns="45720" rIns="91440" bIns="45720" rtlCol="0">
            <a:normAutofit/>
          </a:bodyPr>
          <a:lstStyle/>
          <a:p>
            <a:pPr>
              <a:lnSpc>
                <a:spcPct val="100000"/>
              </a:lnSpc>
            </a:pPr>
            <a:r>
              <a:rPr lang="en-US" sz="2200" b="1">
                <a:latin typeface="Aptos"/>
                <a:ea typeface="+mn-lt"/>
                <a:cs typeface="+mn-lt"/>
              </a:rPr>
              <a:t>Company 1 (Lessor):</a:t>
            </a:r>
            <a:r>
              <a:rPr lang="en-US" sz="2200">
                <a:latin typeface="Aptos"/>
                <a:ea typeface="+mn-lt"/>
                <a:cs typeface="+mn-lt"/>
              </a:rPr>
              <a:t> Initiates and verifies employee interest.</a:t>
            </a:r>
            <a:endParaRPr lang="en-US" sz="2200">
              <a:latin typeface="Aptos"/>
            </a:endParaRPr>
          </a:p>
          <a:p>
            <a:pPr>
              <a:lnSpc>
                <a:spcPct val="100000"/>
              </a:lnSpc>
            </a:pPr>
            <a:r>
              <a:rPr lang="en-US" sz="2200" b="1">
                <a:latin typeface="Aptos"/>
                <a:ea typeface="+mn-lt"/>
                <a:cs typeface="+mn-lt"/>
              </a:rPr>
              <a:t>Company 2 (Lessee):</a:t>
            </a:r>
            <a:r>
              <a:rPr lang="en-US" sz="2200">
                <a:latin typeface="Aptos"/>
                <a:ea typeface="+mn-lt"/>
                <a:cs typeface="+mn-lt"/>
              </a:rPr>
              <a:t> Identifies suitable candidates.</a:t>
            </a:r>
            <a:endParaRPr lang="en-US" sz="2200">
              <a:latin typeface="Aptos"/>
            </a:endParaRPr>
          </a:p>
          <a:p>
            <a:pPr>
              <a:lnSpc>
                <a:spcPct val="100000"/>
              </a:lnSpc>
            </a:pPr>
            <a:r>
              <a:rPr lang="en-US" sz="2200" b="1">
                <a:latin typeface="Aptos"/>
                <a:ea typeface="+mn-lt"/>
                <a:cs typeface="+mn-lt"/>
              </a:rPr>
              <a:t>Platform:</a:t>
            </a:r>
            <a:r>
              <a:rPr lang="en-US" sz="2200">
                <a:latin typeface="Aptos"/>
                <a:ea typeface="+mn-lt"/>
                <a:cs typeface="+mn-lt"/>
              </a:rPr>
              <a:t> Facilitates secure communication.</a:t>
            </a:r>
            <a:endParaRPr lang="en-US" sz="2200">
              <a:latin typeface="Aptos"/>
            </a:endParaRPr>
          </a:p>
          <a:p>
            <a:pPr>
              <a:lnSpc>
                <a:spcPct val="100000"/>
              </a:lnSpc>
            </a:pPr>
            <a:r>
              <a:rPr lang="en-US" sz="2200" b="1">
                <a:latin typeface="Aptos"/>
                <a:ea typeface="+mn-lt"/>
                <a:cs typeface="+mn-lt"/>
              </a:rPr>
              <a:t>Connectors:</a:t>
            </a:r>
            <a:r>
              <a:rPr lang="en-US" sz="2200">
                <a:latin typeface="Aptos"/>
                <a:ea typeface="+mn-lt"/>
                <a:cs typeface="+mn-lt"/>
              </a:rPr>
              <a:t> Enables transaction flow and ensures data privacy.</a:t>
            </a:r>
            <a:endParaRPr lang="en-US" sz="2200">
              <a:latin typeface="Aptos"/>
            </a:endParaRPr>
          </a:p>
          <a:p>
            <a:pPr>
              <a:lnSpc>
                <a:spcPct val="100000"/>
              </a:lnSpc>
            </a:pPr>
            <a:r>
              <a:rPr lang="en-US" sz="2200" b="1">
                <a:latin typeface="Aptos"/>
                <a:ea typeface="+mn-lt"/>
                <a:cs typeface="+mn-lt"/>
              </a:rPr>
              <a:t>Database:</a:t>
            </a:r>
            <a:r>
              <a:rPr lang="en-US" sz="2200">
                <a:latin typeface="Aptos"/>
                <a:ea typeface="+mn-lt"/>
                <a:cs typeface="+mn-lt"/>
              </a:rPr>
              <a:t> Stores transactional data securely.</a:t>
            </a:r>
            <a:endParaRPr lang="en-US" sz="2200">
              <a:latin typeface="Aptos"/>
            </a:endParaRPr>
          </a:p>
          <a:p>
            <a:pPr>
              <a:lnSpc>
                <a:spcPct val="100000"/>
              </a:lnSpc>
            </a:pPr>
            <a:endParaRPr lang="en-US" sz="2200">
              <a:latin typeface="Aptos"/>
            </a:endParaRPr>
          </a:p>
        </p:txBody>
      </p:sp>
    </p:spTree>
    <p:extLst>
      <p:ext uri="{BB962C8B-B14F-4D97-AF65-F5344CB8AC3E}">
        <p14:creationId xmlns:p14="http://schemas.microsoft.com/office/powerpoint/2010/main" val="3162966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53EC9-E899-E9A9-E618-F9C307E15F43}"/>
              </a:ext>
            </a:extLst>
          </p:cNvPr>
          <p:cNvSpPr>
            <a:spLocks noGrp="1"/>
          </p:cNvSpPr>
          <p:nvPr>
            <p:ph type="title"/>
          </p:nvPr>
        </p:nvSpPr>
        <p:spPr>
          <a:xfrm>
            <a:off x="640080" y="325370"/>
            <a:ext cx="6894576" cy="1784538"/>
          </a:xfrm>
        </p:spPr>
        <p:txBody>
          <a:bodyPr anchor="b">
            <a:normAutofit/>
          </a:bodyPr>
          <a:lstStyle/>
          <a:p>
            <a:r>
              <a:rPr lang="en-US" sz="7200"/>
              <a:t>The process flow</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395391"/>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5987B5"/>
          </a:solidFill>
          <a:ln w="38100" cap="rnd">
            <a:solidFill>
              <a:srgbClr val="5987B5"/>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EE655-042D-8FA2-E0F5-9B3948678B19}"/>
              </a:ext>
            </a:extLst>
          </p:cNvPr>
          <p:cNvSpPr>
            <a:spLocks noGrp="1"/>
          </p:cNvSpPr>
          <p:nvPr>
            <p:ph idx="1"/>
          </p:nvPr>
        </p:nvSpPr>
        <p:spPr>
          <a:xfrm>
            <a:off x="640080" y="2708307"/>
            <a:ext cx="6894576" cy="3949603"/>
          </a:xfrm>
        </p:spPr>
        <p:txBody>
          <a:bodyPr vert="horz" lIns="91440" tIns="45720" rIns="91440" bIns="45720" rtlCol="0" anchor="t">
            <a:noAutofit/>
          </a:bodyPr>
          <a:lstStyle/>
          <a:p>
            <a:pPr>
              <a:lnSpc>
                <a:spcPct val="100000"/>
              </a:lnSpc>
            </a:pPr>
            <a:r>
              <a:rPr lang="en-US" sz="2200" b="1" dirty="0">
                <a:latin typeface="Aptos"/>
                <a:ea typeface="+mn-lt"/>
                <a:cs typeface="+mn-lt"/>
              </a:rPr>
              <a:t>Employee Interest and Verification:</a:t>
            </a:r>
            <a:r>
              <a:rPr lang="en-US" sz="2200" dirty="0">
                <a:latin typeface="Aptos"/>
                <a:ea typeface="+mn-lt"/>
                <a:cs typeface="+mn-lt"/>
              </a:rPr>
              <a:t> Employees express interest; Company 1 verifies.</a:t>
            </a:r>
            <a:endParaRPr lang="en-US" sz="2200" dirty="0">
              <a:latin typeface="Aptos"/>
            </a:endParaRPr>
          </a:p>
          <a:p>
            <a:pPr>
              <a:lnSpc>
                <a:spcPct val="100000"/>
              </a:lnSpc>
            </a:pPr>
            <a:r>
              <a:rPr lang="en-US" sz="2200" b="1" dirty="0">
                <a:latin typeface="Aptos"/>
                <a:ea typeface="+mn-lt"/>
                <a:cs typeface="+mn-lt"/>
              </a:rPr>
              <a:t>Platform Interaction:</a:t>
            </a:r>
            <a:r>
              <a:rPr lang="en-US" sz="2200" dirty="0">
                <a:latin typeface="Aptos"/>
                <a:ea typeface="+mn-lt"/>
                <a:cs typeface="+mn-lt"/>
              </a:rPr>
              <a:t> Data transmitted securely; Company 2 searches for candidates.</a:t>
            </a:r>
            <a:endParaRPr lang="en-US" sz="2200" dirty="0">
              <a:latin typeface="Aptos"/>
            </a:endParaRPr>
          </a:p>
          <a:p>
            <a:pPr>
              <a:lnSpc>
                <a:spcPct val="100000"/>
              </a:lnSpc>
            </a:pPr>
            <a:r>
              <a:rPr lang="en-US" sz="2200" b="1" dirty="0">
                <a:latin typeface="Aptos"/>
                <a:ea typeface="+mn-lt"/>
                <a:cs typeface="+mn-lt"/>
              </a:rPr>
              <a:t>Transaction and Direct Communication:</a:t>
            </a:r>
            <a:r>
              <a:rPr lang="en-US" sz="2200" dirty="0">
                <a:latin typeface="Aptos"/>
                <a:ea typeface="+mn-lt"/>
                <a:cs typeface="+mn-lt"/>
              </a:rPr>
              <a:t> Company 2 expresses interest; terms transmitted securely; direct communication for finalization.</a:t>
            </a:r>
            <a:endParaRPr lang="en-US" sz="2200" dirty="0">
              <a:latin typeface="Aptos"/>
            </a:endParaRPr>
          </a:p>
          <a:p>
            <a:pPr>
              <a:lnSpc>
                <a:spcPct val="100000"/>
              </a:lnSpc>
            </a:pPr>
            <a:r>
              <a:rPr lang="en-US" sz="2200" b="1" dirty="0">
                <a:latin typeface="Aptos"/>
                <a:ea typeface="+mn-lt"/>
                <a:cs typeface="+mn-lt"/>
              </a:rPr>
              <a:t>Transaction Logging:</a:t>
            </a:r>
            <a:r>
              <a:rPr lang="en-US" sz="2200" dirty="0">
                <a:latin typeface="Aptos"/>
                <a:ea typeface="+mn-lt"/>
                <a:cs typeface="+mn-lt"/>
              </a:rPr>
              <a:t> All interactions and transactions logged for accountability.</a:t>
            </a:r>
            <a:endParaRPr lang="en-US" sz="2200" dirty="0">
              <a:latin typeface="Aptos"/>
            </a:endParaRPr>
          </a:p>
          <a:p>
            <a:pPr>
              <a:lnSpc>
                <a:spcPct val="100000"/>
              </a:lnSpc>
            </a:pPr>
            <a:endParaRPr lang="en-US" sz="2200" dirty="0">
              <a:latin typeface="Aptos"/>
            </a:endParaRPr>
          </a:p>
        </p:txBody>
      </p:sp>
      <p:pic>
        <p:nvPicPr>
          <p:cNvPr id="5" name="Picture 4" descr="A 3D pattern of ring shapes connected by lines">
            <a:extLst>
              <a:ext uri="{FF2B5EF4-FFF2-40B4-BE49-F238E27FC236}">
                <a16:creationId xmlns:a16="http://schemas.microsoft.com/office/drawing/2014/main" id="{10498ECE-EE02-0155-04F0-0CDF60B48CB0}"/>
              </a:ext>
            </a:extLst>
          </p:cNvPr>
          <p:cNvPicPr>
            <a:picLocks noChangeAspect="1"/>
          </p:cNvPicPr>
          <p:nvPr/>
        </p:nvPicPr>
        <p:blipFill rotWithShape="1">
          <a:blip r:embed="rId2"/>
          <a:srcRect l="15973" r="50803" b="-2"/>
          <a:stretch/>
        </p:blipFill>
        <p:spPr>
          <a:xfrm>
            <a:off x="8141399" y="10"/>
            <a:ext cx="4050601" cy="6857990"/>
          </a:xfrm>
          <a:custGeom>
            <a:avLst/>
            <a:gdLst/>
            <a:ahLst/>
            <a:cxnLst/>
            <a:rect l="l" t="t" r="r" b="b"/>
            <a:pathLst>
              <a:path w="4050601" h="6858000">
                <a:moveTo>
                  <a:pt x="26697" y="0"/>
                </a:moveTo>
                <a:lnTo>
                  <a:pt x="4050601" y="0"/>
                </a:lnTo>
                <a:lnTo>
                  <a:pt x="4050601" y="6858000"/>
                </a:lnTo>
                <a:lnTo>
                  <a:pt x="28376" y="6858000"/>
                </a:lnTo>
                <a:lnTo>
                  <a:pt x="28782" y="6851321"/>
                </a:lnTo>
                <a:cubicBezTo>
                  <a:pt x="31911" y="6730915"/>
                  <a:pt x="35027" y="6610471"/>
                  <a:pt x="38157" y="6489990"/>
                </a:cubicBezTo>
                <a:cubicBezTo>
                  <a:pt x="38284" y="6484913"/>
                  <a:pt x="39171" y="6479963"/>
                  <a:pt x="39171" y="6474886"/>
                </a:cubicBezTo>
                <a:cubicBezTo>
                  <a:pt x="48166" y="6361042"/>
                  <a:pt x="53107" y="6247198"/>
                  <a:pt x="18899" y="6136019"/>
                </a:cubicBezTo>
                <a:cubicBezTo>
                  <a:pt x="15871" y="6125573"/>
                  <a:pt x="14262" y="6114773"/>
                  <a:pt x="14084" y="6103909"/>
                </a:cubicBezTo>
                <a:cubicBezTo>
                  <a:pt x="12413" y="6006983"/>
                  <a:pt x="16644" y="5910056"/>
                  <a:pt x="26754" y="5813650"/>
                </a:cubicBezTo>
                <a:cubicBezTo>
                  <a:pt x="31949" y="5754507"/>
                  <a:pt x="26754" y="5694475"/>
                  <a:pt x="43478" y="5635967"/>
                </a:cubicBezTo>
                <a:cubicBezTo>
                  <a:pt x="50864" y="5606890"/>
                  <a:pt x="55109" y="5577103"/>
                  <a:pt x="56147" y="5547125"/>
                </a:cubicBezTo>
                <a:cubicBezTo>
                  <a:pt x="59948" y="5474529"/>
                  <a:pt x="38537" y="5406248"/>
                  <a:pt x="18139" y="5337713"/>
                </a:cubicBezTo>
                <a:cubicBezTo>
                  <a:pt x="7370" y="5301414"/>
                  <a:pt x="-5426" y="5264355"/>
                  <a:pt x="2429" y="5226280"/>
                </a:cubicBezTo>
                <a:cubicBezTo>
                  <a:pt x="16707" y="5167720"/>
                  <a:pt x="24854" y="5107828"/>
                  <a:pt x="26754" y="5047581"/>
                </a:cubicBezTo>
                <a:cubicBezTo>
                  <a:pt x="26754" y="5004937"/>
                  <a:pt x="16365" y="4963181"/>
                  <a:pt x="20039" y="4920664"/>
                </a:cubicBezTo>
                <a:cubicBezTo>
                  <a:pt x="28211" y="4838181"/>
                  <a:pt x="30238" y="4755203"/>
                  <a:pt x="26121" y="4672415"/>
                </a:cubicBezTo>
                <a:cubicBezTo>
                  <a:pt x="26095" y="4639315"/>
                  <a:pt x="29846" y="4606317"/>
                  <a:pt x="37270" y="4574054"/>
                </a:cubicBezTo>
                <a:cubicBezTo>
                  <a:pt x="46506" y="4517120"/>
                  <a:pt x="48419" y="4459246"/>
                  <a:pt x="42971" y="4401829"/>
                </a:cubicBezTo>
                <a:cubicBezTo>
                  <a:pt x="37016" y="4335324"/>
                  <a:pt x="19279" y="4269835"/>
                  <a:pt x="14845" y="4203331"/>
                </a:cubicBezTo>
                <a:cubicBezTo>
                  <a:pt x="7876" y="4093167"/>
                  <a:pt x="17759" y="3983003"/>
                  <a:pt x="27514" y="3873347"/>
                </a:cubicBezTo>
                <a:cubicBezTo>
                  <a:pt x="35116" y="3803010"/>
                  <a:pt x="37143" y="3732178"/>
                  <a:pt x="33596" y="3661523"/>
                </a:cubicBezTo>
                <a:cubicBezTo>
                  <a:pt x="29161" y="3605426"/>
                  <a:pt x="22193" y="3549329"/>
                  <a:pt x="20926" y="3493232"/>
                </a:cubicBezTo>
                <a:cubicBezTo>
                  <a:pt x="18646" y="3392967"/>
                  <a:pt x="19532" y="3292703"/>
                  <a:pt x="25360" y="3192439"/>
                </a:cubicBezTo>
                <a:cubicBezTo>
                  <a:pt x="28274" y="3142180"/>
                  <a:pt x="32962" y="3092429"/>
                  <a:pt x="34989" y="3041789"/>
                </a:cubicBezTo>
                <a:cubicBezTo>
                  <a:pt x="37016" y="2991149"/>
                  <a:pt x="41071" y="2940002"/>
                  <a:pt x="29542" y="2890377"/>
                </a:cubicBezTo>
                <a:cubicBezTo>
                  <a:pt x="10030" y="2805978"/>
                  <a:pt x="24347" y="2721959"/>
                  <a:pt x="28528" y="2637813"/>
                </a:cubicBezTo>
                <a:cubicBezTo>
                  <a:pt x="31062" y="2585523"/>
                  <a:pt x="46266" y="2531964"/>
                  <a:pt x="32836" y="2481198"/>
                </a:cubicBezTo>
                <a:cubicBezTo>
                  <a:pt x="11677" y="2401621"/>
                  <a:pt x="25487" y="2323694"/>
                  <a:pt x="32836" y="2245386"/>
                </a:cubicBezTo>
                <a:cubicBezTo>
                  <a:pt x="41311" y="2171280"/>
                  <a:pt x="39816" y="2096361"/>
                  <a:pt x="28401" y="2022648"/>
                </a:cubicBezTo>
                <a:cubicBezTo>
                  <a:pt x="14084" y="1949518"/>
                  <a:pt x="14084" y="1874307"/>
                  <a:pt x="28401" y="1801178"/>
                </a:cubicBezTo>
                <a:cubicBezTo>
                  <a:pt x="40260" y="1740816"/>
                  <a:pt x="41628" y="1678868"/>
                  <a:pt x="32455" y="1618037"/>
                </a:cubicBezTo>
                <a:cubicBezTo>
                  <a:pt x="26247" y="1574505"/>
                  <a:pt x="15098" y="1531226"/>
                  <a:pt x="13578" y="1487694"/>
                </a:cubicBezTo>
                <a:cubicBezTo>
                  <a:pt x="10436" y="1396656"/>
                  <a:pt x="12298" y="1305517"/>
                  <a:pt x="19153" y="1214696"/>
                </a:cubicBezTo>
                <a:cubicBezTo>
                  <a:pt x="27134" y="1111259"/>
                  <a:pt x="42464" y="1008202"/>
                  <a:pt x="31822" y="904004"/>
                </a:cubicBezTo>
                <a:cubicBezTo>
                  <a:pt x="28148" y="868213"/>
                  <a:pt x="20673" y="832549"/>
                  <a:pt x="19913" y="796632"/>
                </a:cubicBezTo>
                <a:cubicBezTo>
                  <a:pt x="18266" y="729366"/>
                  <a:pt x="17505" y="662989"/>
                  <a:pt x="21306" y="593565"/>
                </a:cubicBezTo>
                <a:cubicBezTo>
                  <a:pt x="25107" y="524142"/>
                  <a:pt x="39550" y="453703"/>
                  <a:pt x="29795" y="385549"/>
                </a:cubicBezTo>
                <a:cubicBezTo>
                  <a:pt x="20039" y="317394"/>
                  <a:pt x="26374" y="250382"/>
                  <a:pt x="32709" y="183497"/>
                </a:cubicBezTo>
                <a:cubicBezTo>
                  <a:pt x="35750" y="151705"/>
                  <a:pt x="37809" y="120261"/>
                  <a:pt x="37254" y="88945"/>
                </a:cubicBezTo>
                <a:close/>
              </a:path>
            </a:pathLst>
          </a:custGeom>
        </p:spPr>
      </p:pic>
    </p:spTree>
    <p:extLst>
      <p:ext uri="{BB962C8B-B14F-4D97-AF65-F5344CB8AC3E}">
        <p14:creationId xmlns:p14="http://schemas.microsoft.com/office/powerpoint/2010/main" val="1084304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24E19-77D1-524C-1032-09C4379A73D0}"/>
              </a:ext>
            </a:extLst>
          </p:cNvPr>
          <p:cNvSpPr>
            <a:spLocks noGrp="1"/>
          </p:cNvSpPr>
          <p:nvPr>
            <p:ph type="title"/>
          </p:nvPr>
        </p:nvSpPr>
        <p:spPr>
          <a:xfrm>
            <a:off x="4654296" y="329184"/>
            <a:ext cx="6894576" cy="1783080"/>
          </a:xfrm>
        </p:spPr>
        <p:txBody>
          <a:bodyPr anchor="b">
            <a:normAutofit/>
          </a:bodyPr>
          <a:lstStyle/>
          <a:p>
            <a:r>
              <a:rPr lang="en-US" sz="7200"/>
              <a:t>DIGITAL CONTRACTS?</a:t>
            </a:r>
          </a:p>
        </p:txBody>
      </p:sp>
      <p:pic>
        <p:nvPicPr>
          <p:cNvPr id="14" name="Picture 13" descr="Programming data on computer monitor">
            <a:extLst>
              <a:ext uri="{FF2B5EF4-FFF2-40B4-BE49-F238E27FC236}">
                <a16:creationId xmlns:a16="http://schemas.microsoft.com/office/drawing/2014/main" id="{7F503554-A55C-08B2-78E3-CEC51D261EF8}"/>
              </a:ext>
            </a:extLst>
          </p:cNvPr>
          <p:cNvPicPr>
            <a:picLocks noChangeAspect="1"/>
          </p:cNvPicPr>
          <p:nvPr/>
        </p:nvPicPr>
        <p:blipFill rotWithShape="1">
          <a:blip r:embed="rId2"/>
          <a:srcRect l="48524" r="12090" b="-3"/>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5"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45E7FC"/>
          </a:solidFill>
          <a:ln w="38100" cap="rnd">
            <a:solidFill>
              <a:srgbClr val="45E7FC"/>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431821-B03D-BDB0-AF56-5D33C3BA9C43}"/>
              </a:ext>
            </a:extLst>
          </p:cNvPr>
          <p:cNvSpPr>
            <a:spLocks noGrp="1"/>
          </p:cNvSpPr>
          <p:nvPr>
            <p:ph idx="1"/>
          </p:nvPr>
        </p:nvSpPr>
        <p:spPr>
          <a:xfrm>
            <a:off x="4654296" y="2706624"/>
            <a:ext cx="6894576" cy="3483864"/>
          </a:xfrm>
        </p:spPr>
        <p:txBody>
          <a:bodyPr vert="horz" lIns="91440" tIns="45720" rIns="91440" bIns="45720" rtlCol="0">
            <a:normAutofit/>
          </a:bodyPr>
          <a:lstStyle/>
          <a:p>
            <a:pPr>
              <a:lnSpc>
                <a:spcPct val="100000"/>
              </a:lnSpc>
            </a:pPr>
            <a:r>
              <a:rPr lang="en-US" sz="2400" b="1">
                <a:latin typeface="Aptos"/>
                <a:ea typeface="+mn-lt"/>
                <a:cs typeface="+mn-lt"/>
              </a:rPr>
              <a:t>Smart Contracts:</a:t>
            </a:r>
            <a:r>
              <a:rPr lang="en-US" sz="2400">
                <a:latin typeface="Aptos"/>
                <a:ea typeface="+mn-lt"/>
                <a:cs typeface="+mn-lt"/>
              </a:rPr>
              <a:t> Utilize blockchain technology for secure, automated agreements.</a:t>
            </a:r>
            <a:endParaRPr lang="en-US" sz="2400">
              <a:latin typeface="Aptos"/>
            </a:endParaRPr>
          </a:p>
          <a:p>
            <a:pPr>
              <a:lnSpc>
                <a:spcPct val="100000"/>
              </a:lnSpc>
            </a:pPr>
            <a:r>
              <a:rPr lang="en-US" sz="2400" b="1">
                <a:latin typeface="Aptos"/>
                <a:ea typeface="+mn-lt"/>
                <a:cs typeface="+mn-lt"/>
              </a:rPr>
              <a:t>Transparency:</a:t>
            </a:r>
            <a:r>
              <a:rPr lang="en-US" sz="2400">
                <a:latin typeface="Aptos"/>
                <a:ea typeface="+mn-lt"/>
                <a:cs typeface="+mn-lt"/>
              </a:rPr>
              <a:t> Ensure transparency and immutability in contract execution.</a:t>
            </a:r>
            <a:endParaRPr lang="en-US" sz="2400">
              <a:latin typeface="Aptos"/>
            </a:endParaRPr>
          </a:p>
          <a:p>
            <a:pPr>
              <a:lnSpc>
                <a:spcPct val="100000"/>
              </a:lnSpc>
            </a:pPr>
            <a:r>
              <a:rPr lang="en-US" sz="2400" b="1">
                <a:latin typeface="Aptos"/>
                <a:ea typeface="+mn-lt"/>
                <a:cs typeface="+mn-lt"/>
              </a:rPr>
              <a:t>Digital Signatures:</a:t>
            </a:r>
            <a:r>
              <a:rPr lang="en-US" sz="2400">
                <a:latin typeface="Aptos"/>
                <a:ea typeface="+mn-lt"/>
                <a:cs typeface="+mn-lt"/>
              </a:rPr>
              <a:t> Implement digital signatures for authentication and compliance, streamlining the contract process and ensuring legality.</a:t>
            </a:r>
            <a:endParaRPr lang="en-US" sz="2400">
              <a:latin typeface="Aptos"/>
            </a:endParaRPr>
          </a:p>
          <a:p>
            <a:pPr>
              <a:lnSpc>
                <a:spcPct val="100000"/>
              </a:lnSpc>
            </a:pPr>
            <a:endParaRPr lang="en-US" sz="2400">
              <a:latin typeface="Aptos"/>
            </a:endParaRPr>
          </a:p>
        </p:txBody>
      </p:sp>
    </p:spTree>
    <p:extLst>
      <p:ext uri="{BB962C8B-B14F-4D97-AF65-F5344CB8AC3E}">
        <p14:creationId xmlns:p14="http://schemas.microsoft.com/office/powerpoint/2010/main" val="3496996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blockchain&#10;&#10;Description automatically generated">
            <a:extLst>
              <a:ext uri="{FF2B5EF4-FFF2-40B4-BE49-F238E27FC236}">
                <a16:creationId xmlns:a16="http://schemas.microsoft.com/office/drawing/2014/main" id="{A94B087D-FC83-F096-6BAE-52CDBE2A37CB}"/>
              </a:ext>
            </a:extLst>
          </p:cNvPr>
          <p:cNvPicPr>
            <a:picLocks noGrp="1" noChangeAspect="1"/>
          </p:cNvPicPr>
          <p:nvPr>
            <p:ph idx="1"/>
          </p:nvPr>
        </p:nvPicPr>
        <p:blipFill>
          <a:blip r:embed="rId2"/>
          <a:stretch>
            <a:fillRect/>
          </a:stretch>
        </p:blipFill>
        <p:spPr>
          <a:xfrm>
            <a:off x="2393254" y="628745"/>
            <a:ext cx="7405494" cy="5603081"/>
          </a:xfrm>
        </p:spPr>
      </p:pic>
    </p:spTree>
    <p:extLst>
      <p:ext uri="{BB962C8B-B14F-4D97-AF65-F5344CB8AC3E}">
        <p14:creationId xmlns:p14="http://schemas.microsoft.com/office/powerpoint/2010/main" val="2045028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0946F7-B8E7-4BF7-63E8-F380317FA387}"/>
              </a:ext>
            </a:extLst>
          </p:cNvPr>
          <p:cNvSpPr>
            <a:spLocks noGrp="1"/>
          </p:cNvSpPr>
          <p:nvPr>
            <p:ph type="title"/>
          </p:nvPr>
        </p:nvSpPr>
        <p:spPr>
          <a:xfrm>
            <a:off x="5297762" y="329184"/>
            <a:ext cx="6251110" cy="1783080"/>
          </a:xfrm>
        </p:spPr>
        <p:txBody>
          <a:bodyPr anchor="b">
            <a:normAutofit/>
          </a:bodyPr>
          <a:lstStyle/>
          <a:p>
            <a:pPr>
              <a:lnSpc>
                <a:spcPct val="90000"/>
              </a:lnSpc>
            </a:pPr>
            <a:r>
              <a:rPr lang="en-US" sz="6100"/>
              <a:t>Where should we improve?</a:t>
            </a:r>
          </a:p>
        </p:txBody>
      </p:sp>
      <p:sp>
        <p:nvSpPr>
          <p:cNvPr id="14"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E4674F"/>
          </a:solidFill>
          <a:ln w="38100" cap="rnd">
            <a:solidFill>
              <a:srgbClr val="E4674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3B0FE4FC-796D-EFF2-5EC0-0C14BD18020F}"/>
              </a:ext>
            </a:extLst>
          </p:cNvPr>
          <p:cNvSpPr>
            <a:spLocks noGrp="1"/>
          </p:cNvSpPr>
          <p:nvPr>
            <p:ph idx="1"/>
          </p:nvPr>
        </p:nvSpPr>
        <p:spPr>
          <a:xfrm>
            <a:off x="5297762" y="2706624"/>
            <a:ext cx="6251110" cy="3995832"/>
          </a:xfrm>
        </p:spPr>
        <p:txBody>
          <a:bodyPr vert="horz" lIns="91440" tIns="45720" rIns="91440" bIns="45720" rtlCol="0" anchor="t">
            <a:noAutofit/>
          </a:bodyPr>
          <a:lstStyle/>
          <a:p>
            <a:pPr>
              <a:lnSpc>
                <a:spcPct val="100000"/>
              </a:lnSpc>
            </a:pPr>
            <a:r>
              <a:rPr lang="en-US" sz="2200" dirty="0">
                <a:latin typeface="Arial"/>
                <a:cs typeface="Arial"/>
              </a:rPr>
              <a:t>UML Use-Case diagrams</a:t>
            </a:r>
            <a:endParaRPr lang="en-US" sz="2200" dirty="0"/>
          </a:p>
          <a:p>
            <a:pPr>
              <a:lnSpc>
                <a:spcPct val="100000"/>
              </a:lnSpc>
            </a:pPr>
            <a:r>
              <a:rPr lang="en-US" sz="2200" dirty="0">
                <a:latin typeface="Arial"/>
                <a:cs typeface="Arial"/>
              </a:rPr>
              <a:t>UML Activity diagrams</a:t>
            </a:r>
          </a:p>
          <a:p>
            <a:pPr>
              <a:lnSpc>
                <a:spcPct val="100000"/>
              </a:lnSpc>
            </a:pPr>
            <a:r>
              <a:rPr lang="en-US" sz="2200" dirty="0">
                <a:latin typeface="Arial"/>
                <a:cs typeface="Arial"/>
              </a:rPr>
              <a:t>Process Landscape (Company Map)</a:t>
            </a:r>
          </a:p>
          <a:p>
            <a:pPr>
              <a:lnSpc>
                <a:spcPct val="100000"/>
              </a:lnSpc>
            </a:pPr>
            <a:r>
              <a:rPr lang="en-US" sz="2200" dirty="0">
                <a:latin typeface="Arial"/>
                <a:cs typeface="Arial"/>
              </a:rPr>
              <a:t>Improvements in the architecture (draw.io diagram)</a:t>
            </a:r>
          </a:p>
          <a:p>
            <a:pPr>
              <a:lnSpc>
                <a:spcPct val="100000"/>
              </a:lnSpc>
            </a:pPr>
            <a:r>
              <a:rPr lang="en-US" sz="2200" dirty="0">
                <a:latin typeface="Arial"/>
                <a:cs typeface="Arial"/>
              </a:rPr>
              <a:t>Think and agree about how contracts should be implemented, all while respecting the laws and ensuring data privacy and protection</a:t>
            </a:r>
          </a:p>
          <a:p>
            <a:pPr>
              <a:lnSpc>
                <a:spcPct val="100000"/>
              </a:lnSpc>
            </a:pPr>
            <a:r>
              <a:rPr lang="en-US" sz="2200" dirty="0">
                <a:latin typeface="Arial"/>
                <a:cs typeface="Arial"/>
              </a:rPr>
              <a:t>Define how should workers get their payments</a:t>
            </a:r>
          </a:p>
          <a:p>
            <a:pPr>
              <a:lnSpc>
                <a:spcPct val="100000"/>
              </a:lnSpc>
            </a:pPr>
            <a:endParaRPr lang="en-US" sz="2200" dirty="0">
              <a:latin typeface="Arial"/>
              <a:cs typeface="Arial"/>
            </a:endParaRPr>
          </a:p>
          <a:p>
            <a:pPr>
              <a:lnSpc>
                <a:spcPct val="100000"/>
              </a:lnSpc>
            </a:pPr>
            <a:endParaRPr lang="en-US" sz="2200" dirty="0"/>
          </a:p>
        </p:txBody>
      </p:sp>
      <p:pic>
        <p:nvPicPr>
          <p:cNvPr id="16" name="Picture 15" descr="Cubes connected with a red line">
            <a:extLst>
              <a:ext uri="{FF2B5EF4-FFF2-40B4-BE49-F238E27FC236}">
                <a16:creationId xmlns:a16="http://schemas.microsoft.com/office/drawing/2014/main" id="{1B8916B2-BD59-D200-3663-F501B19AEF42}"/>
              </a:ext>
            </a:extLst>
          </p:cNvPr>
          <p:cNvPicPr>
            <a:picLocks noChangeAspect="1"/>
          </p:cNvPicPr>
          <p:nvPr/>
        </p:nvPicPr>
        <p:blipFill rotWithShape="1">
          <a:blip r:embed="rId2"/>
          <a:srcRect l="29276" r="18494" b="-6"/>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825681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B81C611-4233-EF0D-7A13-D04AB63C2F59}"/>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POSSIBLE ISSUES</a:t>
            </a:r>
          </a:p>
        </p:txBody>
      </p:sp>
      <p:graphicFrame>
        <p:nvGraphicFramePr>
          <p:cNvPr id="15" name="Content Placeholder 2">
            <a:extLst>
              <a:ext uri="{FF2B5EF4-FFF2-40B4-BE49-F238E27FC236}">
                <a16:creationId xmlns:a16="http://schemas.microsoft.com/office/drawing/2014/main" id="{8D92A4A9-A34F-3203-DB90-CA6919A5655E}"/>
              </a:ext>
            </a:extLst>
          </p:cNvPr>
          <p:cNvGraphicFramePr>
            <a:graphicFrameLocks noGrp="1"/>
          </p:cNvGraphicFramePr>
          <p:nvPr>
            <p:ph idx="1"/>
            <p:extLst>
              <p:ext uri="{D42A27DB-BD31-4B8C-83A1-F6EECF244321}">
                <p14:modId xmlns:p14="http://schemas.microsoft.com/office/powerpoint/2010/main" val="43194177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352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0F6DA8E-FAE5-4C9F-C11F-E26266A4B328}"/>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LAW REGULATIONS</a:t>
            </a:r>
          </a:p>
        </p:txBody>
      </p:sp>
      <p:graphicFrame>
        <p:nvGraphicFramePr>
          <p:cNvPr id="5" name="Content Placeholder 2">
            <a:extLst>
              <a:ext uri="{FF2B5EF4-FFF2-40B4-BE49-F238E27FC236}">
                <a16:creationId xmlns:a16="http://schemas.microsoft.com/office/drawing/2014/main" id="{CB392839-63BE-AB31-170B-C3B2C5FA88EE}"/>
              </a:ext>
            </a:extLst>
          </p:cNvPr>
          <p:cNvGraphicFramePr>
            <a:graphicFrameLocks noGrp="1"/>
          </p:cNvGraphicFramePr>
          <p:nvPr>
            <p:ph idx="1"/>
            <p:extLst>
              <p:ext uri="{D42A27DB-BD31-4B8C-83A1-F6EECF244321}">
                <p14:modId xmlns:p14="http://schemas.microsoft.com/office/powerpoint/2010/main" val="946811891"/>
              </p:ext>
            </p:extLst>
          </p:nvPr>
        </p:nvGraphicFramePr>
        <p:xfrm>
          <a:off x="3743144" y="-2114"/>
          <a:ext cx="8436417" cy="68577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441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772294-7174-5221-181C-7FC3CCB74034}"/>
              </a:ext>
            </a:extLst>
          </p:cNvPr>
          <p:cNvSpPr>
            <a:spLocks noGrp="1"/>
          </p:cNvSpPr>
          <p:nvPr>
            <p:ph type="title"/>
          </p:nvPr>
        </p:nvSpPr>
        <p:spPr>
          <a:xfrm>
            <a:off x="5297762" y="329184"/>
            <a:ext cx="6251110" cy="1783080"/>
          </a:xfrm>
        </p:spPr>
        <p:txBody>
          <a:bodyPr anchor="b">
            <a:normAutofit/>
          </a:bodyPr>
          <a:lstStyle/>
          <a:p>
            <a:r>
              <a:rPr lang="en-US" sz="7200"/>
              <a:t>CONCLUSION</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DE8A01"/>
          </a:solidFill>
          <a:ln w="38100" cap="rnd">
            <a:solidFill>
              <a:srgbClr val="DE8A0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1AD0BC-322C-A369-CFC7-01F54E0D92B6}"/>
              </a:ext>
            </a:extLst>
          </p:cNvPr>
          <p:cNvSpPr>
            <a:spLocks noGrp="1"/>
          </p:cNvSpPr>
          <p:nvPr>
            <p:ph idx="1"/>
          </p:nvPr>
        </p:nvSpPr>
        <p:spPr>
          <a:xfrm>
            <a:off x="5297762" y="2706624"/>
            <a:ext cx="6251110" cy="3972020"/>
          </a:xfrm>
        </p:spPr>
        <p:txBody>
          <a:bodyPr vert="horz" lIns="91440" tIns="45720" rIns="91440" bIns="45720" rtlCol="0" anchor="t">
            <a:noAutofit/>
          </a:bodyPr>
          <a:lstStyle/>
          <a:p>
            <a:pPr>
              <a:lnSpc>
                <a:spcPct val="100000"/>
              </a:lnSpc>
            </a:pPr>
            <a:r>
              <a:rPr lang="en-US" sz="2200" dirty="0">
                <a:latin typeface="Aptos"/>
                <a:ea typeface="+mn-lt"/>
                <a:cs typeface="+mn-lt"/>
              </a:rPr>
              <a:t>Our shared workforce project presents an innovative solution to the challenges of modern workforce management. By prioritizing technology and collaboration, we aim to revolutionize how companies address fluctuations in demand and idle workforce situations. While we acknowledge potential challenges, we are committed to proactively addressing them and continuously improving our project. </a:t>
            </a:r>
            <a:endParaRPr lang="en-US" sz="2200">
              <a:latin typeface="Aptos"/>
            </a:endParaRPr>
          </a:p>
        </p:txBody>
      </p:sp>
      <p:pic>
        <p:nvPicPr>
          <p:cNvPr id="5" name="Picture 4" descr="Puzzle pieces">
            <a:extLst>
              <a:ext uri="{FF2B5EF4-FFF2-40B4-BE49-F238E27FC236}">
                <a16:creationId xmlns:a16="http://schemas.microsoft.com/office/drawing/2014/main" id="{771F5066-CB6A-BB3F-DF92-BA5F77DB9926}"/>
              </a:ext>
            </a:extLst>
          </p:cNvPr>
          <p:cNvPicPr>
            <a:picLocks noChangeAspect="1"/>
          </p:cNvPicPr>
          <p:nvPr/>
        </p:nvPicPr>
        <p:blipFill rotWithShape="1">
          <a:blip r:embed="rId2"/>
          <a:srcRect l="31503" r="23403" b="7"/>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429918007"/>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SketchyVTI</vt:lpstr>
      <vt:lpstr>Design of governance in socio-technical information systems</vt:lpstr>
      <vt:lpstr>Introduction to shared workforce</vt:lpstr>
      <vt:lpstr>ESSENTIAL REQUIREMENTS</vt:lpstr>
      <vt:lpstr>STAKEHOLDERS</vt:lpstr>
      <vt:lpstr>THe components</vt:lpstr>
      <vt:lpstr>The process flow</vt:lpstr>
      <vt:lpstr>DIGITAL CONTRACTS?</vt:lpstr>
      <vt:lpstr>PowerPoint Presentation</vt:lpstr>
      <vt:lpstr>Where should we improve?</vt:lpstr>
      <vt:lpstr>POSSIBLE ISSUES</vt:lpstr>
      <vt:lpstr>LAW REGULATIONS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292</cp:revision>
  <dcterms:created xsi:type="dcterms:W3CDTF">2024-04-29T08:07:39Z</dcterms:created>
  <dcterms:modified xsi:type="dcterms:W3CDTF">2024-05-20T15:17:19Z</dcterms:modified>
</cp:coreProperties>
</file>