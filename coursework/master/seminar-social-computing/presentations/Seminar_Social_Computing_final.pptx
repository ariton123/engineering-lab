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57" r:id="rId3"/>
    <p:sldId id="258" r:id="rId4"/>
    <p:sldId id="259" r:id="rId5"/>
    <p:sldId id="261" r:id="rId6"/>
    <p:sldId id="262" r:id="rId7"/>
    <p:sldId id="264" r:id="rId8"/>
    <p:sldId id="272" r:id="rId9"/>
    <p:sldId id="265" r:id="rId10"/>
    <p:sldId id="273" r:id="rId11"/>
    <p:sldId id="270" r:id="rId12"/>
    <p:sldId id="274" r:id="rId13"/>
    <p:sldId id="271" r:id="rId14"/>
    <p:sldId id="263" r:id="rId15"/>
    <p:sldId id="275" r:id="rId16"/>
    <p:sldId id="260" r:id="rId17"/>
    <p:sldId id="266" r:id="rId18"/>
    <p:sldId id="267"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85D6B6B-21F3-4859-9317-41E58AB8649A}">
          <p14:sldIdLst>
            <p14:sldId id="256"/>
            <p14:sldId id="257"/>
            <p14:sldId id="258"/>
            <p14:sldId id="259"/>
            <p14:sldId id="261"/>
            <p14:sldId id="262"/>
            <p14:sldId id="264"/>
            <p14:sldId id="272"/>
            <p14:sldId id="265"/>
            <p14:sldId id="273"/>
            <p14:sldId id="270"/>
            <p14:sldId id="274"/>
            <p14:sldId id="271"/>
            <p14:sldId id="263"/>
            <p14:sldId id="275"/>
            <p14:sldId id="260"/>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99480E-BD23-9B59-3296-015471BECEF2}" v="155" dt="2024-06-07T02:34:40.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101" autoAdjust="0"/>
    <p:restoredTop sz="94660"/>
  </p:normalViewPr>
  <p:slideViewPr>
    <p:cSldViewPr snapToGrid="0">
      <p:cViewPr varScale="1">
        <p:scale>
          <a:sx n="99" d="100"/>
          <a:sy n="99" d="100"/>
        </p:scale>
        <p:origin x="92" y="3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634470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61957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09821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852789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20778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73726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5439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76389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871629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74294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210949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515645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20114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188517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735649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11364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46CE7D5-CF57-46EF-B807-FDD0502418D4}" type="datetimeFigureOut">
              <a:rPr lang="en-US" smtClean="0"/>
              <a:t>6/6/2024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1278666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fastercapital.com/topics/addressing-bias-and-stereotypes.html" TargetMode="External"/><Relationship Id="rId2" Type="http://schemas.openxmlformats.org/officeDocument/2006/relationships/hyperlink" Target="https://www.linkedin.com/pulse/ethical-principles-influencing-changing-behaviour-scale-bart-schutz" TargetMode="External"/><Relationship Id="rId1" Type="http://schemas.openxmlformats.org/officeDocument/2006/relationships/slideLayout" Target="../slideLayouts/slideLayout2.xml"/><Relationship Id="rId4" Type="http://schemas.openxmlformats.org/officeDocument/2006/relationships/hyperlink" Target="https://www.aihr.com/blog/inclusive-hiring/"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53270"/>
            <a:ext cx="9144000" cy="2328069"/>
          </a:xfrm>
        </p:spPr>
        <p:txBody>
          <a:bodyPr/>
          <a:lstStyle/>
          <a:p>
            <a:pPr algn="ctr"/>
            <a:r>
              <a:rPr lang="en-US" sz="3600" b="1" dirty="0">
                <a:latin typeface="Calibri"/>
                <a:ea typeface="Calibri"/>
                <a:cs typeface="Calibri"/>
              </a:rPr>
              <a:t>ETHICAL CONSIDERATIONS IN SOCIAL COMPUTING: BALANCING PRIVACY, TRANSPARENCY, AND SOCIAL GOOD</a:t>
            </a:r>
            <a:endParaRPr lang="en-US" sz="3600" dirty="0">
              <a:latin typeface="Calibri"/>
              <a:ea typeface="Calibri"/>
              <a:cs typeface="Calibri"/>
            </a:endParaRPr>
          </a:p>
          <a:p>
            <a:endParaRPr lang="en-US" sz="3600" dirty="0">
              <a:latin typeface="Calibri"/>
              <a:ea typeface="Calibri"/>
              <a:cs typeface="Calibri"/>
            </a:endParaRPr>
          </a:p>
        </p:txBody>
      </p:sp>
      <p:sp>
        <p:nvSpPr>
          <p:cNvPr id="3" name="Subtitle 2"/>
          <p:cNvSpPr>
            <a:spLocks noGrp="1"/>
          </p:cNvSpPr>
          <p:nvPr>
            <p:ph type="subTitle" idx="1"/>
          </p:nvPr>
        </p:nvSpPr>
        <p:spPr>
          <a:xfrm>
            <a:off x="1524000" y="3428249"/>
            <a:ext cx="9144000" cy="923365"/>
          </a:xfrm>
        </p:spPr>
        <p:txBody>
          <a:bodyPr vert="horz" lIns="91440" tIns="45720" rIns="91440" bIns="45720" rtlCol="0" anchor="t">
            <a:normAutofit/>
          </a:bodyPr>
          <a:lstStyle/>
          <a:p>
            <a:pPr algn="ctr"/>
            <a:r>
              <a:rPr lang="en-US" sz="2800" i="1" dirty="0">
                <a:latin typeface="Calibri"/>
                <a:ea typeface="Calibri"/>
                <a:cs typeface="Calibri"/>
              </a:rPr>
              <a:t>Final presentation for the Seminar in Social Computing</a:t>
            </a:r>
            <a:endParaRPr lang="en-US" dirty="0">
              <a:latin typeface="Trebuchet MS" panose="020B0603020202020204"/>
              <a:ea typeface="Calibri"/>
              <a:cs typeface="Calibri"/>
            </a:endParaRPr>
          </a:p>
          <a:p>
            <a:pPr algn="ctr"/>
            <a:r>
              <a:rPr lang="en-US" sz="1600" u="sng" dirty="0">
                <a:solidFill>
                  <a:srgbClr val="000000"/>
                </a:solidFill>
                <a:latin typeface="Calibri"/>
                <a:cs typeface="Calibri"/>
              </a:rPr>
              <a:t>29.05.2024</a:t>
            </a:r>
            <a:endParaRPr lang="en-US" sz="1600" u="sng"/>
          </a:p>
        </p:txBody>
      </p:sp>
      <p:sp>
        <p:nvSpPr>
          <p:cNvPr id="4" name="TextBox 3">
            <a:extLst>
              <a:ext uri="{FF2B5EF4-FFF2-40B4-BE49-F238E27FC236}">
                <a16:creationId xmlns:a16="http://schemas.microsoft.com/office/drawing/2014/main" id="{F5900485-1F44-E64A-F225-385402C3BA46}"/>
              </a:ext>
            </a:extLst>
          </p:cNvPr>
          <p:cNvSpPr txBox="1"/>
          <p:nvPr/>
        </p:nvSpPr>
        <p:spPr>
          <a:xfrm>
            <a:off x="235148" y="5845969"/>
            <a:ext cx="1172765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libri"/>
                <a:ea typeface="Calibri"/>
                <a:cs typeface="Calibri"/>
              </a:rPr>
              <a:t>Martin </a:t>
            </a:r>
            <a:r>
              <a:rPr lang="en-US" sz="2000" dirty="0" err="1">
                <a:latin typeface="Calibri"/>
                <a:ea typeface="Calibri"/>
                <a:cs typeface="Calibri"/>
              </a:rPr>
              <a:t>Stojkovski</a:t>
            </a:r>
            <a:r>
              <a:rPr lang="en-US" sz="2000" dirty="0">
                <a:latin typeface="Calibri"/>
                <a:ea typeface="Calibri"/>
                <a:cs typeface="Calibri"/>
              </a:rPr>
              <a:t>                                                                                                                      Professor: Edy Portmann</a:t>
            </a:r>
          </a:p>
          <a:p>
            <a:r>
              <a:rPr lang="en-US" sz="2000" dirty="0">
                <a:latin typeface="Calibri"/>
                <a:ea typeface="Calibri"/>
                <a:cs typeface="Calibri"/>
              </a:rPr>
              <a:t>Ariton Verush                                                                                                                            Assistant: Narek </a:t>
            </a:r>
            <a:r>
              <a:rPr lang="en-US" sz="2000" dirty="0" err="1">
                <a:latin typeface="Calibri"/>
                <a:ea typeface="Calibri"/>
                <a:cs typeface="Calibri"/>
              </a:rPr>
              <a:t>Andreasyan</a:t>
            </a:r>
            <a:endParaRPr lang="en-US" dirty="0" err="1"/>
          </a:p>
          <a:p>
            <a:r>
              <a:rPr lang="en-US" sz="2000" dirty="0">
                <a:latin typeface="Calibri"/>
                <a:ea typeface="Calibri"/>
                <a:cs typeface="Calibri"/>
              </a:rPr>
              <a:t>Place: University of Bern                                                                                                         Place: University of Fribourg</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807BC-8E1C-DB7A-1E45-99C6B79F8664}"/>
              </a:ext>
            </a:extLst>
          </p:cNvPr>
          <p:cNvSpPr>
            <a:spLocks noGrp="1"/>
          </p:cNvSpPr>
          <p:nvPr>
            <p:ph type="title"/>
          </p:nvPr>
        </p:nvSpPr>
        <p:spPr/>
        <p:txBody>
          <a:bodyPr>
            <a:normAutofit/>
          </a:bodyPr>
          <a:lstStyle/>
          <a:p>
            <a:r>
              <a:rPr lang="en-US" sz="3600" b="1" dirty="0">
                <a:latin typeface="Calibri"/>
                <a:ea typeface="Calibri"/>
                <a:cs typeface="Calibri"/>
              </a:rPr>
              <a:t>Abstract</a:t>
            </a:r>
          </a:p>
        </p:txBody>
      </p:sp>
      <p:sp>
        <p:nvSpPr>
          <p:cNvPr id="3" name="Content Placeholder 2">
            <a:extLst>
              <a:ext uri="{FF2B5EF4-FFF2-40B4-BE49-F238E27FC236}">
                <a16:creationId xmlns:a16="http://schemas.microsoft.com/office/drawing/2014/main" id="{AE27D73D-E7D4-670F-E593-4B5EFEB34107}"/>
              </a:ext>
            </a:extLst>
          </p:cNvPr>
          <p:cNvSpPr>
            <a:spLocks noGrp="1"/>
          </p:cNvSpPr>
          <p:nvPr>
            <p:ph idx="1"/>
          </p:nvPr>
        </p:nvSpPr>
        <p:spPr>
          <a:xfrm>
            <a:off x="677334" y="2160590"/>
            <a:ext cx="8596668" cy="2952324"/>
          </a:xfrm>
        </p:spPr>
        <p:txBody>
          <a:bodyPr vert="horz" lIns="91440" tIns="45720" rIns="91440" bIns="45720" rtlCol="0" anchor="t">
            <a:normAutofit/>
          </a:bodyPr>
          <a:lstStyle/>
          <a:p>
            <a:pPr marL="0" indent="0">
              <a:buNone/>
            </a:pPr>
            <a:r>
              <a:rPr lang="en-US" sz="2200" dirty="0">
                <a:solidFill>
                  <a:srgbClr val="0D0D0D"/>
                </a:solidFill>
                <a:latin typeface="Calibri"/>
                <a:ea typeface="+mn-lt"/>
                <a:cs typeface="+mn-lt"/>
              </a:rPr>
              <a:t>In today's digital age, social computing technologies have changed how we interact and communicate. However, they also raise important ethical issues. This presentation explores these ethical concerns, focusing on fair treatment and discrimination against loaned employees. We will look at different viewpoints and introduce an Ethical Decision-Making Framework to ensure fair treatment of employees in shared workforce arrangements.</a:t>
            </a:r>
          </a:p>
        </p:txBody>
      </p:sp>
    </p:spTree>
    <p:extLst>
      <p:ext uri="{BB962C8B-B14F-4D97-AF65-F5344CB8AC3E}">
        <p14:creationId xmlns:p14="http://schemas.microsoft.com/office/powerpoint/2010/main" val="2683523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B1428-648D-3E53-1766-40B01F43BD0D}"/>
              </a:ext>
            </a:extLst>
          </p:cNvPr>
          <p:cNvSpPr>
            <a:spLocks noGrp="1"/>
          </p:cNvSpPr>
          <p:nvPr>
            <p:ph type="title"/>
          </p:nvPr>
        </p:nvSpPr>
        <p:spPr/>
        <p:txBody>
          <a:bodyPr>
            <a:normAutofit/>
          </a:bodyPr>
          <a:lstStyle/>
          <a:p>
            <a:r>
              <a:rPr lang="en-US" sz="3600" b="1" dirty="0">
                <a:solidFill>
                  <a:srgbClr val="0D0D0D"/>
                </a:solidFill>
                <a:latin typeface="Calibri"/>
                <a:ea typeface="Calibri"/>
                <a:cs typeface="Calibri"/>
              </a:rPr>
              <a:t>Introduction to Social Computing Ethics</a:t>
            </a:r>
            <a:endParaRPr lang="en-US" sz="3600" b="1">
              <a:latin typeface="Calibri"/>
              <a:ea typeface="Calibri"/>
              <a:cs typeface="Calibri"/>
            </a:endParaRPr>
          </a:p>
        </p:txBody>
      </p:sp>
      <p:sp>
        <p:nvSpPr>
          <p:cNvPr id="3" name="Content Placeholder 2">
            <a:extLst>
              <a:ext uri="{FF2B5EF4-FFF2-40B4-BE49-F238E27FC236}">
                <a16:creationId xmlns:a16="http://schemas.microsoft.com/office/drawing/2014/main" id="{DB78636B-670E-5732-B416-3104AB9E9332}"/>
              </a:ext>
            </a:extLst>
          </p:cNvPr>
          <p:cNvSpPr>
            <a:spLocks noGrp="1"/>
          </p:cNvSpPr>
          <p:nvPr>
            <p:ph idx="1"/>
          </p:nvPr>
        </p:nvSpPr>
        <p:spPr>
          <a:xfrm>
            <a:off x="677334" y="1930400"/>
            <a:ext cx="8596668" cy="3880773"/>
          </a:xfrm>
        </p:spPr>
        <p:txBody>
          <a:bodyPr vert="horz" lIns="91440" tIns="45720" rIns="91440" bIns="45720" rtlCol="0" anchor="t">
            <a:normAutofit fontScale="92500" lnSpcReduction="20000"/>
          </a:bodyPr>
          <a:lstStyle/>
          <a:p>
            <a:r>
              <a:rPr lang="en-US" b="1" dirty="0"/>
              <a:t>Universality</a:t>
            </a:r>
            <a:r>
              <a:rPr lang="en-US" sz="2200" b="1" dirty="0">
                <a:solidFill>
                  <a:srgbClr val="0D0D0D"/>
                </a:solidFill>
                <a:latin typeface="Calibri"/>
                <a:ea typeface="+mn-lt"/>
                <a:cs typeface="+mn-lt"/>
              </a:rPr>
              <a:t> of Social Computing</a:t>
            </a:r>
            <a:r>
              <a:rPr lang="en-US" sz="2200" dirty="0">
                <a:solidFill>
                  <a:srgbClr val="0D0D0D"/>
                </a:solidFill>
                <a:latin typeface="Calibri"/>
                <a:ea typeface="+mn-lt"/>
                <a:cs typeface="+mn-lt"/>
              </a:rPr>
              <a:t>: High and low work demand in companies are common in modern life.</a:t>
            </a:r>
          </a:p>
          <a:p>
            <a:pPr marL="0" indent="0">
              <a:buNone/>
            </a:pPr>
            <a:endParaRPr lang="en-US" sz="2200" dirty="0">
              <a:solidFill>
                <a:srgbClr val="0D0D0D"/>
              </a:solidFill>
              <a:latin typeface="Calibri"/>
              <a:ea typeface="+mn-lt"/>
              <a:cs typeface="+mn-lt"/>
            </a:endParaRPr>
          </a:p>
          <a:p>
            <a:r>
              <a:rPr lang="en-US" sz="2200" b="1" dirty="0">
                <a:solidFill>
                  <a:srgbClr val="0D0D0D"/>
                </a:solidFill>
                <a:latin typeface="Calibri"/>
                <a:ea typeface="+mn-lt"/>
                <a:cs typeface="+mn-lt"/>
              </a:rPr>
              <a:t>Balancing Innovation with Ethics</a:t>
            </a:r>
            <a:r>
              <a:rPr lang="en-US" sz="2200" dirty="0">
                <a:solidFill>
                  <a:srgbClr val="0D0D0D"/>
                </a:solidFill>
                <a:latin typeface="Calibri"/>
                <a:ea typeface="+mn-lt"/>
                <a:cs typeface="+mn-lt"/>
              </a:rPr>
              <a:t>: Technological advancements for workers must be aligned with the protection of user rights and values.</a:t>
            </a:r>
          </a:p>
          <a:p>
            <a:pPr marL="0" indent="0">
              <a:buNone/>
            </a:pPr>
            <a:endParaRPr lang="en-US" sz="2200" dirty="0">
              <a:solidFill>
                <a:srgbClr val="0D0D0D"/>
              </a:solidFill>
              <a:latin typeface="Calibri"/>
              <a:ea typeface="+mn-lt"/>
              <a:cs typeface="+mn-lt"/>
            </a:endParaRPr>
          </a:p>
          <a:p>
            <a:r>
              <a:rPr lang="en-US" sz="2200" b="1" dirty="0">
                <a:solidFill>
                  <a:srgbClr val="0D0D0D"/>
                </a:solidFill>
                <a:latin typeface="Calibri"/>
                <a:ea typeface="+mn-lt"/>
                <a:cs typeface="+mn-lt"/>
              </a:rPr>
              <a:t>Workforce Dynamics</a:t>
            </a:r>
            <a:r>
              <a:rPr lang="en-US" sz="2200" dirty="0">
                <a:solidFill>
                  <a:srgbClr val="0D0D0D"/>
                </a:solidFill>
                <a:latin typeface="Calibri"/>
                <a:ea typeface="+mn-lt"/>
                <a:cs typeface="+mn-lt"/>
              </a:rPr>
              <a:t>: The increasing trend of companies sharing employees brings new ethical challenges, particularly concerning the treatment of loaned employees.</a:t>
            </a:r>
            <a:endParaRPr lang="en-US" sz="2200" dirty="0">
              <a:solidFill>
                <a:srgbClr val="0D0D0D"/>
              </a:solidFill>
              <a:latin typeface="Aptos"/>
              <a:ea typeface="Calibri"/>
              <a:cs typeface="Calibri"/>
            </a:endParaRPr>
          </a:p>
          <a:p>
            <a:pPr marL="0" indent="0">
              <a:buNone/>
            </a:pPr>
            <a:endParaRPr lang="en-US" sz="2200" dirty="0">
              <a:solidFill>
                <a:srgbClr val="0D0D0D"/>
              </a:solidFill>
              <a:latin typeface="Calibri"/>
              <a:ea typeface="+mn-lt"/>
              <a:cs typeface="+mn-lt"/>
            </a:endParaRPr>
          </a:p>
          <a:p>
            <a:r>
              <a:rPr lang="en-US" sz="2200" b="1" dirty="0">
                <a:solidFill>
                  <a:srgbClr val="0D0D0D"/>
                </a:solidFill>
                <a:latin typeface="Calibri"/>
                <a:ea typeface="+mn-lt"/>
                <a:cs typeface="+mn-lt"/>
              </a:rPr>
              <a:t>Recent Ethical Issues</a:t>
            </a:r>
            <a:r>
              <a:rPr lang="en-US" sz="2200" dirty="0">
                <a:solidFill>
                  <a:srgbClr val="0D0D0D"/>
                </a:solidFill>
                <a:latin typeface="Calibri"/>
                <a:ea typeface="+mn-lt"/>
                <a:cs typeface="+mn-lt"/>
              </a:rPr>
              <a:t>: Highlight the urgency of addressing ethical concerns in social computing, especially in workforce management.</a:t>
            </a:r>
            <a:endParaRPr lang="en-US" sz="2200" dirty="0">
              <a:latin typeface="Calibri"/>
              <a:ea typeface="+mn-lt"/>
              <a:cs typeface="+mn-lt"/>
            </a:endParaRPr>
          </a:p>
          <a:p>
            <a:pPr marL="0" indent="0">
              <a:buNone/>
            </a:pPr>
            <a:endParaRPr lang="en-US" sz="2200" dirty="0">
              <a:solidFill>
                <a:srgbClr val="0D0D0D"/>
              </a:solidFill>
              <a:latin typeface="Calibri"/>
              <a:ea typeface="Calibri"/>
              <a:cs typeface="Calibri"/>
            </a:endParaRPr>
          </a:p>
        </p:txBody>
      </p:sp>
    </p:spTree>
    <p:extLst>
      <p:ext uri="{BB962C8B-B14F-4D97-AF65-F5344CB8AC3E}">
        <p14:creationId xmlns:p14="http://schemas.microsoft.com/office/powerpoint/2010/main" val="4057094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21E0-6C14-0ACC-04C8-C93B29602AD2}"/>
              </a:ext>
            </a:extLst>
          </p:cNvPr>
          <p:cNvSpPr>
            <a:spLocks noGrp="1"/>
          </p:cNvSpPr>
          <p:nvPr>
            <p:ph type="title"/>
          </p:nvPr>
        </p:nvSpPr>
        <p:spPr/>
        <p:txBody>
          <a:bodyPr>
            <a:normAutofit/>
          </a:bodyPr>
          <a:lstStyle/>
          <a:p>
            <a:r>
              <a:rPr lang="en-US" sz="3600" b="1" dirty="0">
                <a:latin typeface="Calibri"/>
                <a:ea typeface="Calibri"/>
                <a:cs typeface="Calibri"/>
              </a:rPr>
              <a:t>Elaborating on the pains</a:t>
            </a:r>
          </a:p>
        </p:txBody>
      </p:sp>
      <p:sp>
        <p:nvSpPr>
          <p:cNvPr id="3" name="Content Placeholder 2">
            <a:extLst>
              <a:ext uri="{FF2B5EF4-FFF2-40B4-BE49-F238E27FC236}">
                <a16:creationId xmlns:a16="http://schemas.microsoft.com/office/drawing/2014/main" id="{F5D703C8-5956-E9F3-004D-A2621B974423}"/>
              </a:ext>
            </a:extLst>
          </p:cNvPr>
          <p:cNvSpPr>
            <a:spLocks noGrp="1"/>
          </p:cNvSpPr>
          <p:nvPr>
            <p:ph idx="1"/>
          </p:nvPr>
        </p:nvSpPr>
        <p:spPr>
          <a:xfrm>
            <a:off x="838200" y="1359243"/>
            <a:ext cx="10515600" cy="5233087"/>
          </a:xfrm>
        </p:spPr>
        <p:txBody>
          <a:bodyPr vert="horz" lIns="91440" tIns="45720" rIns="91440" bIns="45720" rtlCol="0" anchor="t">
            <a:noAutofit/>
          </a:bodyPr>
          <a:lstStyle/>
          <a:p>
            <a:r>
              <a:rPr lang="en-US" sz="2200" b="1" dirty="0">
                <a:latin typeface="Calibri"/>
                <a:ea typeface="+mn-lt"/>
                <a:cs typeface="+mn-lt"/>
              </a:rPr>
              <a:t>Discrimination Against Loaned Employees</a:t>
            </a:r>
            <a:r>
              <a:rPr lang="en-US" sz="2200" dirty="0">
                <a:solidFill>
                  <a:srgbClr val="0D0D0D"/>
                </a:solidFill>
                <a:latin typeface="Calibri"/>
                <a:ea typeface="+mn-lt"/>
                <a:cs typeface="+mn-lt"/>
              </a:rPr>
              <a:t>:</a:t>
            </a:r>
            <a:endParaRPr lang="en-US" sz="2200" dirty="0">
              <a:latin typeface="Calibri"/>
              <a:ea typeface="Calibri"/>
              <a:cs typeface="Calibri"/>
            </a:endParaRPr>
          </a:p>
          <a:p>
            <a:pPr lvl="1"/>
            <a:r>
              <a:rPr lang="en-US" sz="2000" b="1" dirty="0">
                <a:latin typeface="Calibri"/>
                <a:ea typeface="+mn-lt"/>
                <a:cs typeface="+mn-lt"/>
              </a:rPr>
              <a:t>Unequal Treatment</a:t>
            </a:r>
            <a:r>
              <a:rPr lang="en-US" sz="2000" dirty="0">
                <a:solidFill>
                  <a:srgbClr val="0D0D0D"/>
                </a:solidFill>
                <a:latin typeface="Calibri"/>
                <a:ea typeface="+mn-lt"/>
                <a:cs typeface="+mn-lt"/>
              </a:rPr>
              <a:t>: Loaned employees often face bias and unequal treatment compared to permanent staff.</a:t>
            </a:r>
            <a:endParaRPr lang="en-US" sz="2000" dirty="0">
              <a:latin typeface="Calibri"/>
              <a:ea typeface="Calibri"/>
              <a:cs typeface="Calibri"/>
            </a:endParaRPr>
          </a:p>
          <a:p>
            <a:pPr lvl="1"/>
            <a:r>
              <a:rPr lang="en-US" sz="2000" b="1" dirty="0">
                <a:latin typeface="Calibri"/>
                <a:ea typeface="+mn-lt"/>
                <a:cs typeface="+mn-lt"/>
              </a:rPr>
              <a:t>Job Security</a:t>
            </a:r>
            <a:r>
              <a:rPr lang="en-US" sz="2000" dirty="0">
                <a:solidFill>
                  <a:srgbClr val="0D0D0D"/>
                </a:solidFill>
                <a:latin typeface="Calibri"/>
                <a:ea typeface="+mn-lt"/>
                <a:cs typeface="+mn-lt"/>
              </a:rPr>
              <a:t>: Uncertainty about job stability and career advancement for loaned employees.</a:t>
            </a:r>
            <a:endParaRPr lang="en-US" sz="2000" dirty="0">
              <a:latin typeface="Calibri"/>
              <a:ea typeface="Calibri"/>
              <a:cs typeface="Calibri"/>
            </a:endParaRPr>
          </a:p>
          <a:p>
            <a:r>
              <a:rPr lang="en-US" sz="2200" b="1" dirty="0">
                <a:latin typeface="Calibri"/>
                <a:ea typeface="+mn-lt"/>
                <a:cs typeface="+mn-lt"/>
              </a:rPr>
              <a:t>Privacy Concerns</a:t>
            </a:r>
            <a:r>
              <a:rPr lang="en-US" sz="2200" dirty="0">
                <a:solidFill>
                  <a:srgbClr val="0D0D0D"/>
                </a:solidFill>
                <a:latin typeface="Calibri"/>
                <a:ea typeface="+mn-lt"/>
                <a:cs typeface="+mn-lt"/>
              </a:rPr>
              <a:t>:</a:t>
            </a:r>
            <a:endParaRPr lang="en-US" sz="2200" dirty="0">
              <a:latin typeface="Calibri"/>
              <a:ea typeface="Calibri"/>
              <a:cs typeface="Calibri"/>
            </a:endParaRPr>
          </a:p>
          <a:p>
            <a:pPr lvl="1"/>
            <a:r>
              <a:rPr lang="en-US" sz="2000" b="1" dirty="0">
                <a:latin typeface="Calibri"/>
                <a:ea typeface="+mn-lt"/>
                <a:cs typeface="+mn-lt"/>
              </a:rPr>
              <a:t>Data Handling</a:t>
            </a:r>
            <a:r>
              <a:rPr lang="en-US" sz="2000" dirty="0">
                <a:solidFill>
                  <a:srgbClr val="0D0D0D"/>
                </a:solidFill>
                <a:latin typeface="Calibri"/>
                <a:ea typeface="+mn-lt"/>
                <a:cs typeface="+mn-lt"/>
              </a:rPr>
              <a:t>: Sensitive employee information may be shared between companies without proper consent.</a:t>
            </a:r>
            <a:endParaRPr lang="en-US" sz="2000" dirty="0">
              <a:latin typeface="Calibri"/>
              <a:ea typeface="Calibri"/>
              <a:cs typeface="Calibri"/>
            </a:endParaRPr>
          </a:p>
          <a:p>
            <a:pPr lvl="1"/>
            <a:r>
              <a:rPr lang="en-US" sz="2000" b="1" dirty="0">
                <a:latin typeface="Calibri"/>
                <a:ea typeface="+mn-lt"/>
                <a:cs typeface="+mn-lt"/>
              </a:rPr>
              <a:t>Surveillance</a:t>
            </a:r>
            <a:r>
              <a:rPr lang="en-US" sz="2000" dirty="0">
                <a:solidFill>
                  <a:srgbClr val="0D0D0D"/>
                </a:solidFill>
                <a:latin typeface="Calibri"/>
                <a:ea typeface="+mn-lt"/>
                <a:cs typeface="+mn-lt"/>
              </a:rPr>
              <a:t>: Increased monitoring of loaned employees to assess performance.</a:t>
            </a:r>
            <a:endParaRPr lang="en-US" sz="2000" dirty="0">
              <a:latin typeface="Calibri"/>
              <a:ea typeface="Calibri"/>
              <a:cs typeface="Calibri"/>
            </a:endParaRPr>
          </a:p>
          <a:p>
            <a:r>
              <a:rPr lang="en-US" sz="2200" b="1" dirty="0">
                <a:latin typeface="Calibri"/>
                <a:ea typeface="+mn-lt"/>
                <a:cs typeface="+mn-lt"/>
              </a:rPr>
              <a:t>Transparency Challenges</a:t>
            </a:r>
            <a:r>
              <a:rPr lang="en-US" sz="2200" dirty="0">
                <a:solidFill>
                  <a:srgbClr val="0D0D0D"/>
                </a:solidFill>
                <a:latin typeface="Calibri"/>
                <a:ea typeface="+mn-lt"/>
                <a:cs typeface="+mn-lt"/>
              </a:rPr>
              <a:t>:</a:t>
            </a:r>
            <a:endParaRPr lang="en-US" sz="2200" dirty="0">
              <a:latin typeface="Calibri"/>
              <a:ea typeface="Calibri"/>
              <a:cs typeface="Calibri"/>
            </a:endParaRPr>
          </a:p>
          <a:p>
            <a:pPr lvl="1"/>
            <a:r>
              <a:rPr lang="en-US" sz="2000" b="1" dirty="0">
                <a:latin typeface="Calibri"/>
                <a:ea typeface="+mn-lt"/>
                <a:cs typeface="+mn-lt"/>
              </a:rPr>
              <a:t>Opaque Policies</a:t>
            </a:r>
            <a:r>
              <a:rPr lang="en-US" sz="2000" dirty="0">
                <a:solidFill>
                  <a:srgbClr val="0D0D0D"/>
                </a:solidFill>
                <a:latin typeface="Calibri"/>
                <a:ea typeface="+mn-lt"/>
                <a:cs typeface="+mn-lt"/>
              </a:rPr>
              <a:t>: Lack of clear policies on the terms and conditions of loan agreements.</a:t>
            </a:r>
            <a:endParaRPr lang="en-US" sz="2000" dirty="0">
              <a:latin typeface="Calibri"/>
              <a:ea typeface="Calibri"/>
              <a:cs typeface="Calibri"/>
            </a:endParaRPr>
          </a:p>
          <a:p>
            <a:pPr lvl="1"/>
            <a:r>
              <a:rPr lang="en-US" sz="2000" b="1" dirty="0">
                <a:latin typeface="Calibri"/>
                <a:ea typeface="+mn-lt"/>
                <a:cs typeface="+mn-lt"/>
              </a:rPr>
              <a:t>Decision-Making</a:t>
            </a:r>
            <a:r>
              <a:rPr lang="en-US" sz="2000" dirty="0">
                <a:solidFill>
                  <a:srgbClr val="0D0D0D"/>
                </a:solidFill>
                <a:latin typeface="Calibri"/>
                <a:ea typeface="+mn-lt"/>
                <a:cs typeface="+mn-lt"/>
              </a:rPr>
              <a:t>: Intransparency in how decisions regarding loaned employees are made and communicated.</a:t>
            </a:r>
            <a:endParaRPr lang="en-US" sz="2000" dirty="0">
              <a:latin typeface="Calibri"/>
              <a:ea typeface="Calibri"/>
              <a:cs typeface="Calibri"/>
            </a:endParaRPr>
          </a:p>
          <a:p>
            <a:pPr marL="0" indent="0">
              <a:buNone/>
            </a:pPr>
            <a:endParaRPr lang="en-US" sz="2200" dirty="0">
              <a:latin typeface="Calibri"/>
              <a:ea typeface="Calibri"/>
              <a:cs typeface="Calibri"/>
            </a:endParaRPr>
          </a:p>
        </p:txBody>
      </p:sp>
    </p:spTree>
    <p:extLst>
      <p:ext uri="{BB962C8B-B14F-4D97-AF65-F5344CB8AC3E}">
        <p14:creationId xmlns:p14="http://schemas.microsoft.com/office/powerpoint/2010/main" val="174865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A5850-E9C5-5615-3FE9-6AFA283B0B07}"/>
              </a:ext>
            </a:extLst>
          </p:cNvPr>
          <p:cNvSpPr>
            <a:spLocks noGrp="1"/>
          </p:cNvSpPr>
          <p:nvPr>
            <p:ph type="title"/>
          </p:nvPr>
        </p:nvSpPr>
        <p:spPr/>
        <p:txBody>
          <a:bodyPr>
            <a:normAutofit/>
          </a:bodyPr>
          <a:lstStyle/>
          <a:p>
            <a:r>
              <a:rPr lang="en-US" sz="3600" b="1" dirty="0">
                <a:solidFill>
                  <a:srgbClr val="0D0D0D"/>
                </a:solidFill>
                <a:latin typeface="Calibri"/>
                <a:ea typeface="Calibri"/>
                <a:cs typeface="Calibri"/>
              </a:rPr>
              <a:t>Ethical Decision-Making Framework for a Balanced Workforce</a:t>
            </a:r>
            <a:endParaRPr lang="en-US" sz="3600" dirty="0">
              <a:latin typeface="Calibri"/>
              <a:ea typeface="Calibri"/>
              <a:cs typeface="Calibri"/>
            </a:endParaRPr>
          </a:p>
        </p:txBody>
      </p:sp>
      <p:sp>
        <p:nvSpPr>
          <p:cNvPr id="7" name="Content Placeholder 6">
            <a:extLst>
              <a:ext uri="{FF2B5EF4-FFF2-40B4-BE49-F238E27FC236}">
                <a16:creationId xmlns:a16="http://schemas.microsoft.com/office/drawing/2014/main" id="{761C1B96-AAE3-63D8-F4E9-221A69D605E0}"/>
              </a:ext>
            </a:extLst>
          </p:cNvPr>
          <p:cNvSpPr>
            <a:spLocks noGrp="1"/>
          </p:cNvSpPr>
          <p:nvPr>
            <p:ph idx="1"/>
          </p:nvPr>
        </p:nvSpPr>
        <p:spPr/>
        <p:txBody>
          <a:bodyPr vert="horz" lIns="91440" tIns="45720" rIns="91440" bIns="45720" rtlCol="0" anchor="t">
            <a:normAutofit/>
          </a:bodyPr>
          <a:lstStyle/>
          <a:p>
            <a:pPr marL="0" indent="0">
              <a:buNone/>
            </a:pPr>
            <a:r>
              <a:rPr lang="en-US" dirty="0"/>
              <a:t>The framework will contain the following points:</a:t>
            </a:r>
          </a:p>
          <a:p>
            <a:endParaRPr lang="en-US" dirty="0"/>
          </a:p>
          <a:p>
            <a:r>
              <a:rPr lang="en-US" dirty="0"/>
              <a:t>Identifying Ethical Principles</a:t>
            </a:r>
          </a:p>
          <a:p>
            <a:r>
              <a:rPr lang="en-US" dirty="0"/>
              <a:t>Understanding and addressing bias</a:t>
            </a:r>
          </a:p>
          <a:p>
            <a:r>
              <a:rPr lang="en-US" dirty="0"/>
              <a:t>Implementing Inclusive Practices</a:t>
            </a:r>
          </a:p>
          <a:p>
            <a:r>
              <a:rPr lang="en-US" dirty="0"/>
              <a:t>Monitoring and Evaluation</a:t>
            </a:r>
          </a:p>
          <a:p>
            <a:endParaRPr lang="en-US" b="1" i="0" dirty="0">
              <a:solidFill>
                <a:srgbClr val="ECECEC"/>
              </a:solidFill>
              <a:effectLst/>
              <a:highlight>
                <a:srgbClr val="212121"/>
              </a:highlight>
              <a:latin typeface="Söhne"/>
            </a:endParaRPr>
          </a:p>
          <a:p>
            <a:endParaRPr lang="en-US" dirty="0"/>
          </a:p>
        </p:txBody>
      </p:sp>
    </p:spTree>
    <p:extLst>
      <p:ext uri="{BB962C8B-B14F-4D97-AF65-F5344CB8AC3E}">
        <p14:creationId xmlns:p14="http://schemas.microsoft.com/office/powerpoint/2010/main" val="193958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05394-B3B6-0B9C-1363-7DFC244B40C1}"/>
              </a:ext>
            </a:extLst>
          </p:cNvPr>
          <p:cNvSpPr>
            <a:spLocks noGrp="1"/>
          </p:cNvSpPr>
          <p:nvPr>
            <p:ph type="title"/>
          </p:nvPr>
        </p:nvSpPr>
        <p:spPr>
          <a:xfrm>
            <a:off x="838200" y="488693"/>
            <a:ext cx="6545992" cy="987940"/>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Flowchart of the framework</a:t>
            </a:r>
          </a:p>
        </p:txBody>
      </p:sp>
      <p:sp>
        <p:nvSpPr>
          <p:cNvPr id="7" name="Content Placeholder 6">
            <a:extLst>
              <a:ext uri="{FF2B5EF4-FFF2-40B4-BE49-F238E27FC236}">
                <a16:creationId xmlns:a16="http://schemas.microsoft.com/office/drawing/2014/main" id="{16D62BD3-BA31-2007-2D16-9953443764E8}"/>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672B7D66-5201-210D-14D6-BE8C7751AC35}"/>
              </a:ext>
            </a:extLst>
          </p:cNvPr>
          <p:cNvPicPr>
            <a:picLocks noChangeAspect="1"/>
          </p:cNvPicPr>
          <p:nvPr/>
        </p:nvPicPr>
        <p:blipFill>
          <a:blip r:embed="rId2"/>
          <a:stretch>
            <a:fillRect/>
          </a:stretch>
        </p:blipFill>
        <p:spPr>
          <a:xfrm>
            <a:off x="299228" y="1624913"/>
            <a:ext cx="11593543" cy="5084806"/>
          </a:xfrm>
          <a:prstGeom prst="rect">
            <a:avLst/>
          </a:prstGeom>
        </p:spPr>
      </p:pic>
    </p:spTree>
    <p:extLst>
      <p:ext uri="{BB962C8B-B14F-4D97-AF65-F5344CB8AC3E}">
        <p14:creationId xmlns:p14="http://schemas.microsoft.com/office/powerpoint/2010/main" val="56933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2F481-EBC7-9E10-86EA-E3E75BC741AA}"/>
              </a:ext>
            </a:extLst>
          </p:cNvPr>
          <p:cNvSpPr>
            <a:spLocks noGrp="1"/>
          </p:cNvSpPr>
          <p:nvPr>
            <p:ph type="title"/>
          </p:nvPr>
        </p:nvSpPr>
        <p:spPr/>
        <p:txBody>
          <a:bodyPr>
            <a:normAutofit/>
          </a:bodyPr>
          <a:lstStyle/>
          <a:p>
            <a:pPr algn="l"/>
            <a:r>
              <a:rPr lang="en-US" sz="3600" dirty="0">
                <a:latin typeface="Calibri" panose="020F0502020204030204" pitchFamily="34" charset="0"/>
                <a:ea typeface="Calibri" panose="020F0502020204030204" pitchFamily="34" charset="0"/>
                <a:cs typeface="Calibri" panose="020F0502020204030204" pitchFamily="34" charset="0"/>
              </a:rPr>
              <a:t>Developing Inclusive Policies</a:t>
            </a:r>
          </a:p>
        </p:txBody>
      </p:sp>
      <p:sp>
        <p:nvSpPr>
          <p:cNvPr id="3" name="Content Placeholder 2">
            <a:extLst>
              <a:ext uri="{FF2B5EF4-FFF2-40B4-BE49-F238E27FC236}">
                <a16:creationId xmlns:a16="http://schemas.microsoft.com/office/drawing/2014/main" id="{EE5D6E26-FD17-837E-F49D-E35AFDA7BD3A}"/>
              </a:ext>
            </a:extLst>
          </p:cNvPr>
          <p:cNvSpPr>
            <a:spLocks noGrp="1"/>
          </p:cNvSpPr>
          <p:nvPr>
            <p:ph idx="1"/>
          </p:nvPr>
        </p:nvSpPr>
        <p:spPr>
          <a:xfrm>
            <a:off x="677334" y="2094470"/>
            <a:ext cx="8596668" cy="3508227"/>
          </a:xfrm>
        </p:spPr>
        <p:txBody>
          <a:bodyPr>
            <a:normAutofit lnSpcReduction="10000"/>
          </a:bodyPr>
          <a:lstStyle/>
          <a:p>
            <a:pPr>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Inclusive Policies</a:t>
            </a:r>
            <a:r>
              <a:rPr lang="en-US" sz="2400" dirty="0">
                <a:latin typeface="Calibri" panose="020F0502020204030204" pitchFamily="34" charset="0"/>
                <a:ea typeface="Calibri" panose="020F0502020204030204" pitchFamily="34" charset="0"/>
                <a:cs typeface="Calibri" panose="020F0502020204030204" pitchFamily="34" charset="0"/>
              </a:rPr>
              <a:t>: Develop and enforce policies that promote diversity and prevent discrimination.</a:t>
            </a:r>
          </a:p>
          <a:p>
            <a:pPr marL="0" indent="0" algn="l">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Anti-Discrimination Policies</a:t>
            </a:r>
            <a:r>
              <a:rPr lang="en-US" sz="2400" dirty="0">
                <a:latin typeface="Calibri" panose="020F0502020204030204" pitchFamily="34" charset="0"/>
                <a:ea typeface="Calibri" panose="020F0502020204030204" pitchFamily="34" charset="0"/>
                <a:cs typeface="Calibri" panose="020F0502020204030204" pitchFamily="34" charset="0"/>
              </a:rPr>
              <a:t>: Specific rules and regulations that explicitly prohibit discriminatory practices.</a:t>
            </a:r>
          </a:p>
          <a:p>
            <a:pPr algn="l">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Equal Opportunity Policies</a:t>
            </a:r>
            <a:r>
              <a:rPr lang="en-US" sz="2400" dirty="0">
                <a:latin typeface="Calibri" panose="020F0502020204030204" pitchFamily="34" charset="0"/>
                <a:ea typeface="Calibri" panose="020F0502020204030204" pitchFamily="34" charset="0"/>
                <a:cs typeface="Calibri" panose="020F0502020204030204" pitchFamily="34" charset="0"/>
              </a:rPr>
              <a:t>: Ensure equal opportunities in hiring, promotion, and professional development.</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5949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D5DCA6-57AA-9ED4-7802-F59B98D8FA25}"/>
              </a:ext>
            </a:extLst>
          </p:cNvPr>
          <p:cNvPicPr>
            <a:picLocks noChangeAspect="1"/>
          </p:cNvPicPr>
          <p:nvPr/>
        </p:nvPicPr>
        <p:blipFill>
          <a:blip r:embed="rId2"/>
          <a:stretch>
            <a:fillRect/>
          </a:stretch>
        </p:blipFill>
        <p:spPr>
          <a:xfrm>
            <a:off x="1631732" y="208763"/>
            <a:ext cx="8928536" cy="6111718"/>
          </a:xfrm>
          <a:prstGeom prst="rect">
            <a:avLst/>
          </a:prstGeom>
        </p:spPr>
      </p:pic>
    </p:spTree>
    <p:extLst>
      <p:ext uri="{BB962C8B-B14F-4D97-AF65-F5344CB8AC3E}">
        <p14:creationId xmlns:p14="http://schemas.microsoft.com/office/powerpoint/2010/main" val="3388427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77043-08DC-5249-6D1C-FA712B411AF7}"/>
              </a:ext>
            </a:extLst>
          </p:cNvPr>
          <p:cNvSpPr>
            <a:spLocks noGrp="1"/>
          </p:cNvSpPr>
          <p:nvPr>
            <p:ph type="title"/>
          </p:nvPr>
        </p:nvSpPr>
        <p:spPr>
          <a:xfrm>
            <a:off x="838199" y="365125"/>
            <a:ext cx="10770973" cy="1325563"/>
          </a:xfrm>
        </p:spPr>
        <p:txBody>
          <a:bodyPr>
            <a:normAutofit/>
          </a:bodyPr>
          <a:lstStyle/>
          <a:p>
            <a:pPr marL="0" indent="0" algn="l">
              <a:buNone/>
            </a:pPr>
            <a:r>
              <a:rPr lang="en-US" sz="3600" dirty="0">
                <a:latin typeface="Calibri" panose="020F0502020204030204" pitchFamily="34" charset="0"/>
                <a:ea typeface="Calibri" panose="020F0502020204030204" pitchFamily="34" charset="0"/>
                <a:cs typeface="Calibri" panose="020F0502020204030204" pitchFamily="34" charset="0"/>
              </a:rPr>
              <a:t>Supporting Employee Resource Groups (ERGs)</a:t>
            </a:r>
          </a:p>
        </p:txBody>
      </p:sp>
      <p:sp>
        <p:nvSpPr>
          <p:cNvPr id="3" name="Content Placeholder 2">
            <a:extLst>
              <a:ext uri="{FF2B5EF4-FFF2-40B4-BE49-F238E27FC236}">
                <a16:creationId xmlns:a16="http://schemas.microsoft.com/office/drawing/2014/main" id="{85D7E84B-DB40-6577-9122-2A363CB5786A}"/>
              </a:ext>
            </a:extLst>
          </p:cNvPr>
          <p:cNvSpPr>
            <a:spLocks noGrp="1"/>
          </p:cNvSpPr>
          <p:nvPr>
            <p:ph idx="1"/>
          </p:nvPr>
        </p:nvSpPr>
        <p:spPr>
          <a:xfrm>
            <a:off x="838199" y="1488613"/>
            <a:ext cx="8596668" cy="3880773"/>
          </a:xfrm>
        </p:spPr>
        <p:txBody>
          <a:bodyPr>
            <a:normAutofit fontScale="92500"/>
          </a:bodyPr>
          <a:lstStyle/>
          <a:p>
            <a:pPr algn="l">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Employee Resource Groups (ERGs): </a:t>
            </a:r>
            <a:r>
              <a:rPr lang="en-US" sz="2400" dirty="0">
                <a:latin typeface="Calibri" panose="020F0502020204030204" pitchFamily="34" charset="0"/>
                <a:ea typeface="Calibri" panose="020F0502020204030204" pitchFamily="34" charset="0"/>
                <a:cs typeface="Calibri" panose="020F0502020204030204" pitchFamily="34" charset="0"/>
              </a:rPr>
              <a:t>Support groups providing platforms for employees from diverse backgrounds to share experiences and advocate for change.</a:t>
            </a:r>
          </a:p>
          <a:p>
            <a:pPr algn="l">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Benefits of ERGs:</a:t>
            </a:r>
            <a:r>
              <a:rPr lang="en-US" sz="2400" dirty="0">
                <a:latin typeface="Calibri" panose="020F0502020204030204" pitchFamily="34" charset="0"/>
                <a:ea typeface="Calibri" panose="020F0502020204030204" pitchFamily="34" charset="0"/>
                <a:cs typeface="Calibri" panose="020F0502020204030204" pitchFamily="34" charset="0"/>
              </a:rPr>
              <a:t> Enhance employee engagement, provide support networks, and drive cultural change within the organization.</a:t>
            </a:r>
          </a:p>
          <a:p>
            <a:pPr algn="l">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Establishing ERGs:</a:t>
            </a:r>
            <a:r>
              <a:rPr lang="en-US" sz="2400" dirty="0">
                <a:latin typeface="Calibri" panose="020F0502020204030204" pitchFamily="34" charset="0"/>
                <a:ea typeface="Calibri" panose="020F0502020204030204" pitchFamily="34" charset="0"/>
                <a:cs typeface="Calibri" panose="020F0502020204030204" pitchFamily="34" charset="0"/>
              </a:rPr>
              <a:t> Steps include identifying needs, gaining leadership support, and defining goals and structures.</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273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9903895-CE36-028E-6A02-DE197DDD79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6000" y="407773"/>
            <a:ext cx="10160000" cy="5715000"/>
          </a:xfrm>
        </p:spPr>
      </p:pic>
    </p:spTree>
    <p:extLst>
      <p:ext uri="{BB962C8B-B14F-4D97-AF65-F5344CB8AC3E}">
        <p14:creationId xmlns:p14="http://schemas.microsoft.com/office/powerpoint/2010/main" val="2399695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89CD0-3B02-18B1-7DB2-39654D878E89}"/>
              </a:ext>
            </a:extLst>
          </p:cNvPr>
          <p:cNvSpPr>
            <a:spLocks noGrp="1"/>
          </p:cNvSpPr>
          <p:nvPr>
            <p:ph type="title"/>
          </p:nvPr>
        </p:nvSpPr>
        <p:spPr/>
        <p:txBody>
          <a:bodyPr>
            <a:normAutofit/>
          </a:bodyPr>
          <a:lstStyle/>
          <a:p>
            <a:pPr marL="0" indent="0" algn="l">
              <a:buNone/>
            </a:pPr>
            <a:r>
              <a:rPr lang="en-US" sz="3600" dirty="0">
                <a:latin typeface="Calibri" panose="020F0502020204030204" pitchFamily="34" charset="0"/>
                <a:ea typeface="Calibri" panose="020F0502020204030204" pitchFamily="34" charset="0"/>
                <a:cs typeface="Calibri" panose="020F0502020204030204" pitchFamily="34" charset="0"/>
              </a:rPr>
              <a:t>Training and Development Programs</a:t>
            </a:r>
          </a:p>
        </p:txBody>
      </p:sp>
      <p:sp>
        <p:nvSpPr>
          <p:cNvPr id="3" name="Content Placeholder 2">
            <a:extLst>
              <a:ext uri="{FF2B5EF4-FFF2-40B4-BE49-F238E27FC236}">
                <a16:creationId xmlns:a16="http://schemas.microsoft.com/office/drawing/2014/main" id="{D0CA9230-AB43-C859-65A4-28B1336027F5}"/>
              </a:ext>
            </a:extLst>
          </p:cNvPr>
          <p:cNvSpPr>
            <a:spLocks noGrp="1"/>
          </p:cNvSpPr>
          <p:nvPr>
            <p:ph idx="1"/>
          </p:nvPr>
        </p:nvSpPr>
        <p:spPr>
          <a:xfrm>
            <a:off x="677334" y="1857848"/>
            <a:ext cx="8596668" cy="4876166"/>
          </a:xfrm>
        </p:spPr>
        <p:txBody>
          <a:bodyPr>
            <a:normAutofit fontScale="92500" lnSpcReduction="10000"/>
          </a:bodyPr>
          <a:lstStyle/>
          <a:p>
            <a:pPr algn="l">
              <a:buFont typeface="Arial" panose="020B0604020202020204" pitchFamily="34" charset="0"/>
              <a:buChar char="•"/>
            </a:pP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Diversity Training Programs: </a:t>
            </a: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Regular training sessions that utilize fuzzy logic principles to adaptively educate employees on diversity, equity, and inclusion, allowing for a nuanced understanding and flexible responses to varied employee backgrounds and perspectives</a:t>
            </a: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algn="l">
              <a:buFont typeface="Arial" panose="020B0604020202020204" pitchFamily="34" charset="0"/>
              <a:buChar char="•"/>
            </a:pPr>
            <a:endPar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Leadership Development: </a:t>
            </a: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Specific programs designed using fuzzy systems to dynamically promote inclusive leadership and decision-making, by adjusting to the fuzzy variables of individual leadership styles and the organizational climate.</a:t>
            </a:r>
          </a:p>
          <a:p>
            <a:pPr algn="l">
              <a:buFont typeface="Arial" panose="020B0604020202020204" pitchFamily="34" charset="0"/>
              <a:buChar char="•"/>
            </a:pPr>
            <a:endPar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Skill Development Workshops: </a:t>
            </a: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Workshops incorporating fuzzy logic to focus on enhancing skills such as cultural competence and bias recognition, with training modules that can be flexibly modified based on the fuzzy input of participant feedback and situational context</a:t>
            </a:r>
          </a:p>
        </p:txBody>
      </p:sp>
    </p:spTree>
    <p:extLst>
      <p:ext uri="{BB962C8B-B14F-4D97-AF65-F5344CB8AC3E}">
        <p14:creationId xmlns:p14="http://schemas.microsoft.com/office/powerpoint/2010/main" val="3671939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8729F42-DAA3-B955-8E38-C32DAFB79D1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2089" y="210064"/>
            <a:ext cx="11038704" cy="6209271"/>
          </a:xfrm>
        </p:spPr>
      </p:pic>
    </p:spTree>
    <p:extLst>
      <p:ext uri="{BB962C8B-B14F-4D97-AF65-F5344CB8AC3E}">
        <p14:creationId xmlns:p14="http://schemas.microsoft.com/office/powerpoint/2010/main" val="4045207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85479-7C59-77FA-709D-2D26A47BF5F6}"/>
              </a:ext>
            </a:extLst>
          </p:cNvPr>
          <p:cNvSpPr>
            <a:spLocks noGrp="1"/>
          </p:cNvSpPr>
          <p:nvPr>
            <p:ph type="title"/>
          </p:nvPr>
        </p:nvSpPr>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Providing Continuous Feedback</a:t>
            </a:r>
          </a:p>
        </p:txBody>
      </p:sp>
      <p:sp>
        <p:nvSpPr>
          <p:cNvPr id="3" name="Content Placeholder 2">
            <a:extLst>
              <a:ext uri="{FF2B5EF4-FFF2-40B4-BE49-F238E27FC236}">
                <a16:creationId xmlns:a16="http://schemas.microsoft.com/office/drawing/2014/main" id="{87907CEE-0C12-CE86-228D-B3EA23F00649}"/>
              </a:ext>
            </a:extLst>
          </p:cNvPr>
          <p:cNvSpPr>
            <a:spLocks noGrp="1"/>
          </p:cNvSpPr>
          <p:nvPr>
            <p:ph idx="1"/>
          </p:nvPr>
        </p:nvSpPr>
        <p:spPr>
          <a:xfrm>
            <a:off x="677334" y="1703389"/>
            <a:ext cx="8596668" cy="3880773"/>
          </a:xfrm>
        </p:spPr>
        <p:txBody>
          <a:bodyPr>
            <a:normAutofit lnSpcReduction="10000"/>
          </a:bodyPr>
          <a:lstStyle/>
          <a:p>
            <a:pPr algn="l">
              <a:buFont typeface="Arial" panose="020B0604020202020204" pitchFamily="34" charset="0"/>
              <a:buChar char="•"/>
            </a:pP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Continuous Feedback Mechanisms</a:t>
            </a: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 Establish channels for regular feedback from employees on inclusivity and diversity initiatives.</a:t>
            </a:r>
          </a:p>
          <a:p>
            <a:pPr algn="l">
              <a:buFont typeface="Arial" panose="020B0604020202020204" pitchFamily="34" charset="0"/>
              <a:buChar char="•"/>
            </a:pP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Anonymous Surveys</a:t>
            </a: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 Conduct surveys to gather honest feedback without fear of repercussions.</a:t>
            </a:r>
          </a:p>
          <a:p>
            <a:pPr algn="l">
              <a:buFont typeface="Arial" panose="020B0604020202020204" pitchFamily="34" charset="0"/>
              <a:buChar char="•"/>
            </a:pPr>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l">
              <a:buFont typeface="Arial" panose="020B0604020202020204" pitchFamily="34" charset="0"/>
              <a:buChar char="•"/>
            </a:pPr>
            <a:r>
              <a:rPr lang="en-US" sz="2400" b="1" dirty="0">
                <a:solidFill>
                  <a:schemeClr val="tx1"/>
                </a:solidFill>
                <a:latin typeface="Calibri" panose="020F0502020204030204" pitchFamily="34" charset="0"/>
                <a:ea typeface="Calibri" panose="020F0502020204030204" pitchFamily="34" charset="0"/>
                <a:cs typeface="Calibri" panose="020F0502020204030204" pitchFamily="34" charset="0"/>
              </a:rPr>
              <a:t>Feedback Loops</a:t>
            </a: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 Implement processes to act on feedback, make improvements, and communicate changes back to employees.</a:t>
            </a:r>
          </a:p>
          <a:p>
            <a:endPar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9902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B156C-AF8E-8194-4606-107651224F16}"/>
              </a:ext>
            </a:extLst>
          </p:cNvPr>
          <p:cNvSpPr>
            <a:spLocks noGrp="1"/>
          </p:cNvSpPr>
          <p:nvPr>
            <p:ph type="title"/>
          </p:nvPr>
        </p:nvSpPr>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Training and Development Programs</a:t>
            </a:r>
          </a:p>
        </p:txBody>
      </p:sp>
      <p:sp>
        <p:nvSpPr>
          <p:cNvPr id="7" name="Content Placeholder 6">
            <a:extLst>
              <a:ext uri="{FF2B5EF4-FFF2-40B4-BE49-F238E27FC236}">
                <a16:creationId xmlns:a16="http://schemas.microsoft.com/office/drawing/2014/main" id="{BC6E6474-1AFC-64E1-D2C8-D2DFA673A58E}"/>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52EAC2AB-FDE1-3DE9-6D8C-74805F0FD774}"/>
              </a:ext>
            </a:extLst>
          </p:cNvPr>
          <p:cNvPicPr>
            <a:picLocks noChangeAspect="1"/>
          </p:cNvPicPr>
          <p:nvPr/>
        </p:nvPicPr>
        <p:blipFill>
          <a:blip r:embed="rId2"/>
          <a:stretch>
            <a:fillRect/>
          </a:stretch>
        </p:blipFill>
        <p:spPr>
          <a:xfrm>
            <a:off x="132518" y="1742304"/>
            <a:ext cx="11926964" cy="4565820"/>
          </a:xfrm>
          <a:prstGeom prst="rect">
            <a:avLst/>
          </a:prstGeom>
        </p:spPr>
      </p:pic>
    </p:spTree>
    <p:extLst>
      <p:ext uri="{BB962C8B-B14F-4D97-AF65-F5344CB8AC3E}">
        <p14:creationId xmlns:p14="http://schemas.microsoft.com/office/powerpoint/2010/main" val="998306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D4447-3037-1454-A896-045F3A11546C}"/>
              </a:ext>
            </a:extLst>
          </p:cNvPr>
          <p:cNvSpPr>
            <a:spLocks noGrp="1"/>
          </p:cNvSpPr>
          <p:nvPr>
            <p:ph type="title"/>
          </p:nvPr>
        </p:nvSpPr>
        <p:spPr/>
        <p:txBody>
          <a:bodyPr/>
          <a:lstStyle/>
          <a:p>
            <a:r>
              <a:rPr lang="en-US" dirty="0"/>
              <a:t>Evaluation</a:t>
            </a:r>
          </a:p>
        </p:txBody>
      </p:sp>
      <p:sp>
        <p:nvSpPr>
          <p:cNvPr id="3" name="Content Placeholder 2">
            <a:extLst>
              <a:ext uri="{FF2B5EF4-FFF2-40B4-BE49-F238E27FC236}">
                <a16:creationId xmlns:a16="http://schemas.microsoft.com/office/drawing/2014/main" id="{71E393E4-082B-6476-7A82-DA5E29CB1D39}"/>
              </a:ext>
            </a:extLst>
          </p:cNvPr>
          <p:cNvSpPr>
            <a:spLocks noGrp="1"/>
          </p:cNvSpPr>
          <p:nvPr>
            <p:ph idx="1"/>
          </p:nvPr>
        </p:nvSpPr>
        <p:spPr>
          <a:xfrm>
            <a:off x="677334" y="1433385"/>
            <a:ext cx="8596668" cy="4607978"/>
          </a:xfrm>
        </p:spPr>
        <p:txBody>
          <a:bodyPr>
            <a:normAutofit/>
          </a:bodyPr>
          <a:lstStyle/>
          <a:p>
            <a:r>
              <a:rPr lang="en-US" b="1" dirty="0">
                <a:solidFill>
                  <a:schemeClr val="tx1"/>
                </a:solidFill>
              </a:rPr>
              <a:t>Question</a:t>
            </a:r>
            <a:r>
              <a:rPr lang="en-US" dirty="0">
                <a:solidFill>
                  <a:schemeClr val="tx1"/>
                </a:solidFill>
              </a:rPr>
              <a:t>: Can the little company have an idea which employees are available? </a:t>
            </a:r>
          </a:p>
          <a:p>
            <a:r>
              <a:rPr lang="en-US" b="1" dirty="0">
                <a:solidFill>
                  <a:schemeClr val="tx1"/>
                </a:solidFill>
              </a:rPr>
              <a:t>Answer</a:t>
            </a:r>
            <a:r>
              <a:rPr lang="en-US" dirty="0">
                <a:solidFill>
                  <a:schemeClr val="tx1"/>
                </a:solidFill>
              </a:rPr>
              <a:t>: Yes, so the framework will know if the profile is presented in such good way than it will be accepted and available on the platform for other companies.</a:t>
            </a:r>
          </a:p>
          <a:p>
            <a:r>
              <a:rPr lang="en-US" b="1" dirty="0">
                <a:solidFill>
                  <a:schemeClr val="tx1"/>
                </a:solidFill>
              </a:rPr>
              <a:t>Question</a:t>
            </a:r>
            <a:r>
              <a:rPr lang="en-US" dirty="0">
                <a:solidFill>
                  <a:schemeClr val="tx1"/>
                </a:solidFill>
              </a:rPr>
              <a:t>: What if the employees didn’t do a good job? Can the little company give a feedback?</a:t>
            </a:r>
          </a:p>
          <a:p>
            <a:r>
              <a:rPr lang="en-US" b="1" dirty="0">
                <a:solidFill>
                  <a:schemeClr val="tx1"/>
                </a:solidFill>
              </a:rPr>
              <a:t>Answer</a:t>
            </a:r>
            <a:r>
              <a:rPr lang="en-US" dirty="0">
                <a:solidFill>
                  <a:schemeClr val="tx1"/>
                </a:solidFill>
              </a:rPr>
              <a:t>: Well, in that case the other company can for sure can give any feedback, but if is in the discriminative way the framework will exclude it from the platform.</a:t>
            </a:r>
          </a:p>
          <a:p>
            <a:r>
              <a:rPr lang="en-US" b="1" dirty="0">
                <a:solidFill>
                  <a:schemeClr val="tx1"/>
                </a:solidFill>
              </a:rPr>
              <a:t>Question</a:t>
            </a:r>
            <a:r>
              <a:rPr lang="en-US" dirty="0">
                <a:solidFill>
                  <a:schemeClr val="tx1"/>
                </a:solidFill>
              </a:rPr>
              <a:t>: Would you implement a base salary for the loaned employees?</a:t>
            </a:r>
          </a:p>
          <a:p>
            <a:r>
              <a:rPr lang="en-US" b="1" dirty="0">
                <a:solidFill>
                  <a:schemeClr val="tx1"/>
                </a:solidFill>
              </a:rPr>
              <a:t>Answer</a:t>
            </a:r>
            <a:r>
              <a:rPr lang="en-US" dirty="0">
                <a:solidFill>
                  <a:schemeClr val="tx1"/>
                </a:solidFill>
              </a:rPr>
              <a:t>: Yeah definitely it will be based by their rank and the salary will remain the same, so there will no place for discriminations.</a:t>
            </a:r>
          </a:p>
          <a:p>
            <a:endParaRPr lang="en-US" dirty="0">
              <a:solidFill>
                <a:schemeClr val="tx1"/>
              </a:solidFill>
            </a:endParaRPr>
          </a:p>
        </p:txBody>
      </p:sp>
    </p:spTree>
    <p:extLst>
      <p:ext uri="{BB962C8B-B14F-4D97-AF65-F5344CB8AC3E}">
        <p14:creationId xmlns:p14="http://schemas.microsoft.com/office/powerpoint/2010/main" val="2322696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BD514-DACF-0B88-B729-6D6A25E48603}"/>
              </a:ext>
            </a:extLst>
          </p:cNvPr>
          <p:cNvSpPr>
            <a:spLocks noGrp="1"/>
          </p:cNvSpPr>
          <p:nvPr>
            <p:ph type="title"/>
          </p:nvPr>
        </p:nvSpPr>
        <p:spPr/>
        <p:txBody>
          <a:bodyPr>
            <a:normAutofit/>
          </a:bodyPr>
          <a:lstStyle/>
          <a:p>
            <a:r>
              <a:rPr lang="en-US" sz="3600" b="1" dirty="0">
                <a:latin typeface="Calibri"/>
                <a:ea typeface="Calibri"/>
                <a:cs typeface="Calibri"/>
              </a:rPr>
              <a:t>CONCLUSION</a:t>
            </a:r>
          </a:p>
        </p:txBody>
      </p:sp>
      <p:sp>
        <p:nvSpPr>
          <p:cNvPr id="3" name="Content Placeholder 2">
            <a:extLst>
              <a:ext uri="{FF2B5EF4-FFF2-40B4-BE49-F238E27FC236}">
                <a16:creationId xmlns:a16="http://schemas.microsoft.com/office/drawing/2014/main" id="{68163B6C-8072-D70F-EC96-0CAACF861CDA}"/>
              </a:ext>
            </a:extLst>
          </p:cNvPr>
          <p:cNvSpPr>
            <a:spLocks noGrp="1"/>
          </p:cNvSpPr>
          <p:nvPr>
            <p:ph idx="1"/>
          </p:nvPr>
        </p:nvSpPr>
        <p:spPr>
          <a:xfrm>
            <a:off x="677334" y="2160589"/>
            <a:ext cx="8596668" cy="2508003"/>
          </a:xfrm>
        </p:spPr>
        <p:txBody>
          <a:bodyPr vert="horz" lIns="91440" tIns="45720" rIns="91440" bIns="45720" rtlCol="0" anchor="t">
            <a:normAutofit lnSpcReduction="10000"/>
          </a:bodyPr>
          <a:lstStyle/>
          <a:p>
            <a:r>
              <a:rPr lang="en-US" sz="2200" dirty="0">
                <a:solidFill>
                  <a:schemeClr val="tx1"/>
                </a:solidFill>
              </a:rPr>
              <a:t>Ethical Issues Key for fair and inclusive workforce management.</a:t>
            </a:r>
          </a:p>
          <a:p>
            <a:endParaRPr lang="en-US" sz="2200" dirty="0">
              <a:solidFill>
                <a:schemeClr val="tx1"/>
              </a:solidFill>
            </a:endParaRPr>
          </a:p>
          <a:p>
            <a:r>
              <a:rPr lang="en-US" sz="2200" dirty="0">
                <a:solidFill>
                  <a:schemeClr val="tx1"/>
                </a:solidFill>
              </a:rPr>
              <a:t>Ethical Practices Use tech for the greater good, respecting rights.</a:t>
            </a:r>
          </a:p>
          <a:p>
            <a:endParaRPr lang="en-US" sz="2200" dirty="0">
              <a:solidFill>
                <a:schemeClr val="tx1"/>
              </a:solidFill>
            </a:endParaRPr>
          </a:p>
          <a:p>
            <a:r>
              <a:rPr lang="en-US" sz="2200" dirty="0">
                <a:solidFill>
                  <a:schemeClr val="tx1"/>
                </a:solidFill>
              </a:rPr>
              <a:t>Fair Treatment Ensure respect and fairness for all employees.</a:t>
            </a:r>
          </a:p>
        </p:txBody>
      </p:sp>
    </p:spTree>
    <p:extLst>
      <p:ext uri="{BB962C8B-B14F-4D97-AF65-F5344CB8AC3E}">
        <p14:creationId xmlns:p14="http://schemas.microsoft.com/office/powerpoint/2010/main" val="46941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AE2E-3217-F97E-41A3-B6FD4C68964A}"/>
              </a:ext>
            </a:extLst>
          </p:cNvPr>
          <p:cNvSpPr>
            <a:spLocks noGrp="1"/>
          </p:cNvSpPr>
          <p:nvPr>
            <p:ph type="title"/>
          </p:nvPr>
        </p:nvSpPr>
        <p:spPr/>
        <p:txBody>
          <a:bodyPr>
            <a:normAutofit/>
          </a:bodyPr>
          <a:lstStyle/>
          <a:p>
            <a:r>
              <a:rPr lang="en-US" sz="3600" b="1" dirty="0">
                <a:latin typeface="Calibri"/>
                <a:ea typeface="Calibri"/>
                <a:cs typeface="Calibri"/>
              </a:rPr>
              <a:t>KEYWORDS</a:t>
            </a:r>
          </a:p>
        </p:txBody>
      </p:sp>
      <p:sp>
        <p:nvSpPr>
          <p:cNvPr id="3" name="Content Placeholder 2">
            <a:extLst>
              <a:ext uri="{FF2B5EF4-FFF2-40B4-BE49-F238E27FC236}">
                <a16:creationId xmlns:a16="http://schemas.microsoft.com/office/drawing/2014/main" id="{25727F99-9E5F-CC70-FD96-EB1F3747E92D}"/>
              </a:ext>
            </a:extLst>
          </p:cNvPr>
          <p:cNvSpPr>
            <a:spLocks noGrp="1"/>
          </p:cNvSpPr>
          <p:nvPr>
            <p:ph idx="1"/>
          </p:nvPr>
        </p:nvSpPr>
        <p:spPr>
          <a:xfrm>
            <a:off x="838200" y="1485814"/>
            <a:ext cx="10515600" cy="5100337"/>
          </a:xfrm>
        </p:spPr>
        <p:txBody>
          <a:bodyPr vert="horz" lIns="91440" tIns="45720" rIns="91440" bIns="45720" rtlCol="0" anchor="t">
            <a:noAutofit/>
          </a:bodyPr>
          <a:lstStyle/>
          <a:p>
            <a:r>
              <a:rPr lang="en-US" sz="2200" dirty="0">
                <a:solidFill>
                  <a:schemeClr val="tx1"/>
                </a:solidFill>
                <a:latin typeface="Calibri"/>
                <a:ea typeface="+mn-lt"/>
                <a:cs typeface="+mn-lt"/>
              </a:rPr>
              <a:t>Social computing</a:t>
            </a:r>
          </a:p>
          <a:p>
            <a:r>
              <a:rPr lang="en-US" sz="2200" dirty="0">
                <a:solidFill>
                  <a:schemeClr val="tx1"/>
                </a:solidFill>
                <a:latin typeface="Calibri"/>
                <a:ea typeface="+mn-lt"/>
                <a:cs typeface="+mn-lt"/>
              </a:rPr>
              <a:t>Ethical considerations</a:t>
            </a:r>
          </a:p>
          <a:p>
            <a:r>
              <a:rPr lang="en-US" sz="2200" dirty="0">
                <a:solidFill>
                  <a:schemeClr val="tx1"/>
                </a:solidFill>
                <a:latin typeface="Calibri"/>
                <a:ea typeface="+mn-lt"/>
                <a:cs typeface="+mn-lt"/>
              </a:rPr>
              <a:t>Privacy</a:t>
            </a:r>
          </a:p>
          <a:p>
            <a:r>
              <a:rPr lang="en-US" sz="2200" dirty="0">
                <a:solidFill>
                  <a:schemeClr val="tx1"/>
                </a:solidFill>
                <a:latin typeface="Calibri"/>
                <a:ea typeface="+mn-lt"/>
                <a:cs typeface="+mn-lt"/>
              </a:rPr>
              <a:t>Transparency</a:t>
            </a:r>
          </a:p>
          <a:p>
            <a:r>
              <a:rPr lang="en-US" sz="2200" dirty="0">
                <a:solidFill>
                  <a:schemeClr val="tx1"/>
                </a:solidFill>
                <a:latin typeface="Calibri"/>
                <a:ea typeface="+mn-lt"/>
                <a:cs typeface="+mn-lt"/>
              </a:rPr>
              <a:t>Balanced workforce</a:t>
            </a:r>
          </a:p>
          <a:p>
            <a:r>
              <a:rPr lang="en-US" sz="2200" dirty="0">
                <a:solidFill>
                  <a:schemeClr val="tx1"/>
                </a:solidFill>
                <a:latin typeface="Calibri"/>
                <a:ea typeface="+mn-lt"/>
                <a:cs typeface="+mn-lt"/>
              </a:rPr>
              <a:t>Loaned employees</a:t>
            </a:r>
          </a:p>
          <a:p>
            <a:r>
              <a:rPr lang="en-US" sz="2200" dirty="0">
                <a:solidFill>
                  <a:schemeClr val="tx1"/>
                </a:solidFill>
                <a:latin typeface="Calibri"/>
                <a:ea typeface="+mn-lt"/>
                <a:cs typeface="+mn-lt"/>
              </a:rPr>
              <a:t>Fair treatment</a:t>
            </a:r>
          </a:p>
          <a:p>
            <a:r>
              <a:rPr lang="en-US" sz="2200" dirty="0">
                <a:solidFill>
                  <a:schemeClr val="tx1"/>
                </a:solidFill>
                <a:latin typeface="Calibri"/>
                <a:ea typeface="+mn-lt"/>
                <a:cs typeface="+mn-lt"/>
              </a:rPr>
              <a:t>Human-centered design</a:t>
            </a:r>
          </a:p>
          <a:p>
            <a:r>
              <a:rPr lang="en-US" sz="2200" dirty="0">
                <a:solidFill>
                  <a:schemeClr val="tx1"/>
                </a:solidFill>
                <a:latin typeface="Calibri"/>
                <a:ea typeface="+mn-lt"/>
                <a:cs typeface="+mn-lt"/>
              </a:rPr>
              <a:t>Participatory design</a:t>
            </a:r>
          </a:p>
          <a:p>
            <a:r>
              <a:rPr lang="en-US" sz="2200" dirty="0">
                <a:solidFill>
                  <a:schemeClr val="tx1"/>
                </a:solidFill>
                <a:latin typeface="Calibri"/>
                <a:ea typeface="+mn-lt"/>
                <a:cs typeface="+mn-lt"/>
              </a:rPr>
              <a:t>Collaboration</a:t>
            </a:r>
          </a:p>
          <a:p>
            <a:r>
              <a:rPr lang="en-US" sz="2200" dirty="0">
                <a:solidFill>
                  <a:schemeClr val="tx1"/>
                </a:solidFill>
                <a:latin typeface="Calibri"/>
                <a:ea typeface="+mn-lt"/>
                <a:cs typeface="+mn-lt"/>
              </a:rPr>
              <a:t>Data protection</a:t>
            </a:r>
            <a:br>
              <a:rPr lang="en-US" sz="2200" dirty="0">
                <a:solidFill>
                  <a:schemeClr val="tx1"/>
                </a:solidFill>
                <a:latin typeface="Calibri"/>
                <a:ea typeface="+mn-lt"/>
                <a:cs typeface="+mn-lt"/>
              </a:rPr>
            </a:br>
            <a:endParaRPr lang="en-US" sz="2200" dirty="0">
              <a:solidFill>
                <a:schemeClr val="tx1"/>
              </a:solidFill>
              <a:latin typeface="Calibri"/>
              <a:ea typeface="+mn-lt"/>
              <a:cs typeface="+mn-lt"/>
            </a:endParaRPr>
          </a:p>
        </p:txBody>
      </p:sp>
    </p:spTree>
    <p:extLst>
      <p:ext uri="{BB962C8B-B14F-4D97-AF65-F5344CB8AC3E}">
        <p14:creationId xmlns:p14="http://schemas.microsoft.com/office/powerpoint/2010/main" val="2009414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ABCE2-A9FC-1BD4-ACE9-3F488285ADBA}"/>
              </a:ext>
            </a:extLst>
          </p:cNvPr>
          <p:cNvSpPr>
            <a:spLocks noGrp="1"/>
          </p:cNvSpPr>
          <p:nvPr>
            <p:ph type="title"/>
          </p:nvPr>
        </p:nvSpPr>
        <p:spPr/>
        <p:txBody>
          <a:bodyPr>
            <a:normAutofit/>
          </a:bodyPr>
          <a:lstStyle/>
          <a:p>
            <a:r>
              <a:rPr lang="en-US" sz="3600" b="1" dirty="0">
                <a:latin typeface="Calibri"/>
                <a:ea typeface="Calibri"/>
                <a:cs typeface="Calibri"/>
              </a:rPr>
              <a:t>REFERENCES</a:t>
            </a:r>
          </a:p>
        </p:txBody>
      </p:sp>
      <p:sp>
        <p:nvSpPr>
          <p:cNvPr id="3" name="Content Placeholder 2">
            <a:extLst>
              <a:ext uri="{FF2B5EF4-FFF2-40B4-BE49-F238E27FC236}">
                <a16:creationId xmlns:a16="http://schemas.microsoft.com/office/drawing/2014/main" id="{0BDD1736-0484-3808-DD28-7AC56998CDB2}"/>
              </a:ext>
            </a:extLst>
          </p:cNvPr>
          <p:cNvSpPr>
            <a:spLocks noGrp="1"/>
          </p:cNvSpPr>
          <p:nvPr>
            <p:ph idx="1"/>
          </p:nvPr>
        </p:nvSpPr>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hlinkClick r:id="rId2"/>
              </a:rPr>
              <a:t>https://www.linkedin.com/pulse/ethical-principles-influencing-changing-behaviour-scale-bart-schutz</a:t>
            </a:r>
            <a:r>
              <a:rPr lang="en-US" sz="2400" dirty="0">
                <a:latin typeface="Calibri" panose="020F0502020204030204" pitchFamily="34" charset="0"/>
                <a:ea typeface="Calibri" panose="020F0502020204030204" pitchFamily="34" charset="0"/>
                <a:cs typeface="Calibri" panose="020F0502020204030204" pitchFamily="34" charset="0"/>
              </a:rPr>
              <a:t> </a:t>
            </a:r>
          </a:p>
          <a:p>
            <a:r>
              <a:rPr lang="en-US" sz="2400" dirty="0">
                <a:latin typeface="Calibri" panose="020F0502020204030204" pitchFamily="34" charset="0"/>
                <a:ea typeface="Calibri" panose="020F0502020204030204" pitchFamily="34" charset="0"/>
                <a:cs typeface="Calibri" panose="020F0502020204030204" pitchFamily="34" charset="0"/>
                <a:hlinkClick r:id="rId3"/>
              </a:rPr>
              <a:t>https://fastercapital.com/topics/addressing-bias-and-stereotypes.html</a:t>
            </a:r>
            <a:r>
              <a:rPr lang="en-US" sz="2400" dirty="0">
                <a:latin typeface="Calibri" panose="020F0502020204030204" pitchFamily="34" charset="0"/>
                <a:ea typeface="Calibri" panose="020F0502020204030204" pitchFamily="34" charset="0"/>
                <a:cs typeface="Calibri" panose="020F0502020204030204" pitchFamily="34" charset="0"/>
              </a:rPr>
              <a:t> </a:t>
            </a:r>
          </a:p>
          <a:p>
            <a:r>
              <a:rPr lang="en-US" sz="2400" dirty="0">
                <a:latin typeface="Calibri" panose="020F0502020204030204" pitchFamily="34" charset="0"/>
                <a:ea typeface="Calibri" panose="020F0502020204030204" pitchFamily="34" charset="0"/>
                <a:cs typeface="Calibri" panose="020F0502020204030204" pitchFamily="34" charset="0"/>
                <a:hlinkClick r:id="rId4"/>
              </a:rPr>
              <a:t>https://www.aihr.com/blog/inclusive-hiring/</a:t>
            </a:r>
            <a:r>
              <a:rPr lang="en-US" sz="2400" dirty="0">
                <a:latin typeface="Calibri" panose="020F0502020204030204" pitchFamily="34" charset="0"/>
                <a:ea typeface="Calibri" panose="020F0502020204030204" pitchFamily="34" charset="0"/>
                <a:cs typeface="Calibri" panose="020F0502020204030204" pitchFamily="34" charset="0"/>
              </a:rPr>
              <a:t> </a:t>
            </a:r>
          </a:p>
          <a:p>
            <a:endParaRPr lang="en-US"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4770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EF22A74-D9CD-9717-FF59-EB35144238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067" y="217787"/>
            <a:ext cx="7753865" cy="6422425"/>
          </a:xfrm>
          <a:prstGeom prst="rect">
            <a:avLst/>
          </a:prstGeom>
        </p:spPr>
      </p:pic>
    </p:spTree>
    <p:extLst>
      <p:ext uri="{BB962C8B-B14F-4D97-AF65-F5344CB8AC3E}">
        <p14:creationId xmlns:p14="http://schemas.microsoft.com/office/powerpoint/2010/main" val="3443845150"/>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303</TotalTime>
  <Words>864</Words>
  <Application>Microsoft Office PowerPoint</Application>
  <PresentationFormat>Widescreen</PresentationFormat>
  <Paragraphs>87</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Facet</vt:lpstr>
      <vt:lpstr>ETHICAL CONSIDERATIONS IN SOCIAL COMPUTING: BALANCING PRIVACY, TRANSPARENCY, AND SOCIAL GOOD </vt:lpstr>
      <vt:lpstr>Abstract</vt:lpstr>
      <vt:lpstr>Introduction to Social Computing Ethics</vt:lpstr>
      <vt:lpstr>Elaborating on the pains</vt:lpstr>
      <vt:lpstr>Ethical Decision-Making Framework for a Balanced Workforce</vt:lpstr>
      <vt:lpstr>Flowchart of the framework</vt:lpstr>
      <vt:lpstr>Developing Inclusive Policies</vt:lpstr>
      <vt:lpstr>PowerPoint Presentation</vt:lpstr>
      <vt:lpstr>Supporting Employee Resource Groups (ERGs)</vt:lpstr>
      <vt:lpstr>PowerPoint Presentation</vt:lpstr>
      <vt:lpstr>Training and Development Programs</vt:lpstr>
      <vt:lpstr>PowerPoint Presentation</vt:lpstr>
      <vt:lpstr>Providing Continuous Feedback</vt:lpstr>
      <vt:lpstr>Training and Development Programs</vt:lpstr>
      <vt:lpstr>Evaluation</vt:lpstr>
      <vt:lpstr>CONCLUSION</vt:lpstr>
      <vt:lpstr>KEYWORDS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Martin</dc:creator>
  <cp:lastModifiedBy>Martin Stojkovski</cp:lastModifiedBy>
  <cp:revision>239</cp:revision>
  <dcterms:created xsi:type="dcterms:W3CDTF">2024-05-17T16:33:38Z</dcterms:created>
  <dcterms:modified xsi:type="dcterms:W3CDTF">2024-06-07T02:36:10Z</dcterms:modified>
</cp:coreProperties>
</file>